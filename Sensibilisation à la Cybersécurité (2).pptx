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75"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0" d="100"/>
          <a:sy n="90" d="100"/>
        </p:scale>
        <p:origin x="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402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3.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png"/><Relationship Id="rId14"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8.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7.png"/><Relationship Id="rId9" Type="http://schemas.openxmlformats.org/officeDocument/2006/relationships/image" Target="../media/image43.png"/><Relationship Id="rId14" Type="http://schemas.openxmlformats.org/officeDocument/2006/relationships/image" Target="../media/image48.png"/></Relationships>
</file>

<file path=ppt/slides/_rels/slide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6.xml"/><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19" Type="http://schemas.openxmlformats.org/officeDocument/2006/relationships/image" Target="../media/image65.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7.png"/><Relationship Id="rId9" Type="http://schemas.openxmlformats.org/officeDocument/2006/relationships/image" Target="../media/image71.png"/></Relationships>
</file>

<file path=ppt/slides/_rels/slide8.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image" Target="../media/image6.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notesSlide" Target="../notesSlides/notesSlide8.xml"/><Relationship Id="rId16"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10" Type="http://schemas.openxmlformats.org/officeDocument/2006/relationships/image" Target="../media/image80.png"/><Relationship Id="rId4" Type="http://schemas.openxmlformats.org/officeDocument/2006/relationships/image" Target="../media/image7.png"/><Relationship Id="rId9" Type="http://schemas.openxmlformats.org/officeDocument/2006/relationships/image" Target="../media/image79.png"/><Relationship Id="rId14" Type="http://schemas.openxmlformats.org/officeDocument/2006/relationships/image" Target="../media/image84.png"/></Relationships>
</file>

<file path=ppt/slides/_rels/slide9.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7.png"/><Relationship Id="rId7"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7.png"/><Relationship Id="rId9" Type="http://schemas.openxmlformats.org/officeDocument/2006/relationships/image" Target="../media/image92.png"/></Relationships>
</file>

<file path=ppt/slides/_rels/slide1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3" Type="http://schemas.openxmlformats.org/officeDocument/2006/relationships/image" Target="../media/image95.png"/><Relationship Id="rId7" Type="http://schemas.openxmlformats.org/officeDocument/2006/relationships/image" Target="../media/image98.png"/><Relationship Id="rId12" Type="http://schemas.openxmlformats.org/officeDocument/2006/relationships/image" Target="../media/image10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7.png"/><Relationship Id="rId9" Type="http://schemas.openxmlformats.org/officeDocument/2006/relationships/image" Target="../media/image100.png"/></Relationships>
</file>

<file path=ppt/slides/_rels/slide11.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5.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7.png"/><Relationship Id="rId9" Type="http://schemas.openxmlformats.org/officeDocument/2006/relationships/image" Target="../media/image110.png"/></Relationships>
</file>

<file path=ppt/slides/_rels/slide12.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9.png"/><Relationship Id="rId3" Type="http://schemas.openxmlformats.org/officeDocument/2006/relationships/image" Target="../media/image115.png"/><Relationship Id="rId21"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8.png"/><Relationship Id="rId2" Type="http://schemas.openxmlformats.org/officeDocument/2006/relationships/notesSlide" Target="../notesSlides/notesSlide12.xml"/><Relationship Id="rId16" Type="http://schemas.openxmlformats.org/officeDocument/2006/relationships/image" Target="../media/image127.png"/><Relationship Id="rId20" Type="http://schemas.openxmlformats.org/officeDocument/2006/relationships/image" Target="../media/image131.png"/><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130.png"/><Relationship Id="rId4" Type="http://schemas.openxmlformats.org/officeDocument/2006/relationships/image" Target="../media/image7.png"/><Relationship Id="rId9" Type="http://schemas.openxmlformats.org/officeDocument/2006/relationships/image" Target="../media/image120.png"/><Relationship Id="rId14" Type="http://schemas.openxmlformats.org/officeDocument/2006/relationships/image" Target="../media/image125.png"/></Relationships>
</file>

<file path=ppt/slides/_rels/slide13.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3.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7.png"/><Relationship Id="rId9" Type="http://schemas.openxmlformats.org/officeDocument/2006/relationships/image" Target="../media/image138.png"/></Relationships>
</file>

<file path=ppt/slides/_rels/slide14.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3" Type="http://schemas.openxmlformats.org/officeDocument/2006/relationships/image" Target="../media/image143.png"/><Relationship Id="rId7" Type="http://schemas.openxmlformats.org/officeDocument/2006/relationships/image" Target="../media/image146.png"/><Relationship Id="rId12" Type="http://schemas.openxmlformats.org/officeDocument/2006/relationships/image" Target="../media/image15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144.png"/><Relationship Id="rId15" Type="http://schemas.openxmlformats.org/officeDocument/2006/relationships/image" Target="../media/image154.png"/><Relationship Id="rId10" Type="http://schemas.openxmlformats.org/officeDocument/2006/relationships/image" Target="../media/image149.png"/><Relationship Id="rId4" Type="http://schemas.openxmlformats.org/officeDocument/2006/relationships/image" Target="../media/image7.png"/><Relationship Id="rId9" Type="http://schemas.openxmlformats.org/officeDocument/2006/relationships/image" Target="../media/image148.png"/><Relationship Id="rId14" Type="http://schemas.openxmlformats.org/officeDocument/2006/relationships/image" Target="../media/image153.png"/></Relationships>
</file>

<file path=ppt/slides/_rels/slide15.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18" Type="http://schemas.openxmlformats.org/officeDocument/2006/relationships/image" Target="../media/image167.png"/><Relationship Id="rId3" Type="http://schemas.openxmlformats.org/officeDocument/2006/relationships/image" Target="../media/image6.png"/><Relationship Id="rId7" Type="http://schemas.openxmlformats.org/officeDocument/2006/relationships/image" Target="../media/image157.png"/><Relationship Id="rId12" Type="http://schemas.openxmlformats.org/officeDocument/2006/relationships/image" Target="../media/image162.png"/><Relationship Id="rId17" Type="http://schemas.openxmlformats.org/officeDocument/2006/relationships/image" Target="../media/image166.png"/><Relationship Id="rId2" Type="http://schemas.openxmlformats.org/officeDocument/2006/relationships/notesSlide" Target="../notesSlides/notesSlide15.xml"/><Relationship Id="rId16"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png"/><Relationship Id="rId15" Type="http://schemas.openxmlformats.org/officeDocument/2006/relationships/image" Target="../media/image165.png"/><Relationship Id="rId10" Type="http://schemas.openxmlformats.org/officeDocument/2006/relationships/image" Target="../media/image160.png"/><Relationship Id="rId4" Type="http://schemas.openxmlformats.org/officeDocument/2006/relationships/image" Target="../media/image50.png"/><Relationship Id="rId9" Type="http://schemas.openxmlformats.org/officeDocument/2006/relationships/image" Target="../media/image159.png"/><Relationship Id="rId14" Type="http://schemas.openxmlformats.org/officeDocument/2006/relationships/image" Target="../media/image164.png"/></Relationships>
</file>

<file path=ppt/slides/_rels/slide16.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7.png"/><Relationship Id="rId9" Type="http://schemas.openxmlformats.org/officeDocument/2006/relationships/image" Target="../media/image172.png"/></Relationships>
</file>

<file path=ppt/slides/_rels/slide17.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4.png"/><Relationship Id="rId3" Type="http://schemas.openxmlformats.org/officeDocument/2006/relationships/image" Target="../media/image6.png"/><Relationship Id="rId7" Type="http://schemas.openxmlformats.org/officeDocument/2006/relationships/image" Target="../media/image178.png"/><Relationship Id="rId12" Type="http://schemas.openxmlformats.org/officeDocument/2006/relationships/image" Target="../media/image18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0" Type="http://schemas.openxmlformats.org/officeDocument/2006/relationships/image" Target="../media/image181.png"/><Relationship Id="rId4" Type="http://schemas.openxmlformats.org/officeDocument/2006/relationships/image" Target="../media/image7.png"/><Relationship Id="rId9" Type="http://schemas.openxmlformats.org/officeDocument/2006/relationships/image" Target="../media/image180.png"/><Relationship Id="rId14" Type="http://schemas.openxmlformats.org/officeDocument/2006/relationships/image" Target="../media/image185.png"/></Relationships>
</file>

<file path=ppt/slides/_rels/slide18.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6.png"/><Relationship Id="rId7" Type="http://schemas.openxmlformats.org/officeDocument/2006/relationships/image" Target="../media/image189.png"/><Relationship Id="rId12" Type="http://schemas.openxmlformats.org/officeDocument/2006/relationships/image" Target="../media/image19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0" Type="http://schemas.openxmlformats.org/officeDocument/2006/relationships/image" Target="../media/image192.png"/><Relationship Id="rId4" Type="http://schemas.openxmlformats.org/officeDocument/2006/relationships/image" Target="../media/image7.png"/><Relationship Id="rId9" Type="http://schemas.openxmlformats.org/officeDocument/2006/relationships/image" Target="../media/image191.png"/></Relationships>
</file>

<file path=ppt/slides/_rels/slide19.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3" Type="http://schemas.openxmlformats.org/officeDocument/2006/relationships/image" Target="../media/image196.png"/><Relationship Id="rId7" Type="http://schemas.openxmlformats.org/officeDocument/2006/relationships/image" Target="../media/image199.png"/><Relationship Id="rId12" Type="http://schemas.openxmlformats.org/officeDocument/2006/relationships/image" Target="../media/image20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0" Type="http://schemas.openxmlformats.org/officeDocument/2006/relationships/image" Target="../media/image202.png"/><Relationship Id="rId4" Type="http://schemas.openxmlformats.org/officeDocument/2006/relationships/image" Target="../media/image7.png"/><Relationship Id="rId9" Type="http://schemas.openxmlformats.org/officeDocument/2006/relationships/image" Target="../media/image20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5867400" y="1699320"/>
            <a:ext cx="457200" cy="457200"/>
          </a:xfrm>
          <a:prstGeom prst="rect">
            <a:avLst/>
          </a:prstGeom>
        </p:spPr>
      </p:pic>
      <p:pic>
        <p:nvPicPr>
          <p:cNvPr id="7" name="Image 5" descr="preencoded.png"/>
          <p:cNvPicPr>
            <a:picLocks noChangeAspect="1"/>
          </p:cNvPicPr>
          <p:nvPr/>
        </p:nvPicPr>
        <p:blipFill>
          <a:blip r:embed="rId6"/>
          <a:stretch>
            <a:fillRect/>
          </a:stretch>
        </p:blipFill>
        <p:spPr>
          <a:xfrm>
            <a:off x="609600" y="6238875"/>
            <a:ext cx="133350" cy="171450"/>
          </a:xfrm>
          <a:prstGeom prst="rect">
            <a:avLst/>
          </a:prstGeom>
        </p:spPr>
      </p:pic>
      <p:pic>
        <p:nvPicPr>
          <p:cNvPr id="8" name="Image 6" descr="preencoded.png"/>
          <p:cNvPicPr>
            <a:picLocks noChangeAspect="1"/>
          </p:cNvPicPr>
          <p:nvPr/>
        </p:nvPicPr>
        <p:blipFill>
          <a:blip r:embed="rId7"/>
          <a:stretch>
            <a:fillRect/>
          </a:stretch>
        </p:blipFill>
        <p:spPr>
          <a:xfrm>
            <a:off x="10755660" y="6238875"/>
            <a:ext cx="152400" cy="171450"/>
          </a:xfrm>
          <a:prstGeom prst="rect">
            <a:avLst/>
          </a:prstGeom>
        </p:spPr>
      </p:pic>
      <p:sp>
        <p:nvSpPr>
          <p:cNvPr id="9" name="Text 0"/>
          <p:cNvSpPr/>
          <p:nvPr/>
        </p:nvSpPr>
        <p:spPr>
          <a:xfrm>
            <a:off x="59174" y="2537520"/>
            <a:ext cx="12073652" cy="800100"/>
          </a:xfrm>
          <a:prstGeom prst="rect">
            <a:avLst/>
          </a:prstGeom>
          <a:noFill/>
          <a:ln/>
        </p:spPr>
        <p:txBody>
          <a:bodyPr wrap="square" lIns="0" tIns="0" rIns="0" bIns="0" rtlCol="0" anchor="t"/>
          <a:lstStyle/>
          <a:p>
            <a:pPr marL="0" indent="0" algn="ctr">
              <a:lnSpc>
                <a:spcPts val="6300"/>
              </a:lnSpc>
              <a:buNone/>
            </a:pPr>
            <a:r>
              <a:rPr lang="en-US" sz="4200" b="1" dirty="0">
                <a:solidFill>
                  <a:srgbClr val="F7FFF7"/>
                </a:solidFill>
                <a:latin typeface="ui-sans-serif" pitchFamily="34" charset="0"/>
                <a:ea typeface="ui-sans-serif" pitchFamily="34" charset="-122"/>
                <a:cs typeface="ui-sans-serif" pitchFamily="34" charset="-120"/>
              </a:rPr>
              <a:t>Sensibilisation à la </a:t>
            </a:r>
            <a:r>
              <a:rPr lang="en-US" sz="4200" b="1" dirty="0">
                <a:solidFill>
                  <a:srgbClr val="FF6B35"/>
                </a:solidFill>
                <a:latin typeface="ui-sans-serif" pitchFamily="34" charset="0"/>
                <a:ea typeface="ui-sans-serif" pitchFamily="34" charset="-122"/>
                <a:cs typeface="ui-sans-serif" pitchFamily="34" charset="-120"/>
              </a:rPr>
              <a:t>Cybersécurité</a:t>
            </a:r>
            <a:endParaRPr lang="en-US" sz="4200" dirty="0"/>
          </a:p>
        </p:txBody>
      </p:sp>
      <p:sp>
        <p:nvSpPr>
          <p:cNvPr id="10" name="Text 1"/>
          <p:cNvSpPr/>
          <p:nvPr/>
        </p:nvSpPr>
        <p:spPr>
          <a:xfrm>
            <a:off x="59174" y="3490020"/>
            <a:ext cx="12073652" cy="411361"/>
          </a:xfrm>
          <a:prstGeom prst="rect">
            <a:avLst/>
          </a:prstGeom>
          <a:noFill/>
          <a:ln/>
        </p:spPr>
        <p:txBody>
          <a:bodyPr wrap="square" lIns="0" tIns="0" rIns="0" bIns="0" rtlCol="0" anchor="t"/>
          <a:lstStyle/>
          <a:p>
            <a:pPr marL="0" indent="0" algn="ctr">
              <a:lnSpc>
                <a:spcPts val="3240"/>
              </a:lnSpc>
              <a:buNone/>
            </a:pPr>
            <a:r>
              <a:rPr lang="en-US" sz="2160" dirty="0">
                <a:solidFill>
                  <a:srgbClr val="F7FFF7"/>
                </a:solidFill>
                <a:latin typeface="ui-sans-serif" pitchFamily="34" charset="0"/>
                <a:ea typeface="ui-sans-serif" pitchFamily="34" charset="-122"/>
                <a:cs typeface="ui-sans-serif" pitchFamily="34" charset="-120"/>
              </a:rPr>
              <a:t>Protéger notre entreprise, ensemble</a:t>
            </a:r>
            <a:endParaRPr lang="en-US" sz="2160" dirty="0"/>
          </a:p>
        </p:txBody>
      </p:sp>
      <p:sp>
        <p:nvSpPr>
          <p:cNvPr id="12" name="Text 3"/>
          <p:cNvSpPr/>
          <p:nvPr/>
        </p:nvSpPr>
        <p:spPr>
          <a:xfrm>
            <a:off x="819150" y="6210300"/>
            <a:ext cx="2509778" cy="266700"/>
          </a:xfrm>
          <a:prstGeom prst="rect">
            <a:avLst/>
          </a:prstGeom>
          <a:noFill/>
          <a:ln/>
        </p:spPr>
        <p:txBody>
          <a:bodyPr wrap="square" lIns="0" tIns="0" rIns="0" bIns="0" rtlCol="0" anchor="t"/>
          <a:lstStyle/>
          <a:p>
            <a:pPr marL="0" indent="0">
              <a:lnSpc>
                <a:spcPts val="2100"/>
              </a:lnSpc>
              <a:buNone/>
            </a:pPr>
            <a:r>
              <a:rPr lang="en-US" sz="1350" dirty="0" err="1">
                <a:solidFill>
                  <a:srgbClr val="F7FFF7"/>
                </a:solidFill>
                <a:latin typeface="ui-sans-serif" pitchFamily="34" charset="0"/>
                <a:ea typeface="ui-sans-serif" pitchFamily="34" charset="-122"/>
                <a:cs typeface="ui-sans-serif" pitchFamily="34" charset="-120"/>
              </a:rPr>
              <a:t>Pairi</a:t>
            </a:r>
            <a:r>
              <a:rPr lang="en-US" sz="1350" dirty="0">
                <a:solidFill>
                  <a:srgbClr val="F7FFF7"/>
                </a:solidFill>
                <a:latin typeface="ui-sans-serif" pitchFamily="34" charset="0"/>
                <a:ea typeface="ui-sans-serif" pitchFamily="34" charset="-122"/>
                <a:cs typeface="ui-sans-serif" pitchFamily="34" charset="-120"/>
              </a:rPr>
              <a:t> Daiza</a:t>
            </a:r>
            <a:endParaRPr lang="en-US" sz="1350" dirty="0"/>
          </a:p>
        </p:txBody>
      </p:sp>
      <p:sp>
        <p:nvSpPr>
          <p:cNvPr id="13" name="Text 4"/>
          <p:cNvSpPr/>
          <p:nvPr/>
        </p:nvSpPr>
        <p:spPr>
          <a:xfrm>
            <a:off x="10984260" y="6210300"/>
            <a:ext cx="992088" cy="266700"/>
          </a:xfrm>
          <a:prstGeom prst="rect">
            <a:avLst/>
          </a:prstGeom>
          <a:noFill/>
          <a:ln/>
        </p:spPr>
        <p:txBody>
          <a:bodyPr wrap="square" lIns="0" tIns="0" rIns="0" bIns="0" rtlCol="0" anchor="t"/>
          <a:lstStyle/>
          <a:p>
            <a:pPr marL="0" indent="0">
              <a:lnSpc>
                <a:spcPts val="2100"/>
              </a:lnSpc>
              <a:buNone/>
            </a:pPr>
            <a:r>
              <a:rPr lang="en-US" sz="1350" dirty="0">
                <a:solidFill>
                  <a:srgbClr val="F7FFF7"/>
                </a:solidFill>
                <a:latin typeface="ui-sans-serif" pitchFamily="34" charset="0"/>
                <a:ea typeface="ui-sans-serif" pitchFamily="34" charset="-122"/>
                <a:cs typeface="ui-sans-serif" pitchFamily="34" charset="-120"/>
              </a:rPr>
              <a:t> 10/10/2025</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74476"/>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3443883"/>
            <a:ext cx="3383161" cy="1943100"/>
          </a:xfrm>
          <a:prstGeom prst="rect">
            <a:avLst/>
          </a:prstGeom>
        </p:spPr>
      </p:pic>
      <p:pic>
        <p:nvPicPr>
          <p:cNvPr id="5" name="Image 3" descr="preencoded.png"/>
          <p:cNvPicPr>
            <a:picLocks noChangeAspect="1"/>
          </p:cNvPicPr>
          <p:nvPr/>
        </p:nvPicPr>
        <p:blipFill>
          <a:blip r:embed="rId6"/>
          <a:stretch>
            <a:fillRect/>
          </a:stretch>
        </p:blipFill>
        <p:spPr>
          <a:xfrm>
            <a:off x="1996380" y="3634383"/>
            <a:ext cx="304800" cy="381000"/>
          </a:xfrm>
          <a:prstGeom prst="rect">
            <a:avLst/>
          </a:prstGeom>
        </p:spPr>
      </p:pic>
      <p:pic>
        <p:nvPicPr>
          <p:cNvPr id="6" name="Image 4" descr="preencoded.png"/>
          <p:cNvPicPr>
            <a:picLocks noChangeAspect="1"/>
          </p:cNvPicPr>
          <p:nvPr/>
        </p:nvPicPr>
        <p:blipFill>
          <a:blip r:embed="rId7"/>
          <a:stretch>
            <a:fillRect/>
          </a:stretch>
        </p:blipFill>
        <p:spPr>
          <a:xfrm>
            <a:off x="4404420" y="3443883"/>
            <a:ext cx="3383161" cy="1943100"/>
          </a:xfrm>
          <a:prstGeom prst="rect">
            <a:avLst/>
          </a:prstGeom>
        </p:spPr>
      </p:pic>
      <p:pic>
        <p:nvPicPr>
          <p:cNvPr id="7" name="Image 5" descr="preencoded.png"/>
          <p:cNvPicPr>
            <a:picLocks noChangeAspect="1"/>
          </p:cNvPicPr>
          <p:nvPr/>
        </p:nvPicPr>
        <p:blipFill>
          <a:blip r:embed="rId8"/>
          <a:stretch>
            <a:fillRect/>
          </a:stretch>
        </p:blipFill>
        <p:spPr>
          <a:xfrm>
            <a:off x="5900738" y="3634383"/>
            <a:ext cx="390525" cy="381000"/>
          </a:xfrm>
          <a:prstGeom prst="rect">
            <a:avLst/>
          </a:prstGeom>
        </p:spPr>
      </p:pic>
      <p:pic>
        <p:nvPicPr>
          <p:cNvPr id="8" name="Image 6" descr="preencoded.png"/>
          <p:cNvPicPr>
            <a:picLocks noChangeAspect="1"/>
          </p:cNvPicPr>
          <p:nvPr/>
        </p:nvPicPr>
        <p:blipFill>
          <a:blip r:embed="rId9"/>
          <a:stretch>
            <a:fillRect/>
          </a:stretch>
        </p:blipFill>
        <p:spPr>
          <a:xfrm>
            <a:off x="8351639" y="3443883"/>
            <a:ext cx="3383161" cy="1943100"/>
          </a:xfrm>
          <a:prstGeom prst="rect">
            <a:avLst/>
          </a:prstGeom>
        </p:spPr>
      </p:pic>
      <p:pic>
        <p:nvPicPr>
          <p:cNvPr id="9" name="Image 7" descr="preencoded.png"/>
          <p:cNvPicPr>
            <a:picLocks noChangeAspect="1"/>
          </p:cNvPicPr>
          <p:nvPr/>
        </p:nvPicPr>
        <p:blipFill>
          <a:blip r:embed="rId10"/>
          <a:stretch>
            <a:fillRect/>
          </a:stretch>
        </p:blipFill>
        <p:spPr>
          <a:xfrm>
            <a:off x="9847957" y="3634383"/>
            <a:ext cx="390525" cy="381000"/>
          </a:xfrm>
          <a:prstGeom prst="rect">
            <a:avLst/>
          </a:prstGeom>
        </p:spPr>
      </p:pic>
      <p:sp>
        <p:nvSpPr>
          <p:cNvPr id="10"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Qu'est-ce que le Phishing?</a:t>
            </a:r>
            <a:endParaRPr lang="en-US" sz="2700" dirty="0"/>
          </a:p>
        </p:txBody>
      </p:sp>
      <p:sp>
        <p:nvSpPr>
          <p:cNvPr id="11" name="Text 1"/>
          <p:cNvSpPr/>
          <p:nvPr/>
        </p:nvSpPr>
        <p:spPr>
          <a:xfrm>
            <a:off x="457200" y="1371600"/>
            <a:ext cx="11277600" cy="1097012"/>
          </a:xfrm>
          <a:prstGeom prst="rect">
            <a:avLst/>
          </a:prstGeom>
          <a:noFill/>
          <a:ln/>
        </p:spPr>
        <p:txBody>
          <a:bodyPr wrap="square" lIns="0" tIns="0" rIns="0" bIns="0" rtlCol="0" anchor="t"/>
          <a:lstStyle/>
          <a:p>
            <a:pPr marL="0" indent="0">
              <a:lnSpc>
                <a:spcPts val="2880"/>
              </a:lnSpc>
              <a:buNone/>
            </a:pPr>
            <a:r>
              <a:rPr lang="en-US" sz="1800" b="1" dirty="0">
                <a:solidFill>
                  <a:srgbClr val="FF6B35"/>
                </a:solidFill>
                <a:latin typeface="Arial" pitchFamily="34" charset="0"/>
                <a:ea typeface="Arial" pitchFamily="34" charset="-122"/>
                <a:cs typeface="Arial" pitchFamily="34" charset="-120"/>
              </a:rPr>
              <a:t>Le phishing</a:t>
            </a:r>
            <a:r>
              <a:rPr lang="en-US" sz="1800" dirty="0">
                <a:solidFill>
                  <a:srgbClr val="F7FFF7"/>
                </a:solidFill>
                <a:latin typeface="Arial" pitchFamily="34" charset="0"/>
                <a:ea typeface="Arial" pitchFamily="34" charset="-122"/>
                <a:cs typeface="Arial" pitchFamily="34" charset="-120"/>
              </a:rPr>
              <a:t> est une technique de fraude en ligne où les cybercriminels tentent de vous tromper pour obtenir des informations sensibles (identifiants, mots de passe, informations bancaires) en se faisant passer pour une entité de confiance (banque, administration, service informatique de l'entreprise).</a:t>
            </a:r>
            <a:endParaRPr lang="en-US" sz="1800" dirty="0"/>
          </a:p>
        </p:txBody>
      </p:sp>
      <p:sp>
        <p:nvSpPr>
          <p:cNvPr id="12" name="Text 2"/>
          <p:cNvSpPr/>
          <p:nvPr/>
        </p:nvSpPr>
        <p:spPr>
          <a:xfrm>
            <a:off x="457200" y="2697212"/>
            <a:ext cx="13533120" cy="36567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Ces attaques sont très efficaces car elles exploitent la nature humaine plutôt que des failles techniques.</a:t>
            </a:r>
            <a:endParaRPr lang="en-US" sz="1800" dirty="0"/>
          </a:p>
        </p:txBody>
      </p:sp>
      <p:sp>
        <p:nvSpPr>
          <p:cNvPr id="13" name="Text 3"/>
          <p:cNvSpPr/>
          <p:nvPr/>
        </p:nvSpPr>
        <p:spPr>
          <a:xfrm>
            <a:off x="1275457" y="4167783"/>
            <a:ext cx="2095976"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Identité Trompeuse</a:t>
            </a:r>
            <a:endParaRPr lang="en-US" sz="1500" dirty="0"/>
          </a:p>
        </p:txBody>
      </p:sp>
      <p:sp>
        <p:nvSpPr>
          <p:cNvPr id="14" name="Text 4"/>
          <p:cNvSpPr/>
          <p:nvPr/>
        </p:nvSpPr>
        <p:spPr>
          <a:xfrm>
            <a:off x="647700" y="4510683"/>
            <a:ext cx="3002161"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Les attaquants se font passer pour des entités légitimes et de confiance</a:t>
            </a:r>
            <a:endParaRPr lang="en-US" sz="1200" dirty="0"/>
          </a:p>
        </p:txBody>
      </p:sp>
      <p:sp>
        <p:nvSpPr>
          <p:cNvPr id="15" name="Text 5"/>
          <p:cNvSpPr/>
          <p:nvPr/>
        </p:nvSpPr>
        <p:spPr>
          <a:xfrm>
            <a:off x="5370909" y="4167783"/>
            <a:ext cx="1740218"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Appât et Fraude</a:t>
            </a:r>
            <a:endParaRPr lang="en-US" sz="1500" dirty="0"/>
          </a:p>
        </p:txBody>
      </p:sp>
      <p:sp>
        <p:nvSpPr>
          <p:cNvPr id="16" name="Text 6"/>
          <p:cNvSpPr/>
          <p:nvPr/>
        </p:nvSpPr>
        <p:spPr>
          <a:xfrm>
            <a:off x="4594920" y="4510683"/>
            <a:ext cx="3002161" cy="6858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Comme le poissonnier qui tend un appât, l'attaquant offre quelque chose d'attrayant pour obtenir des informations</a:t>
            </a:r>
            <a:endParaRPr lang="en-US" sz="1200" dirty="0"/>
          </a:p>
        </p:txBody>
      </p:sp>
      <p:sp>
        <p:nvSpPr>
          <p:cNvPr id="17" name="Text 7"/>
          <p:cNvSpPr/>
          <p:nvPr/>
        </p:nvSpPr>
        <p:spPr>
          <a:xfrm>
            <a:off x="9175105" y="4167783"/>
            <a:ext cx="2083296"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Objectif Malveillant</a:t>
            </a:r>
            <a:endParaRPr lang="en-US" sz="1500" dirty="0"/>
          </a:p>
        </p:txBody>
      </p:sp>
      <p:sp>
        <p:nvSpPr>
          <p:cNvPr id="18" name="Text 8"/>
          <p:cNvSpPr/>
          <p:nvPr/>
        </p:nvSpPr>
        <p:spPr>
          <a:xfrm>
            <a:off x="8542139" y="4510683"/>
            <a:ext cx="3002161" cy="6858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Les attaquants visent à obtenir des informations sensibles pour des raisons malveillantes</a:t>
            </a:r>
            <a:endParaRPr lang="en-US" sz="1200" dirty="0"/>
          </a:p>
        </p:txBody>
      </p:sp>
      <p:sp>
        <p:nvSpPr>
          <p:cNvPr id="19" name="Text 9"/>
          <p:cNvSpPr/>
          <p:nvPr/>
        </p:nvSpPr>
        <p:spPr>
          <a:xfrm>
            <a:off x="457200" y="6478497"/>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541091"/>
            <a:ext cx="3632150" cy="1790700"/>
          </a:xfrm>
          <a:prstGeom prst="rect">
            <a:avLst/>
          </a:prstGeom>
        </p:spPr>
      </p:pic>
      <p:pic>
        <p:nvPicPr>
          <p:cNvPr id="5" name="Image 3" descr="preencoded.png"/>
          <p:cNvPicPr>
            <a:picLocks noChangeAspect="1"/>
          </p:cNvPicPr>
          <p:nvPr/>
        </p:nvPicPr>
        <p:blipFill>
          <a:blip r:embed="rId6"/>
          <a:stretch>
            <a:fillRect/>
          </a:stretch>
        </p:blipFill>
        <p:spPr>
          <a:xfrm>
            <a:off x="2044601" y="2731591"/>
            <a:ext cx="457200" cy="457200"/>
          </a:xfrm>
          <a:prstGeom prst="rect">
            <a:avLst/>
          </a:prstGeom>
        </p:spPr>
      </p:pic>
      <p:pic>
        <p:nvPicPr>
          <p:cNvPr id="6" name="Image 4" descr="preencoded.png"/>
          <p:cNvPicPr>
            <a:picLocks noChangeAspect="1"/>
          </p:cNvPicPr>
          <p:nvPr/>
        </p:nvPicPr>
        <p:blipFill>
          <a:blip r:embed="rId7"/>
          <a:stretch>
            <a:fillRect/>
          </a:stretch>
        </p:blipFill>
        <p:spPr>
          <a:xfrm>
            <a:off x="4279850" y="2541091"/>
            <a:ext cx="3632150" cy="1790700"/>
          </a:xfrm>
          <a:prstGeom prst="rect">
            <a:avLst/>
          </a:prstGeom>
        </p:spPr>
      </p:pic>
      <p:pic>
        <p:nvPicPr>
          <p:cNvPr id="7" name="Image 5" descr="preencoded.png"/>
          <p:cNvPicPr>
            <a:picLocks noChangeAspect="1"/>
          </p:cNvPicPr>
          <p:nvPr/>
        </p:nvPicPr>
        <p:blipFill>
          <a:blip r:embed="rId8"/>
          <a:stretch>
            <a:fillRect/>
          </a:stretch>
        </p:blipFill>
        <p:spPr>
          <a:xfrm>
            <a:off x="5867251" y="2731591"/>
            <a:ext cx="457200" cy="457200"/>
          </a:xfrm>
          <a:prstGeom prst="rect">
            <a:avLst/>
          </a:prstGeom>
        </p:spPr>
      </p:pic>
      <p:pic>
        <p:nvPicPr>
          <p:cNvPr id="8" name="Image 6" descr="preencoded.png"/>
          <p:cNvPicPr>
            <a:picLocks noChangeAspect="1"/>
          </p:cNvPicPr>
          <p:nvPr/>
        </p:nvPicPr>
        <p:blipFill>
          <a:blip r:embed="rId9"/>
          <a:stretch>
            <a:fillRect/>
          </a:stretch>
        </p:blipFill>
        <p:spPr>
          <a:xfrm>
            <a:off x="8102501" y="2541091"/>
            <a:ext cx="3632299" cy="1790700"/>
          </a:xfrm>
          <a:prstGeom prst="rect">
            <a:avLst/>
          </a:prstGeom>
        </p:spPr>
      </p:pic>
      <p:pic>
        <p:nvPicPr>
          <p:cNvPr id="9" name="Image 7" descr="preencoded.png"/>
          <p:cNvPicPr>
            <a:picLocks noChangeAspect="1"/>
          </p:cNvPicPr>
          <p:nvPr/>
        </p:nvPicPr>
        <p:blipFill>
          <a:blip r:embed="rId10"/>
          <a:stretch>
            <a:fillRect/>
          </a:stretch>
        </p:blipFill>
        <p:spPr>
          <a:xfrm>
            <a:off x="9747200" y="2731591"/>
            <a:ext cx="342900" cy="457200"/>
          </a:xfrm>
          <a:prstGeom prst="rect">
            <a:avLst/>
          </a:prstGeom>
        </p:spPr>
      </p:pic>
      <p:pic>
        <p:nvPicPr>
          <p:cNvPr id="10" name="Image 8" descr="preencoded.png"/>
          <p:cNvPicPr>
            <a:picLocks noChangeAspect="1"/>
          </p:cNvPicPr>
          <p:nvPr/>
        </p:nvPicPr>
        <p:blipFill>
          <a:blip r:embed="rId11"/>
          <a:stretch>
            <a:fillRect/>
          </a:stretch>
        </p:blipFill>
        <p:spPr>
          <a:xfrm>
            <a:off x="457200" y="4522291"/>
            <a:ext cx="3632150" cy="1790700"/>
          </a:xfrm>
          <a:prstGeom prst="rect">
            <a:avLst/>
          </a:prstGeom>
        </p:spPr>
      </p:pic>
      <p:pic>
        <p:nvPicPr>
          <p:cNvPr id="11" name="Image 9" descr="preencoded.png"/>
          <p:cNvPicPr>
            <a:picLocks noChangeAspect="1"/>
          </p:cNvPicPr>
          <p:nvPr/>
        </p:nvPicPr>
        <p:blipFill>
          <a:blip r:embed="rId12"/>
          <a:stretch>
            <a:fillRect/>
          </a:stretch>
        </p:blipFill>
        <p:spPr>
          <a:xfrm>
            <a:off x="2044601" y="4712791"/>
            <a:ext cx="457200" cy="457200"/>
          </a:xfrm>
          <a:prstGeom prst="rect">
            <a:avLst/>
          </a:prstGeom>
        </p:spPr>
      </p:pic>
      <p:pic>
        <p:nvPicPr>
          <p:cNvPr id="12" name="Image 10" descr="preencoded.png"/>
          <p:cNvPicPr>
            <a:picLocks noChangeAspect="1"/>
          </p:cNvPicPr>
          <p:nvPr/>
        </p:nvPicPr>
        <p:blipFill>
          <a:blip r:embed="rId13"/>
          <a:stretch>
            <a:fillRect/>
          </a:stretch>
        </p:blipFill>
        <p:spPr>
          <a:xfrm>
            <a:off x="4279850" y="4522291"/>
            <a:ext cx="3632150" cy="1790700"/>
          </a:xfrm>
          <a:prstGeom prst="rect">
            <a:avLst/>
          </a:prstGeom>
        </p:spPr>
      </p:pic>
      <p:pic>
        <p:nvPicPr>
          <p:cNvPr id="13" name="Image 11" descr="preencoded.png"/>
          <p:cNvPicPr>
            <a:picLocks noChangeAspect="1"/>
          </p:cNvPicPr>
          <p:nvPr/>
        </p:nvPicPr>
        <p:blipFill>
          <a:blip r:embed="rId14"/>
          <a:stretch>
            <a:fillRect/>
          </a:stretch>
        </p:blipFill>
        <p:spPr>
          <a:xfrm>
            <a:off x="5838676" y="4712791"/>
            <a:ext cx="514350" cy="457200"/>
          </a:xfrm>
          <a:prstGeom prst="rect">
            <a:avLst/>
          </a:prstGeom>
        </p:spPr>
      </p:pic>
      <p:pic>
        <p:nvPicPr>
          <p:cNvPr id="14" name="Image 12" descr="preencoded.png"/>
          <p:cNvPicPr>
            <a:picLocks noChangeAspect="1"/>
          </p:cNvPicPr>
          <p:nvPr/>
        </p:nvPicPr>
        <p:blipFill>
          <a:blip r:embed="rId15"/>
          <a:stretch>
            <a:fillRect/>
          </a:stretch>
        </p:blipFill>
        <p:spPr>
          <a:xfrm>
            <a:off x="8102501" y="4522291"/>
            <a:ext cx="3632299" cy="1790700"/>
          </a:xfrm>
          <a:prstGeom prst="rect">
            <a:avLst/>
          </a:prstGeom>
        </p:spPr>
      </p:pic>
      <p:pic>
        <p:nvPicPr>
          <p:cNvPr id="15" name="Image 13" descr="preencoded.png"/>
          <p:cNvPicPr>
            <a:picLocks noChangeAspect="1"/>
          </p:cNvPicPr>
          <p:nvPr/>
        </p:nvPicPr>
        <p:blipFill>
          <a:blip r:embed="rId16"/>
          <a:stretch>
            <a:fillRect/>
          </a:stretch>
        </p:blipFill>
        <p:spPr>
          <a:xfrm>
            <a:off x="9632900" y="4712791"/>
            <a:ext cx="571500" cy="457200"/>
          </a:xfrm>
          <a:prstGeom prst="rect">
            <a:avLst/>
          </a:prstGeom>
        </p:spPr>
      </p:pic>
      <p:sp>
        <p:nvSpPr>
          <p:cNvPr id="16"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Canaux Utilisés pour le Phishing</a:t>
            </a:r>
            <a:endParaRPr lang="en-US" sz="2700" dirty="0"/>
          </a:p>
        </p:txBody>
      </p:sp>
      <p:sp>
        <p:nvSpPr>
          <p:cNvPr id="17" name="Text 1"/>
          <p:cNvSpPr/>
          <p:nvPr/>
        </p:nvSpPr>
        <p:spPr>
          <a:xfrm>
            <a:off x="457200" y="1295400"/>
            <a:ext cx="112776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Les cybercriminels utilisent divers canaux pour distribuer leurs tentatives de phishing. </a:t>
            </a:r>
            <a:r>
              <a:rPr lang="en-US" sz="1800" b="1" dirty="0">
                <a:solidFill>
                  <a:srgbClr val="FF6B35"/>
                </a:solidFill>
                <a:latin typeface="Arial" pitchFamily="34" charset="0"/>
                <a:ea typeface="Arial" pitchFamily="34" charset="-122"/>
                <a:cs typeface="Arial" pitchFamily="34" charset="-120"/>
              </a:rPr>
              <a:t>L'email</a:t>
            </a:r>
            <a:r>
              <a:rPr lang="en-US" sz="1800" dirty="0">
                <a:solidFill>
                  <a:srgbClr val="F7FFF7"/>
                </a:solidFill>
                <a:latin typeface="Arial" pitchFamily="34" charset="0"/>
                <a:ea typeface="Arial" pitchFamily="34" charset="-122"/>
                <a:cs typeface="Arial" pitchFamily="34" charset="-120"/>
              </a:rPr>
              <a:t> reste le vecteur principal, mais d'autres canaux sont également utilisés.</a:t>
            </a:r>
            <a:endParaRPr lang="en-US" sz="1800" dirty="0"/>
          </a:p>
        </p:txBody>
      </p:sp>
      <p:sp>
        <p:nvSpPr>
          <p:cNvPr id="18" name="Text 2"/>
          <p:cNvSpPr/>
          <p:nvPr/>
        </p:nvSpPr>
        <p:spPr>
          <a:xfrm>
            <a:off x="2019151" y="3341191"/>
            <a:ext cx="609898"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Email</a:t>
            </a:r>
            <a:endParaRPr lang="en-US" sz="1500" dirty="0"/>
          </a:p>
        </p:txBody>
      </p:sp>
      <p:sp>
        <p:nvSpPr>
          <p:cNvPr id="19" name="Text 3"/>
          <p:cNvSpPr/>
          <p:nvPr/>
        </p:nvSpPr>
        <p:spPr>
          <a:xfrm>
            <a:off x="647700" y="3684091"/>
            <a:ext cx="3251150"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Le canal principal pour le phishing, permettant d'atteindre directement la victime</a:t>
            </a:r>
            <a:endParaRPr lang="en-US" sz="1200" dirty="0"/>
          </a:p>
        </p:txBody>
      </p:sp>
      <p:sp>
        <p:nvSpPr>
          <p:cNvPr id="20" name="Text 4"/>
          <p:cNvSpPr/>
          <p:nvPr/>
        </p:nvSpPr>
        <p:spPr>
          <a:xfrm>
            <a:off x="5084713" y="3341191"/>
            <a:ext cx="242691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Messages Instantanés</a:t>
            </a:r>
            <a:endParaRPr lang="en-US" sz="1500" dirty="0"/>
          </a:p>
        </p:txBody>
      </p:sp>
      <p:sp>
        <p:nvSpPr>
          <p:cNvPr id="21" name="Text 5"/>
          <p:cNvSpPr/>
          <p:nvPr/>
        </p:nvSpPr>
        <p:spPr>
          <a:xfrm>
            <a:off x="4470350" y="3684091"/>
            <a:ext cx="3251150"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Utilisés pour créer des conversations fictives et obtenir des informations sensibles</a:t>
            </a:r>
            <a:endParaRPr lang="en-US" sz="1200" dirty="0"/>
          </a:p>
        </p:txBody>
      </p:sp>
      <p:sp>
        <p:nvSpPr>
          <p:cNvPr id="22" name="Text 6"/>
          <p:cNvSpPr/>
          <p:nvPr/>
        </p:nvSpPr>
        <p:spPr>
          <a:xfrm>
            <a:off x="9712226" y="3341191"/>
            <a:ext cx="495419"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SMS</a:t>
            </a:r>
            <a:endParaRPr lang="en-US" sz="1500" dirty="0"/>
          </a:p>
        </p:txBody>
      </p:sp>
      <p:sp>
        <p:nvSpPr>
          <p:cNvPr id="23" name="Text 7"/>
          <p:cNvSpPr/>
          <p:nvPr/>
        </p:nvSpPr>
        <p:spPr>
          <a:xfrm>
            <a:off x="8293001" y="3684091"/>
            <a:ext cx="3251299"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Messages texte contenant des liens vers des sites frauduleux ou demandant des informations</a:t>
            </a:r>
            <a:endParaRPr lang="en-US" sz="1200" dirty="0"/>
          </a:p>
        </p:txBody>
      </p:sp>
      <p:sp>
        <p:nvSpPr>
          <p:cNvPr id="24" name="Text 8"/>
          <p:cNvSpPr/>
          <p:nvPr/>
        </p:nvSpPr>
        <p:spPr>
          <a:xfrm>
            <a:off x="1819721" y="5322391"/>
            <a:ext cx="108835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Sites Web</a:t>
            </a:r>
            <a:endParaRPr lang="en-US" sz="1500" dirty="0"/>
          </a:p>
        </p:txBody>
      </p:sp>
      <p:sp>
        <p:nvSpPr>
          <p:cNvPr id="25" name="Text 9"/>
          <p:cNvSpPr/>
          <p:nvPr/>
        </p:nvSpPr>
        <p:spPr>
          <a:xfrm>
            <a:off x="647700" y="5665291"/>
            <a:ext cx="3251150"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Pages Web frauduleuses conçues pour ressembler à des sites légitimes</a:t>
            </a:r>
            <a:endParaRPr lang="en-US" sz="1200" dirty="0"/>
          </a:p>
        </p:txBody>
      </p:sp>
      <p:sp>
        <p:nvSpPr>
          <p:cNvPr id="26" name="Text 10"/>
          <p:cNvSpPr/>
          <p:nvPr/>
        </p:nvSpPr>
        <p:spPr>
          <a:xfrm>
            <a:off x="5524351" y="5322391"/>
            <a:ext cx="1371779"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Applications</a:t>
            </a:r>
            <a:endParaRPr lang="en-US" sz="1500" dirty="0"/>
          </a:p>
        </p:txBody>
      </p:sp>
      <p:sp>
        <p:nvSpPr>
          <p:cNvPr id="27" name="Text 11"/>
          <p:cNvSpPr/>
          <p:nvPr/>
        </p:nvSpPr>
        <p:spPr>
          <a:xfrm>
            <a:off x="4470350" y="5665291"/>
            <a:ext cx="3251150"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Applications mobiles malveillantes qui simulent des services légitimes</a:t>
            </a:r>
            <a:endParaRPr lang="en-US" sz="1200" dirty="0"/>
          </a:p>
        </p:txBody>
      </p:sp>
      <p:sp>
        <p:nvSpPr>
          <p:cNvPr id="28" name="Text 12"/>
          <p:cNvSpPr/>
          <p:nvPr/>
        </p:nvSpPr>
        <p:spPr>
          <a:xfrm>
            <a:off x="9135070" y="5322391"/>
            <a:ext cx="1880592"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Réseaux Sociaux</a:t>
            </a:r>
            <a:endParaRPr lang="en-US" sz="1500" dirty="0"/>
          </a:p>
        </p:txBody>
      </p:sp>
      <p:sp>
        <p:nvSpPr>
          <p:cNvPr id="29" name="Text 13"/>
          <p:cNvSpPr/>
          <p:nvPr/>
        </p:nvSpPr>
        <p:spPr>
          <a:xfrm>
            <a:off x="8293001" y="5665291"/>
            <a:ext cx="3251299"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Profilés et messages frauduleux sur les plateformes de médias sociaux</a:t>
            </a:r>
            <a:endParaRPr lang="en-US" sz="1200" dirty="0"/>
          </a:p>
        </p:txBody>
      </p:sp>
      <p:sp>
        <p:nvSpPr>
          <p:cNvPr id="30" name="Text 14"/>
          <p:cNvSpPr/>
          <p:nvPr/>
        </p:nvSpPr>
        <p:spPr>
          <a:xfrm>
            <a:off x="457200" y="6512501"/>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0668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552700"/>
            <a:ext cx="5334000" cy="1752600"/>
          </a:xfrm>
          <a:prstGeom prst="rect">
            <a:avLst/>
          </a:prstGeom>
        </p:spPr>
      </p:pic>
      <p:pic>
        <p:nvPicPr>
          <p:cNvPr id="5" name="Image 3" descr="preencoded.png"/>
          <p:cNvPicPr>
            <a:picLocks noChangeAspect="1"/>
          </p:cNvPicPr>
          <p:nvPr/>
        </p:nvPicPr>
        <p:blipFill>
          <a:blip r:embed="rId6"/>
          <a:stretch>
            <a:fillRect/>
          </a:stretch>
        </p:blipFill>
        <p:spPr>
          <a:xfrm>
            <a:off x="685800" y="2781300"/>
            <a:ext cx="285750" cy="342900"/>
          </a:xfrm>
          <a:prstGeom prst="rect">
            <a:avLst/>
          </a:prstGeom>
        </p:spPr>
      </p:pic>
      <p:pic>
        <p:nvPicPr>
          <p:cNvPr id="6" name="Image 4" descr="preencoded.png"/>
          <p:cNvPicPr>
            <a:picLocks noChangeAspect="1"/>
          </p:cNvPicPr>
          <p:nvPr/>
        </p:nvPicPr>
        <p:blipFill>
          <a:blip r:embed="rId5"/>
          <a:stretch>
            <a:fillRect/>
          </a:stretch>
        </p:blipFill>
        <p:spPr>
          <a:xfrm>
            <a:off x="457200" y="4533900"/>
            <a:ext cx="5334000" cy="1752600"/>
          </a:xfrm>
          <a:prstGeom prst="rect">
            <a:avLst/>
          </a:prstGeom>
        </p:spPr>
      </p:pic>
      <p:pic>
        <p:nvPicPr>
          <p:cNvPr id="7" name="Image 5" descr="preencoded.png"/>
          <p:cNvPicPr>
            <a:picLocks noChangeAspect="1"/>
          </p:cNvPicPr>
          <p:nvPr/>
        </p:nvPicPr>
        <p:blipFill>
          <a:blip r:embed="rId7"/>
          <a:stretch>
            <a:fillRect/>
          </a:stretch>
        </p:blipFill>
        <p:spPr>
          <a:xfrm>
            <a:off x="685800" y="4762500"/>
            <a:ext cx="285750" cy="342900"/>
          </a:xfrm>
          <a:prstGeom prst="rect">
            <a:avLst/>
          </a:prstGeom>
        </p:spPr>
      </p:pic>
      <p:pic>
        <p:nvPicPr>
          <p:cNvPr id="8" name="Image 6" descr="preencoded.png"/>
          <p:cNvPicPr>
            <a:picLocks noChangeAspect="1"/>
          </p:cNvPicPr>
          <p:nvPr/>
        </p:nvPicPr>
        <p:blipFill>
          <a:blip r:embed="rId8"/>
          <a:stretch>
            <a:fillRect/>
          </a:stretch>
        </p:blipFill>
        <p:spPr>
          <a:xfrm>
            <a:off x="6268994" y="3143250"/>
            <a:ext cx="2590800" cy="1219200"/>
          </a:xfrm>
          <a:prstGeom prst="rect">
            <a:avLst/>
          </a:prstGeom>
        </p:spPr>
      </p:pic>
      <p:pic>
        <p:nvPicPr>
          <p:cNvPr id="9" name="Image 7" descr="preencoded.png"/>
          <p:cNvPicPr>
            <a:picLocks noChangeAspect="1"/>
          </p:cNvPicPr>
          <p:nvPr/>
        </p:nvPicPr>
        <p:blipFill>
          <a:blip r:embed="rId9"/>
          <a:stretch>
            <a:fillRect/>
          </a:stretch>
        </p:blipFill>
        <p:spPr>
          <a:xfrm>
            <a:off x="7369132" y="3295650"/>
            <a:ext cx="390525" cy="381000"/>
          </a:xfrm>
          <a:prstGeom prst="rect">
            <a:avLst/>
          </a:prstGeom>
        </p:spPr>
      </p:pic>
      <p:pic>
        <p:nvPicPr>
          <p:cNvPr id="10" name="Image 8" descr="preencoded.png"/>
          <p:cNvPicPr>
            <a:picLocks noChangeAspect="1"/>
          </p:cNvPicPr>
          <p:nvPr/>
        </p:nvPicPr>
        <p:blipFill>
          <a:blip r:embed="rId10"/>
          <a:stretch>
            <a:fillRect/>
          </a:stretch>
        </p:blipFill>
        <p:spPr>
          <a:xfrm>
            <a:off x="9012194" y="3143250"/>
            <a:ext cx="2590800" cy="1219200"/>
          </a:xfrm>
          <a:prstGeom prst="rect">
            <a:avLst/>
          </a:prstGeom>
        </p:spPr>
      </p:pic>
      <p:pic>
        <p:nvPicPr>
          <p:cNvPr id="11" name="Image 9" descr="preencoded.png"/>
          <p:cNvPicPr>
            <a:picLocks noChangeAspect="1"/>
          </p:cNvPicPr>
          <p:nvPr/>
        </p:nvPicPr>
        <p:blipFill>
          <a:blip r:embed="rId11"/>
          <a:stretch>
            <a:fillRect/>
          </a:stretch>
        </p:blipFill>
        <p:spPr>
          <a:xfrm>
            <a:off x="10112332" y="3295650"/>
            <a:ext cx="390525" cy="381000"/>
          </a:xfrm>
          <a:prstGeom prst="rect">
            <a:avLst/>
          </a:prstGeom>
        </p:spPr>
      </p:pic>
      <p:pic>
        <p:nvPicPr>
          <p:cNvPr id="12" name="Image 10" descr="preencoded.png"/>
          <p:cNvPicPr>
            <a:picLocks noChangeAspect="1"/>
          </p:cNvPicPr>
          <p:nvPr/>
        </p:nvPicPr>
        <p:blipFill>
          <a:blip r:embed="rId8"/>
          <a:stretch>
            <a:fillRect/>
          </a:stretch>
        </p:blipFill>
        <p:spPr>
          <a:xfrm>
            <a:off x="6268994" y="4514850"/>
            <a:ext cx="2590800" cy="1219200"/>
          </a:xfrm>
          <a:prstGeom prst="rect">
            <a:avLst/>
          </a:prstGeom>
        </p:spPr>
      </p:pic>
      <p:pic>
        <p:nvPicPr>
          <p:cNvPr id="13" name="Image 11" descr="preencoded.png"/>
          <p:cNvPicPr>
            <a:picLocks noChangeAspect="1"/>
          </p:cNvPicPr>
          <p:nvPr/>
        </p:nvPicPr>
        <p:blipFill>
          <a:blip r:embed="rId12"/>
          <a:stretch>
            <a:fillRect/>
          </a:stretch>
        </p:blipFill>
        <p:spPr>
          <a:xfrm>
            <a:off x="7435806" y="4667250"/>
            <a:ext cx="257175" cy="381000"/>
          </a:xfrm>
          <a:prstGeom prst="rect">
            <a:avLst/>
          </a:prstGeom>
        </p:spPr>
      </p:pic>
      <p:pic>
        <p:nvPicPr>
          <p:cNvPr id="14" name="Image 12" descr="preencoded.png"/>
          <p:cNvPicPr>
            <a:picLocks noChangeAspect="1"/>
          </p:cNvPicPr>
          <p:nvPr/>
        </p:nvPicPr>
        <p:blipFill>
          <a:blip r:embed="rId10"/>
          <a:stretch>
            <a:fillRect/>
          </a:stretch>
        </p:blipFill>
        <p:spPr>
          <a:xfrm>
            <a:off x="9012194" y="4514850"/>
            <a:ext cx="2590800" cy="1219200"/>
          </a:xfrm>
          <a:prstGeom prst="rect">
            <a:avLst/>
          </a:prstGeom>
        </p:spPr>
      </p:pic>
      <p:pic>
        <p:nvPicPr>
          <p:cNvPr id="15" name="Image 13" descr="preencoded.png"/>
          <p:cNvPicPr>
            <a:picLocks noChangeAspect="1"/>
          </p:cNvPicPr>
          <p:nvPr/>
        </p:nvPicPr>
        <p:blipFill>
          <a:blip r:embed="rId13"/>
          <a:stretch>
            <a:fillRect/>
          </a:stretch>
        </p:blipFill>
        <p:spPr>
          <a:xfrm>
            <a:off x="10112332" y="4667250"/>
            <a:ext cx="390525" cy="381000"/>
          </a:xfrm>
          <a:prstGeom prst="rect">
            <a:avLst/>
          </a:prstGeom>
        </p:spPr>
      </p:pic>
      <p:sp>
        <p:nvSpPr>
          <p:cNvPr id="16" name="Text 0"/>
          <p:cNvSpPr/>
          <p:nvPr/>
        </p:nvSpPr>
        <p:spPr>
          <a:xfrm>
            <a:off x="457200" y="457200"/>
            <a:ext cx="13533120" cy="457200"/>
          </a:xfrm>
          <a:prstGeom prst="rect">
            <a:avLst/>
          </a:prstGeom>
          <a:noFill/>
          <a:ln/>
        </p:spPr>
        <p:txBody>
          <a:bodyPr wrap="square" lIns="0" tIns="0" rIns="0" bIns="0" rtlCol="0" anchor="t"/>
          <a:lstStyle/>
          <a:p>
            <a:pPr marL="0" indent="0">
              <a:lnSpc>
                <a:spcPts val="3600"/>
              </a:lnSpc>
              <a:buNone/>
            </a:pPr>
            <a:r>
              <a:rPr lang="en-US" sz="3600" b="1" kern="0" spc="144" dirty="0">
                <a:solidFill>
                  <a:srgbClr val="FFFFFF"/>
                </a:solidFill>
                <a:latin typeface="ui-sans-serif" pitchFamily="34" charset="0"/>
                <a:ea typeface="ui-sans-serif" pitchFamily="34" charset="-122"/>
                <a:cs typeface="ui-sans-serif" pitchFamily="34" charset="-120"/>
              </a:rPr>
              <a:t>Exemples d'Attaques Coûteuses</a:t>
            </a:r>
            <a:endParaRPr lang="en-US" sz="3600" dirty="0"/>
          </a:p>
        </p:txBody>
      </p:sp>
      <p:sp>
        <p:nvSpPr>
          <p:cNvPr id="17" name="Text 1"/>
          <p:cNvSpPr/>
          <p:nvPr/>
        </p:nvSpPr>
        <p:spPr>
          <a:xfrm>
            <a:off x="457200" y="1409700"/>
            <a:ext cx="5334000" cy="914400"/>
          </a:xfrm>
          <a:prstGeom prst="rect">
            <a:avLst/>
          </a:prstGeom>
          <a:noFill/>
          <a:ln/>
        </p:spPr>
        <p:txBody>
          <a:bodyPr wrap="square" lIns="0" tIns="0" rIns="0" bIns="0" rtlCol="0" anchor="t"/>
          <a:lstStyle/>
          <a:p>
            <a:pPr marL="0" indent="0">
              <a:lnSpc>
                <a:spcPts val="2400"/>
              </a:lnSpc>
              <a:buNone/>
            </a:pPr>
            <a:r>
              <a:rPr lang="en-US" sz="1800" dirty="0">
                <a:solidFill>
                  <a:srgbClr val="FFFFFF"/>
                </a:solidFill>
                <a:latin typeface="ui-sans-serif" pitchFamily="34" charset="0"/>
                <a:ea typeface="ui-sans-serif" pitchFamily="34" charset="-122"/>
                <a:cs typeface="ui-sans-serif" pitchFamily="34" charset="-120"/>
              </a:rPr>
              <a:t>Les cyberattaques peuvent causer des dommages financiers massifs et mettre en péril la sécurité d'une entreprise.</a:t>
            </a:r>
            <a:endParaRPr lang="en-US" sz="1800" dirty="0"/>
          </a:p>
        </p:txBody>
      </p:sp>
      <p:sp>
        <p:nvSpPr>
          <p:cNvPr id="18" name="Text 2"/>
          <p:cNvSpPr/>
          <p:nvPr/>
        </p:nvSpPr>
        <p:spPr>
          <a:xfrm>
            <a:off x="1123950" y="2819400"/>
            <a:ext cx="2190810" cy="2667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Coûts d'attaques</a:t>
            </a:r>
            <a:endParaRPr lang="en-US" sz="1500" dirty="0"/>
          </a:p>
        </p:txBody>
      </p:sp>
      <p:sp>
        <p:nvSpPr>
          <p:cNvPr id="19" name="Text 3"/>
          <p:cNvSpPr/>
          <p:nvPr/>
        </p:nvSpPr>
        <p:spPr>
          <a:xfrm>
            <a:off x="685800" y="3276600"/>
            <a:ext cx="4876800" cy="8001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Selon les experts, les coûts d'une attaque informatique peuvent atteindre des milliards d'euros pour les plus grandes entreprises.</a:t>
            </a:r>
            <a:endParaRPr lang="en-US" sz="1350" dirty="0"/>
          </a:p>
        </p:txBody>
      </p:sp>
      <p:sp>
        <p:nvSpPr>
          <p:cNvPr id="20" name="Text 4"/>
          <p:cNvSpPr/>
          <p:nvPr/>
        </p:nvSpPr>
        <p:spPr>
          <a:xfrm>
            <a:off x="1123950" y="4800600"/>
            <a:ext cx="886004" cy="2667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Impact</a:t>
            </a:r>
            <a:endParaRPr lang="en-US" sz="1500" dirty="0"/>
          </a:p>
        </p:txBody>
      </p:sp>
      <p:sp>
        <p:nvSpPr>
          <p:cNvPr id="21" name="Text 5"/>
          <p:cNvSpPr/>
          <p:nvPr/>
        </p:nvSpPr>
        <p:spPr>
          <a:xfrm>
            <a:off x="685800" y="5257800"/>
            <a:ext cx="4876800" cy="8001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Outre les coûts directs, les attaques causent également une perte de confiance, des interruptions d'activité et parfois la perte définitive d'affaires.</a:t>
            </a:r>
            <a:endParaRPr lang="en-US" sz="1350" dirty="0"/>
          </a:p>
        </p:txBody>
      </p:sp>
      <p:sp>
        <p:nvSpPr>
          <p:cNvPr id="22" name="Text 6"/>
          <p:cNvSpPr/>
          <p:nvPr/>
        </p:nvSpPr>
        <p:spPr>
          <a:xfrm>
            <a:off x="6268994" y="2609850"/>
            <a:ext cx="6400800"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ui-sans-serif" pitchFamily="34" charset="0"/>
                <a:ea typeface="ui-sans-serif" pitchFamily="34" charset="-122"/>
                <a:cs typeface="ui-sans-serif" pitchFamily="34" charset="-120"/>
              </a:rPr>
              <a:t>Exemples d'attaques majeures</a:t>
            </a:r>
            <a:endParaRPr lang="en-US" sz="1800" dirty="0"/>
          </a:p>
        </p:txBody>
      </p:sp>
      <p:sp>
        <p:nvSpPr>
          <p:cNvPr id="23" name="Text 7"/>
          <p:cNvSpPr/>
          <p:nvPr/>
        </p:nvSpPr>
        <p:spPr>
          <a:xfrm>
            <a:off x="6943185" y="3752850"/>
            <a:ext cx="1490722"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Maersk (2017)</a:t>
            </a:r>
            <a:endParaRPr lang="en-US" sz="1350" dirty="0"/>
          </a:p>
        </p:txBody>
      </p:sp>
      <p:sp>
        <p:nvSpPr>
          <p:cNvPr id="24" name="Text 8"/>
          <p:cNvSpPr/>
          <p:nvPr/>
        </p:nvSpPr>
        <p:spPr>
          <a:xfrm>
            <a:off x="6793583" y="4019550"/>
            <a:ext cx="1541621" cy="190500"/>
          </a:xfrm>
          <a:prstGeom prst="rect">
            <a:avLst/>
          </a:prstGeom>
          <a:noFill/>
          <a:ln/>
        </p:spPr>
        <p:txBody>
          <a:bodyPr wrap="square" lIns="0" tIns="0" rIns="0" bIns="0" rtlCol="0" anchor="t"/>
          <a:lstStyle/>
          <a:p>
            <a:pPr marL="0" indent="0" algn="ctr">
              <a:lnSpc>
                <a:spcPts val="1500"/>
              </a:lnSpc>
              <a:buNone/>
            </a:pPr>
            <a:r>
              <a:rPr lang="en-US" sz="1050" dirty="0">
                <a:solidFill>
                  <a:srgbClr val="D1D5DB"/>
                </a:solidFill>
                <a:latin typeface="ui-sans-serif" pitchFamily="34" charset="0"/>
                <a:ea typeface="ui-sans-serif" pitchFamily="34" charset="-122"/>
                <a:cs typeface="ui-sans-serif" pitchFamily="34" charset="-120"/>
              </a:rPr>
              <a:t>1,3 milliard d'euros</a:t>
            </a:r>
            <a:endParaRPr lang="en-US" sz="1050" dirty="0"/>
          </a:p>
        </p:txBody>
      </p:sp>
      <p:sp>
        <p:nvSpPr>
          <p:cNvPr id="25" name="Text 9"/>
          <p:cNvSpPr/>
          <p:nvPr/>
        </p:nvSpPr>
        <p:spPr>
          <a:xfrm>
            <a:off x="9466417" y="3752850"/>
            <a:ext cx="2018645"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Norsk Hydro (2019)</a:t>
            </a:r>
            <a:endParaRPr lang="en-US" sz="1350" dirty="0"/>
          </a:p>
        </p:txBody>
      </p:sp>
      <p:sp>
        <p:nvSpPr>
          <p:cNvPr id="26" name="Text 10"/>
          <p:cNvSpPr/>
          <p:nvPr/>
        </p:nvSpPr>
        <p:spPr>
          <a:xfrm>
            <a:off x="9501243" y="4019550"/>
            <a:ext cx="1612702" cy="190500"/>
          </a:xfrm>
          <a:prstGeom prst="rect">
            <a:avLst/>
          </a:prstGeom>
          <a:noFill/>
          <a:ln/>
        </p:spPr>
        <p:txBody>
          <a:bodyPr wrap="square" lIns="0" tIns="0" rIns="0" bIns="0" rtlCol="0" anchor="t"/>
          <a:lstStyle/>
          <a:p>
            <a:pPr marL="0" indent="0" algn="ctr">
              <a:lnSpc>
                <a:spcPts val="1500"/>
              </a:lnSpc>
              <a:buNone/>
            </a:pPr>
            <a:r>
              <a:rPr lang="en-US" sz="1050" dirty="0">
                <a:solidFill>
                  <a:srgbClr val="D1D5DB"/>
                </a:solidFill>
                <a:latin typeface="ui-sans-serif" pitchFamily="34" charset="0"/>
                <a:ea typeface="ui-sans-serif" pitchFamily="34" charset="-122"/>
                <a:cs typeface="ui-sans-serif" pitchFamily="34" charset="-120"/>
              </a:rPr>
              <a:t>570 millions d'euros</a:t>
            </a:r>
            <a:endParaRPr lang="en-US" sz="1050" dirty="0"/>
          </a:p>
        </p:txBody>
      </p:sp>
      <p:sp>
        <p:nvSpPr>
          <p:cNvPr id="27" name="Text 11"/>
          <p:cNvSpPr/>
          <p:nvPr/>
        </p:nvSpPr>
        <p:spPr>
          <a:xfrm>
            <a:off x="6695238" y="5124450"/>
            <a:ext cx="2085796"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Saint-Gobain (2017)</a:t>
            </a:r>
            <a:endParaRPr lang="en-US" sz="1350" dirty="0"/>
          </a:p>
        </p:txBody>
      </p:sp>
      <p:sp>
        <p:nvSpPr>
          <p:cNvPr id="28" name="Text 12"/>
          <p:cNvSpPr/>
          <p:nvPr/>
        </p:nvSpPr>
        <p:spPr>
          <a:xfrm>
            <a:off x="6758043" y="5391150"/>
            <a:ext cx="1612702" cy="190500"/>
          </a:xfrm>
          <a:prstGeom prst="rect">
            <a:avLst/>
          </a:prstGeom>
          <a:noFill/>
          <a:ln/>
        </p:spPr>
        <p:txBody>
          <a:bodyPr wrap="square" lIns="0" tIns="0" rIns="0" bIns="0" rtlCol="0" anchor="t"/>
          <a:lstStyle/>
          <a:p>
            <a:pPr marL="0" indent="0" algn="ctr">
              <a:lnSpc>
                <a:spcPts val="1500"/>
              </a:lnSpc>
              <a:buNone/>
            </a:pPr>
            <a:r>
              <a:rPr lang="en-US" sz="1050" dirty="0">
                <a:solidFill>
                  <a:srgbClr val="D1D5DB"/>
                </a:solidFill>
                <a:latin typeface="ui-sans-serif" pitchFamily="34" charset="0"/>
                <a:ea typeface="ui-sans-serif" pitchFamily="34" charset="-122"/>
                <a:cs typeface="ui-sans-serif" pitchFamily="34" charset="-120"/>
              </a:rPr>
              <a:t>200 millions d'euros</a:t>
            </a:r>
            <a:endParaRPr lang="en-US" sz="1050" dirty="0"/>
          </a:p>
        </p:txBody>
      </p:sp>
      <p:sp>
        <p:nvSpPr>
          <p:cNvPr id="29" name="Text 13"/>
          <p:cNvSpPr/>
          <p:nvPr/>
        </p:nvSpPr>
        <p:spPr>
          <a:xfrm>
            <a:off x="9395724" y="5124450"/>
            <a:ext cx="2188309"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Fleury Michon (2019)</a:t>
            </a:r>
            <a:endParaRPr lang="en-US" sz="1350" dirty="0"/>
          </a:p>
        </p:txBody>
      </p:sp>
      <p:sp>
        <p:nvSpPr>
          <p:cNvPr id="30" name="Text 14"/>
          <p:cNvSpPr/>
          <p:nvPr/>
        </p:nvSpPr>
        <p:spPr>
          <a:xfrm>
            <a:off x="9501243" y="5391150"/>
            <a:ext cx="1612702" cy="190500"/>
          </a:xfrm>
          <a:prstGeom prst="rect">
            <a:avLst/>
          </a:prstGeom>
          <a:noFill/>
          <a:ln/>
        </p:spPr>
        <p:txBody>
          <a:bodyPr wrap="square" lIns="0" tIns="0" rIns="0" bIns="0" rtlCol="0" anchor="t"/>
          <a:lstStyle/>
          <a:p>
            <a:pPr marL="0" indent="0" algn="ctr">
              <a:lnSpc>
                <a:spcPts val="1500"/>
              </a:lnSpc>
              <a:buNone/>
            </a:pPr>
            <a:r>
              <a:rPr lang="en-US" sz="1050" dirty="0">
                <a:solidFill>
                  <a:srgbClr val="D1D5DB"/>
                </a:solidFill>
                <a:latin typeface="ui-sans-serif" pitchFamily="34" charset="0"/>
                <a:ea typeface="ui-sans-serif" pitchFamily="34" charset="-122"/>
                <a:cs typeface="ui-sans-serif" pitchFamily="34" charset="-120"/>
              </a:rPr>
              <a:t>180 millions d'euros</a:t>
            </a:r>
            <a:endParaRPr lang="en-US" sz="1050" dirty="0"/>
          </a:p>
        </p:txBody>
      </p:sp>
      <p:sp>
        <p:nvSpPr>
          <p:cNvPr id="38" name="Text 14">
            <a:extLst>
              <a:ext uri="{FF2B5EF4-FFF2-40B4-BE49-F238E27FC236}">
                <a16:creationId xmlns:a16="http://schemas.microsoft.com/office/drawing/2014/main" id="{CC6AF296-5C39-6C4E-E521-B6977AEB8F74}"/>
              </a:ext>
            </a:extLst>
          </p:cNvPr>
          <p:cNvSpPr/>
          <p:nvPr/>
        </p:nvSpPr>
        <p:spPr>
          <a:xfrm>
            <a:off x="457200" y="6486525"/>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8230" y="1524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8230" y="1066800"/>
            <a:ext cx="11277600" cy="1181100"/>
          </a:xfrm>
          <a:prstGeom prst="rect">
            <a:avLst/>
          </a:prstGeom>
        </p:spPr>
      </p:pic>
      <p:pic>
        <p:nvPicPr>
          <p:cNvPr id="5" name="Image 3" descr="preencoded.png"/>
          <p:cNvPicPr>
            <a:picLocks noChangeAspect="1"/>
          </p:cNvPicPr>
          <p:nvPr/>
        </p:nvPicPr>
        <p:blipFill>
          <a:blip r:embed="rId6"/>
          <a:stretch>
            <a:fillRect/>
          </a:stretch>
        </p:blipFill>
        <p:spPr>
          <a:xfrm>
            <a:off x="648730" y="1371600"/>
            <a:ext cx="468660" cy="571500"/>
          </a:xfrm>
          <a:prstGeom prst="rect">
            <a:avLst/>
          </a:prstGeom>
        </p:spPr>
      </p:pic>
      <p:pic>
        <p:nvPicPr>
          <p:cNvPr id="6" name="Image 4" descr="preencoded.png"/>
          <p:cNvPicPr>
            <a:picLocks noChangeAspect="1"/>
          </p:cNvPicPr>
          <p:nvPr/>
        </p:nvPicPr>
        <p:blipFill>
          <a:blip r:embed="rId7"/>
          <a:stretch>
            <a:fillRect/>
          </a:stretch>
        </p:blipFill>
        <p:spPr>
          <a:xfrm>
            <a:off x="668673" y="1466850"/>
            <a:ext cx="428625" cy="381000"/>
          </a:xfrm>
          <a:prstGeom prst="rect">
            <a:avLst/>
          </a:prstGeom>
        </p:spPr>
      </p:pic>
      <p:pic>
        <p:nvPicPr>
          <p:cNvPr id="7" name="Image 5" descr="preencoded.png"/>
          <p:cNvPicPr>
            <a:picLocks noChangeAspect="1"/>
          </p:cNvPicPr>
          <p:nvPr/>
        </p:nvPicPr>
        <p:blipFill>
          <a:blip r:embed="rId5"/>
          <a:stretch>
            <a:fillRect/>
          </a:stretch>
        </p:blipFill>
        <p:spPr>
          <a:xfrm>
            <a:off x="458230" y="2476500"/>
            <a:ext cx="11277600" cy="1181100"/>
          </a:xfrm>
          <a:prstGeom prst="rect">
            <a:avLst/>
          </a:prstGeom>
        </p:spPr>
      </p:pic>
      <p:pic>
        <p:nvPicPr>
          <p:cNvPr id="8" name="Image 6" descr="preencoded.png"/>
          <p:cNvPicPr>
            <a:picLocks noChangeAspect="1"/>
          </p:cNvPicPr>
          <p:nvPr/>
        </p:nvPicPr>
        <p:blipFill>
          <a:blip r:embed="rId8"/>
          <a:stretch>
            <a:fillRect/>
          </a:stretch>
        </p:blipFill>
        <p:spPr>
          <a:xfrm>
            <a:off x="648730" y="2781300"/>
            <a:ext cx="476250" cy="571500"/>
          </a:xfrm>
          <a:prstGeom prst="rect">
            <a:avLst/>
          </a:prstGeom>
        </p:spPr>
      </p:pic>
      <p:pic>
        <p:nvPicPr>
          <p:cNvPr id="9" name="Image 7" descr="preencoded.png"/>
          <p:cNvPicPr>
            <a:picLocks noChangeAspect="1"/>
          </p:cNvPicPr>
          <p:nvPr/>
        </p:nvPicPr>
        <p:blipFill>
          <a:blip r:embed="rId9"/>
          <a:stretch>
            <a:fillRect/>
          </a:stretch>
        </p:blipFill>
        <p:spPr>
          <a:xfrm>
            <a:off x="648730" y="2876550"/>
            <a:ext cx="476250" cy="381000"/>
          </a:xfrm>
          <a:prstGeom prst="rect">
            <a:avLst/>
          </a:prstGeom>
        </p:spPr>
      </p:pic>
      <p:pic>
        <p:nvPicPr>
          <p:cNvPr id="10" name="Image 8" descr="preencoded.png"/>
          <p:cNvPicPr>
            <a:picLocks noChangeAspect="1"/>
          </p:cNvPicPr>
          <p:nvPr/>
        </p:nvPicPr>
        <p:blipFill>
          <a:blip r:embed="rId5"/>
          <a:stretch>
            <a:fillRect/>
          </a:stretch>
        </p:blipFill>
        <p:spPr>
          <a:xfrm>
            <a:off x="458230" y="3886200"/>
            <a:ext cx="11277600" cy="1181100"/>
          </a:xfrm>
          <a:prstGeom prst="rect">
            <a:avLst/>
          </a:prstGeom>
        </p:spPr>
      </p:pic>
      <p:pic>
        <p:nvPicPr>
          <p:cNvPr id="11" name="Image 9" descr="preencoded.png"/>
          <p:cNvPicPr>
            <a:picLocks noChangeAspect="1"/>
          </p:cNvPicPr>
          <p:nvPr/>
        </p:nvPicPr>
        <p:blipFill>
          <a:blip r:embed="rId10"/>
          <a:stretch>
            <a:fillRect/>
          </a:stretch>
        </p:blipFill>
        <p:spPr>
          <a:xfrm>
            <a:off x="648730" y="4191000"/>
            <a:ext cx="445443" cy="571500"/>
          </a:xfrm>
          <a:prstGeom prst="rect">
            <a:avLst/>
          </a:prstGeom>
        </p:spPr>
      </p:pic>
      <p:pic>
        <p:nvPicPr>
          <p:cNvPr id="12" name="Image 10" descr="preencoded.png"/>
          <p:cNvPicPr>
            <a:picLocks noChangeAspect="1"/>
          </p:cNvPicPr>
          <p:nvPr/>
        </p:nvPicPr>
        <p:blipFill>
          <a:blip r:embed="rId11"/>
          <a:stretch>
            <a:fillRect/>
          </a:stretch>
        </p:blipFill>
        <p:spPr>
          <a:xfrm>
            <a:off x="728502" y="4286250"/>
            <a:ext cx="285750" cy="381000"/>
          </a:xfrm>
          <a:prstGeom prst="rect">
            <a:avLst/>
          </a:prstGeom>
        </p:spPr>
      </p:pic>
      <p:pic>
        <p:nvPicPr>
          <p:cNvPr id="13" name="Image 11" descr="preencoded.png"/>
          <p:cNvPicPr>
            <a:picLocks noChangeAspect="1"/>
          </p:cNvPicPr>
          <p:nvPr/>
        </p:nvPicPr>
        <p:blipFill>
          <a:blip r:embed="rId12"/>
          <a:stretch>
            <a:fillRect/>
          </a:stretch>
        </p:blipFill>
        <p:spPr>
          <a:xfrm>
            <a:off x="458230" y="5295900"/>
            <a:ext cx="11277600" cy="1181100"/>
          </a:xfrm>
          <a:prstGeom prst="rect">
            <a:avLst/>
          </a:prstGeom>
        </p:spPr>
      </p:pic>
      <p:pic>
        <p:nvPicPr>
          <p:cNvPr id="14" name="Image 12" descr="preencoded.png"/>
          <p:cNvPicPr>
            <a:picLocks noChangeAspect="1"/>
          </p:cNvPicPr>
          <p:nvPr/>
        </p:nvPicPr>
        <p:blipFill>
          <a:blip r:embed="rId13"/>
          <a:stretch>
            <a:fillRect/>
          </a:stretch>
        </p:blipFill>
        <p:spPr>
          <a:xfrm>
            <a:off x="648730" y="5600700"/>
            <a:ext cx="476250" cy="571500"/>
          </a:xfrm>
          <a:prstGeom prst="rect">
            <a:avLst/>
          </a:prstGeom>
        </p:spPr>
      </p:pic>
      <p:pic>
        <p:nvPicPr>
          <p:cNvPr id="15" name="Image 13" descr="preencoded.png"/>
          <p:cNvPicPr>
            <a:picLocks noChangeAspect="1"/>
          </p:cNvPicPr>
          <p:nvPr/>
        </p:nvPicPr>
        <p:blipFill>
          <a:blip r:embed="rId14"/>
          <a:stretch>
            <a:fillRect/>
          </a:stretch>
        </p:blipFill>
        <p:spPr>
          <a:xfrm>
            <a:off x="672543" y="5695950"/>
            <a:ext cx="428625" cy="381000"/>
          </a:xfrm>
          <a:prstGeom prst="rect">
            <a:avLst/>
          </a:prstGeom>
        </p:spPr>
      </p:pic>
      <p:sp>
        <p:nvSpPr>
          <p:cNvPr id="16" name="Text 0"/>
          <p:cNvSpPr/>
          <p:nvPr/>
        </p:nvSpPr>
        <p:spPr>
          <a:xfrm>
            <a:off x="458230" y="1524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Conséquences des Attaques de Phishing</a:t>
            </a:r>
            <a:endParaRPr lang="en-US" sz="2700" dirty="0"/>
          </a:p>
        </p:txBody>
      </p:sp>
      <p:sp>
        <p:nvSpPr>
          <p:cNvPr id="17" name="Text 1"/>
          <p:cNvSpPr/>
          <p:nvPr/>
        </p:nvSpPr>
        <p:spPr>
          <a:xfrm>
            <a:off x="1307890" y="1257300"/>
            <a:ext cx="1023744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Vol d'Identité</a:t>
            </a:r>
            <a:endParaRPr lang="en-US" sz="1500" dirty="0"/>
          </a:p>
        </p:txBody>
      </p:sp>
      <p:sp>
        <p:nvSpPr>
          <p:cNvPr id="18" name="Text 2"/>
          <p:cNvSpPr/>
          <p:nvPr/>
        </p:nvSpPr>
        <p:spPr>
          <a:xfrm>
            <a:off x="1307890" y="1600200"/>
            <a:ext cx="1023744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Les informations personnelles collectées peuvent être utilisées pour créer de nouveaux comptes, effectuer des transactions frauduleuses et causer des dommages financiers importants.</a:t>
            </a:r>
            <a:endParaRPr lang="en-US" sz="1200" dirty="0"/>
          </a:p>
        </p:txBody>
      </p:sp>
      <p:sp>
        <p:nvSpPr>
          <p:cNvPr id="19" name="Text 3"/>
          <p:cNvSpPr/>
          <p:nvPr/>
        </p:nvSpPr>
        <p:spPr>
          <a:xfrm>
            <a:off x="1315480" y="2667000"/>
            <a:ext cx="1022985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Compromission de Comptes</a:t>
            </a:r>
            <a:endParaRPr lang="en-US" sz="1500" dirty="0"/>
          </a:p>
        </p:txBody>
      </p:sp>
      <p:sp>
        <p:nvSpPr>
          <p:cNvPr id="20" name="Text 4"/>
          <p:cNvSpPr/>
          <p:nvPr/>
        </p:nvSpPr>
        <p:spPr>
          <a:xfrm>
            <a:off x="1315480" y="3009900"/>
            <a:ext cx="1022985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Les attaquants peuvent utiliser les identifiants volés pour se connecter à vos comptes bancaires, email, réseaux sociaux et autres services en ligne, effectuant des opérations illégales.</a:t>
            </a:r>
            <a:endParaRPr lang="en-US" sz="1200" dirty="0"/>
          </a:p>
        </p:txBody>
      </p:sp>
      <p:sp>
        <p:nvSpPr>
          <p:cNvPr id="21" name="Text 5"/>
          <p:cNvSpPr/>
          <p:nvPr/>
        </p:nvSpPr>
        <p:spPr>
          <a:xfrm>
            <a:off x="1284673" y="4076700"/>
            <a:ext cx="10260657"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Fuites de Données d'Entreprise</a:t>
            </a:r>
            <a:endParaRPr lang="en-US" sz="1500" dirty="0"/>
          </a:p>
        </p:txBody>
      </p:sp>
      <p:sp>
        <p:nvSpPr>
          <p:cNvPr id="22" name="Text 6"/>
          <p:cNvSpPr/>
          <p:nvPr/>
        </p:nvSpPr>
        <p:spPr>
          <a:xfrm>
            <a:off x="1284673" y="4419600"/>
            <a:ext cx="10260657"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Si un employé devient victime d'une attaque de phishing, cela peut entraîner une divulgation de données sensibles de l'entreprise, causant des pertes économiques et une damage à la réputation.</a:t>
            </a:r>
            <a:endParaRPr lang="en-US" sz="1200" dirty="0"/>
          </a:p>
        </p:txBody>
      </p:sp>
      <p:sp>
        <p:nvSpPr>
          <p:cNvPr id="23" name="Text 7"/>
          <p:cNvSpPr/>
          <p:nvPr/>
        </p:nvSpPr>
        <p:spPr>
          <a:xfrm>
            <a:off x="1315480" y="5486400"/>
            <a:ext cx="1022985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Infection Système</a:t>
            </a:r>
            <a:endParaRPr lang="en-US" sz="1500" dirty="0"/>
          </a:p>
        </p:txBody>
      </p:sp>
      <p:sp>
        <p:nvSpPr>
          <p:cNvPr id="24" name="Text 8"/>
          <p:cNvSpPr/>
          <p:nvPr/>
        </p:nvSpPr>
        <p:spPr>
          <a:xfrm>
            <a:off x="1315480" y="5829300"/>
            <a:ext cx="1022985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Le clic sur des liens malveillants ou l'ouverture de pièces jointes peut entraîner l'infection de votre système avec des virus, des ransomware ou d'autres types de logiciels malveillants.</a:t>
            </a:r>
            <a:endParaRPr lang="en-US" sz="1200" dirty="0"/>
          </a:p>
        </p:txBody>
      </p:sp>
      <p:sp>
        <p:nvSpPr>
          <p:cNvPr id="25" name="Text 9"/>
          <p:cNvSpPr/>
          <p:nvPr/>
        </p:nvSpPr>
        <p:spPr>
          <a:xfrm>
            <a:off x="515895" y="65532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381000"/>
            <a:ext cx="11430000" cy="609600"/>
          </a:xfrm>
          <a:prstGeom prst="rect">
            <a:avLst/>
          </a:prstGeom>
        </p:spPr>
      </p:pic>
      <p:pic>
        <p:nvPicPr>
          <p:cNvPr id="4" name="Image 2" descr="preencoded.png"/>
          <p:cNvPicPr>
            <a:picLocks noChangeAspect="1"/>
          </p:cNvPicPr>
          <p:nvPr/>
        </p:nvPicPr>
        <p:blipFill>
          <a:blip r:embed="rId5"/>
          <a:stretch>
            <a:fillRect/>
          </a:stretch>
        </p:blipFill>
        <p:spPr>
          <a:xfrm>
            <a:off x="381000" y="1219200"/>
            <a:ext cx="6629400" cy="5067300"/>
          </a:xfrm>
          <a:prstGeom prst="rect">
            <a:avLst/>
          </a:prstGeom>
        </p:spPr>
      </p:pic>
      <p:pic>
        <p:nvPicPr>
          <p:cNvPr id="5" name="Image 3" descr="preencoded.png"/>
          <p:cNvPicPr>
            <a:picLocks noChangeAspect="1"/>
          </p:cNvPicPr>
          <p:nvPr/>
        </p:nvPicPr>
        <p:blipFill>
          <a:blip r:embed="rId6"/>
          <a:stretch>
            <a:fillRect/>
          </a:stretch>
        </p:blipFill>
        <p:spPr>
          <a:xfrm>
            <a:off x="381000" y="1219200"/>
            <a:ext cx="6629400" cy="685800"/>
          </a:xfrm>
          <a:prstGeom prst="rect">
            <a:avLst/>
          </a:prstGeom>
        </p:spPr>
      </p:pic>
      <p:pic>
        <p:nvPicPr>
          <p:cNvPr id="6" name="Image 4" descr="preencoded.png"/>
          <p:cNvPicPr>
            <a:picLocks noChangeAspect="1"/>
          </p:cNvPicPr>
          <p:nvPr/>
        </p:nvPicPr>
        <p:blipFill>
          <a:blip r:embed="rId7"/>
          <a:stretch>
            <a:fillRect/>
          </a:stretch>
        </p:blipFill>
        <p:spPr>
          <a:xfrm>
            <a:off x="495300" y="1352550"/>
            <a:ext cx="133350" cy="152400"/>
          </a:xfrm>
          <a:prstGeom prst="rect">
            <a:avLst/>
          </a:prstGeom>
        </p:spPr>
      </p:pic>
      <p:pic>
        <p:nvPicPr>
          <p:cNvPr id="7" name="Image 5" descr="preencoded.png"/>
          <p:cNvPicPr>
            <a:picLocks noChangeAspect="1"/>
          </p:cNvPicPr>
          <p:nvPr/>
        </p:nvPicPr>
        <p:blipFill>
          <a:blip r:embed="rId8"/>
          <a:stretch>
            <a:fillRect/>
          </a:stretch>
        </p:blipFill>
        <p:spPr>
          <a:xfrm>
            <a:off x="495300" y="1581150"/>
            <a:ext cx="152400" cy="152400"/>
          </a:xfrm>
          <a:prstGeom prst="rect">
            <a:avLst/>
          </a:prstGeom>
        </p:spPr>
      </p:pic>
      <p:pic>
        <p:nvPicPr>
          <p:cNvPr id="8" name="Image 6" descr="preencoded.png"/>
          <p:cNvPicPr>
            <a:picLocks noChangeAspect="1"/>
          </p:cNvPicPr>
          <p:nvPr/>
        </p:nvPicPr>
        <p:blipFill>
          <a:blip r:embed="rId9"/>
          <a:stretch>
            <a:fillRect/>
          </a:stretch>
        </p:blipFill>
        <p:spPr>
          <a:xfrm>
            <a:off x="6055965" y="1466850"/>
            <a:ext cx="114300" cy="152400"/>
          </a:xfrm>
          <a:prstGeom prst="rect">
            <a:avLst/>
          </a:prstGeom>
        </p:spPr>
      </p:pic>
      <p:pic>
        <p:nvPicPr>
          <p:cNvPr id="9" name="Image 7" descr="preencoded.png"/>
          <p:cNvPicPr>
            <a:picLocks noChangeAspect="1"/>
          </p:cNvPicPr>
          <p:nvPr/>
        </p:nvPicPr>
        <p:blipFill>
          <a:blip r:embed="rId10"/>
          <a:stretch>
            <a:fillRect/>
          </a:stretch>
        </p:blipFill>
        <p:spPr>
          <a:xfrm>
            <a:off x="533400" y="2076450"/>
            <a:ext cx="142875" cy="152400"/>
          </a:xfrm>
          <a:prstGeom prst="rect">
            <a:avLst/>
          </a:prstGeom>
        </p:spPr>
      </p:pic>
      <p:pic>
        <p:nvPicPr>
          <p:cNvPr id="10" name="Image 8" descr="preencoded.png"/>
          <p:cNvPicPr>
            <a:picLocks noChangeAspect="1"/>
          </p:cNvPicPr>
          <p:nvPr/>
        </p:nvPicPr>
        <p:blipFill>
          <a:blip r:embed="rId11"/>
          <a:stretch>
            <a:fillRect/>
          </a:stretch>
        </p:blipFill>
        <p:spPr>
          <a:xfrm>
            <a:off x="533400" y="3067050"/>
            <a:ext cx="152400" cy="152400"/>
          </a:xfrm>
          <a:prstGeom prst="rect">
            <a:avLst/>
          </a:prstGeom>
        </p:spPr>
      </p:pic>
      <p:pic>
        <p:nvPicPr>
          <p:cNvPr id="11" name="Image 9" descr="preencoded.png"/>
          <p:cNvPicPr>
            <a:picLocks noChangeAspect="1"/>
          </p:cNvPicPr>
          <p:nvPr/>
        </p:nvPicPr>
        <p:blipFill>
          <a:blip r:embed="rId12"/>
          <a:stretch>
            <a:fillRect/>
          </a:stretch>
        </p:blipFill>
        <p:spPr>
          <a:xfrm>
            <a:off x="7239000" y="1638300"/>
            <a:ext cx="4572000" cy="876300"/>
          </a:xfrm>
          <a:prstGeom prst="rect">
            <a:avLst/>
          </a:prstGeom>
        </p:spPr>
      </p:pic>
      <p:pic>
        <p:nvPicPr>
          <p:cNvPr id="12" name="Image 10" descr="preencoded.png"/>
          <p:cNvPicPr>
            <a:picLocks noChangeAspect="1"/>
          </p:cNvPicPr>
          <p:nvPr/>
        </p:nvPicPr>
        <p:blipFill>
          <a:blip r:embed="rId13"/>
          <a:stretch>
            <a:fillRect/>
          </a:stretch>
        </p:blipFill>
        <p:spPr>
          <a:xfrm>
            <a:off x="7353300" y="1790700"/>
            <a:ext cx="133350" cy="152400"/>
          </a:xfrm>
          <a:prstGeom prst="rect">
            <a:avLst/>
          </a:prstGeom>
        </p:spPr>
      </p:pic>
      <p:pic>
        <p:nvPicPr>
          <p:cNvPr id="13" name="Image 11" descr="preencoded.png"/>
          <p:cNvPicPr>
            <a:picLocks noChangeAspect="1"/>
          </p:cNvPicPr>
          <p:nvPr/>
        </p:nvPicPr>
        <p:blipFill>
          <a:blip r:embed="rId12"/>
          <a:stretch>
            <a:fillRect/>
          </a:stretch>
        </p:blipFill>
        <p:spPr>
          <a:xfrm>
            <a:off x="7239000" y="2628900"/>
            <a:ext cx="4572000" cy="876300"/>
          </a:xfrm>
          <a:prstGeom prst="rect">
            <a:avLst/>
          </a:prstGeom>
        </p:spPr>
      </p:pic>
      <p:pic>
        <p:nvPicPr>
          <p:cNvPr id="14" name="Image 12" descr="preencoded.png"/>
          <p:cNvPicPr>
            <a:picLocks noChangeAspect="1"/>
          </p:cNvPicPr>
          <p:nvPr/>
        </p:nvPicPr>
        <p:blipFill>
          <a:blip r:embed="rId14"/>
          <a:stretch>
            <a:fillRect/>
          </a:stretch>
        </p:blipFill>
        <p:spPr>
          <a:xfrm>
            <a:off x="7353300" y="2781300"/>
            <a:ext cx="171450" cy="152400"/>
          </a:xfrm>
          <a:prstGeom prst="rect">
            <a:avLst/>
          </a:prstGeom>
        </p:spPr>
      </p:pic>
      <p:pic>
        <p:nvPicPr>
          <p:cNvPr id="15" name="Image 13" descr="preencoded.png"/>
          <p:cNvPicPr>
            <a:picLocks noChangeAspect="1"/>
          </p:cNvPicPr>
          <p:nvPr/>
        </p:nvPicPr>
        <p:blipFill>
          <a:blip r:embed="rId15"/>
          <a:stretch>
            <a:fillRect/>
          </a:stretch>
        </p:blipFill>
        <p:spPr>
          <a:xfrm>
            <a:off x="7239000" y="3619500"/>
            <a:ext cx="4572000" cy="685800"/>
          </a:xfrm>
          <a:prstGeom prst="rect">
            <a:avLst/>
          </a:prstGeom>
        </p:spPr>
      </p:pic>
      <p:pic>
        <p:nvPicPr>
          <p:cNvPr id="16" name="Image 14" descr="preencoded.png"/>
          <p:cNvPicPr>
            <a:picLocks noChangeAspect="1"/>
          </p:cNvPicPr>
          <p:nvPr/>
        </p:nvPicPr>
        <p:blipFill>
          <a:blip r:embed="rId16"/>
          <a:stretch>
            <a:fillRect/>
          </a:stretch>
        </p:blipFill>
        <p:spPr>
          <a:xfrm>
            <a:off x="7353300" y="3771900"/>
            <a:ext cx="190500" cy="152400"/>
          </a:xfrm>
          <a:prstGeom prst="rect">
            <a:avLst/>
          </a:prstGeom>
        </p:spPr>
      </p:pic>
      <p:pic>
        <p:nvPicPr>
          <p:cNvPr id="17" name="Image 15" descr="preencoded.png"/>
          <p:cNvPicPr>
            <a:picLocks noChangeAspect="1"/>
          </p:cNvPicPr>
          <p:nvPr/>
        </p:nvPicPr>
        <p:blipFill>
          <a:blip r:embed="rId12"/>
          <a:stretch>
            <a:fillRect/>
          </a:stretch>
        </p:blipFill>
        <p:spPr>
          <a:xfrm>
            <a:off x="7239000" y="4419600"/>
            <a:ext cx="4572000" cy="876300"/>
          </a:xfrm>
          <a:prstGeom prst="rect">
            <a:avLst/>
          </a:prstGeom>
        </p:spPr>
      </p:pic>
      <p:pic>
        <p:nvPicPr>
          <p:cNvPr id="18" name="Image 16" descr="preencoded.png"/>
          <p:cNvPicPr>
            <a:picLocks noChangeAspect="1"/>
          </p:cNvPicPr>
          <p:nvPr/>
        </p:nvPicPr>
        <p:blipFill>
          <a:blip r:embed="rId17"/>
          <a:stretch>
            <a:fillRect/>
          </a:stretch>
        </p:blipFill>
        <p:spPr>
          <a:xfrm>
            <a:off x="7353300" y="4572000"/>
            <a:ext cx="152400" cy="152400"/>
          </a:xfrm>
          <a:prstGeom prst="rect">
            <a:avLst/>
          </a:prstGeom>
        </p:spPr>
      </p:pic>
      <p:pic>
        <p:nvPicPr>
          <p:cNvPr id="19" name="Image 17" descr="preencoded.png"/>
          <p:cNvPicPr>
            <a:picLocks noChangeAspect="1"/>
          </p:cNvPicPr>
          <p:nvPr/>
        </p:nvPicPr>
        <p:blipFill>
          <a:blip r:embed="rId18"/>
          <a:stretch>
            <a:fillRect/>
          </a:stretch>
        </p:blipFill>
        <p:spPr>
          <a:xfrm>
            <a:off x="7239000" y="5448300"/>
            <a:ext cx="2194471" cy="800100"/>
          </a:xfrm>
          <a:prstGeom prst="rect">
            <a:avLst/>
          </a:prstGeom>
        </p:spPr>
      </p:pic>
      <p:pic>
        <p:nvPicPr>
          <p:cNvPr id="20" name="Image 18" descr="preencoded.png"/>
          <p:cNvPicPr>
            <a:picLocks noChangeAspect="1"/>
          </p:cNvPicPr>
          <p:nvPr/>
        </p:nvPicPr>
        <p:blipFill>
          <a:blip r:embed="rId19"/>
          <a:stretch>
            <a:fillRect/>
          </a:stretch>
        </p:blipFill>
        <p:spPr>
          <a:xfrm>
            <a:off x="8240911" y="5543550"/>
            <a:ext cx="190500" cy="152400"/>
          </a:xfrm>
          <a:prstGeom prst="rect">
            <a:avLst/>
          </a:prstGeom>
        </p:spPr>
      </p:pic>
      <p:pic>
        <p:nvPicPr>
          <p:cNvPr id="21" name="Image 19" descr="preencoded.png"/>
          <p:cNvPicPr>
            <a:picLocks noChangeAspect="1"/>
          </p:cNvPicPr>
          <p:nvPr/>
        </p:nvPicPr>
        <p:blipFill>
          <a:blip r:embed="rId20"/>
          <a:stretch>
            <a:fillRect/>
          </a:stretch>
        </p:blipFill>
        <p:spPr>
          <a:xfrm>
            <a:off x="9616529" y="5448300"/>
            <a:ext cx="2194471" cy="800100"/>
          </a:xfrm>
          <a:prstGeom prst="rect">
            <a:avLst/>
          </a:prstGeom>
        </p:spPr>
      </p:pic>
      <p:pic>
        <p:nvPicPr>
          <p:cNvPr id="22" name="Image 20" descr="preencoded.png"/>
          <p:cNvPicPr>
            <a:picLocks noChangeAspect="1"/>
          </p:cNvPicPr>
          <p:nvPr/>
        </p:nvPicPr>
        <p:blipFill>
          <a:blip r:embed="rId19"/>
          <a:stretch>
            <a:fillRect/>
          </a:stretch>
        </p:blipFill>
        <p:spPr>
          <a:xfrm>
            <a:off x="10618440" y="5543550"/>
            <a:ext cx="190500" cy="152400"/>
          </a:xfrm>
          <a:prstGeom prst="rect">
            <a:avLst/>
          </a:prstGeom>
        </p:spPr>
      </p:pic>
      <p:sp>
        <p:nvSpPr>
          <p:cNvPr id="23" name="Text 0"/>
          <p:cNvSpPr/>
          <p:nvPr/>
        </p:nvSpPr>
        <p:spPr>
          <a:xfrm>
            <a:off x="381000" y="381000"/>
            <a:ext cx="114300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Exemple d'Email de Phishing</a:t>
            </a:r>
            <a:endParaRPr lang="en-US" sz="2700" dirty="0"/>
          </a:p>
        </p:txBody>
      </p:sp>
      <p:sp>
        <p:nvSpPr>
          <p:cNvPr id="24" name="Text 1"/>
          <p:cNvSpPr/>
          <p:nvPr/>
        </p:nvSpPr>
        <p:spPr>
          <a:xfrm>
            <a:off x="704850" y="1333500"/>
            <a:ext cx="1722090"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IT-System</a:t>
            </a:r>
            <a:endParaRPr lang="en-US" sz="1200" dirty="0"/>
          </a:p>
        </p:txBody>
      </p:sp>
      <p:sp>
        <p:nvSpPr>
          <p:cNvPr id="25" name="Text 2"/>
          <p:cNvSpPr/>
          <p:nvPr/>
        </p:nvSpPr>
        <p:spPr>
          <a:xfrm>
            <a:off x="723900" y="1562100"/>
            <a:ext cx="2066508"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pcohen@supportin.de</a:t>
            </a:r>
            <a:endParaRPr lang="en-US" sz="1200" dirty="0"/>
          </a:p>
        </p:txBody>
      </p:sp>
      <p:sp>
        <p:nvSpPr>
          <p:cNvPr id="26" name="Text 3"/>
          <p:cNvSpPr/>
          <p:nvPr/>
        </p:nvSpPr>
        <p:spPr>
          <a:xfrm>
            <a:off x="6246465" y="1447800"/>
            <a:ext cx="1008162"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Office365</a:t>
            </a:r>
            <a:endParaRPr lang="en-US" sz="1200" dirty="0"/>
          </a:p>
        </p:txBody>
      </p:sp>
      <p:sp>
        <p:nvSpPr>
          <p:cNvPr id="27" name="Text 4"/>
          <p:cNvSpPr/>
          <p:nvPr/>
        </p:nvSpPr>
        <p:spPr>
          <a:xfrm>
            <a:off x="752475" y="2057400"/>
            <a:ext cx="6324600"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Hello AdrienDenis</a:t>
            </a:r>
            <a:endParaRPr lang="en-US" sz="1200" dirty="0"/>
          </a:p>
        </p:txBody>
      </p:sp>
      <p:sp>
        <p:nvSpPr>
          <p:cNvPr id="28" name="Text 5"/>
          <p:cNvSpPr/>
          <p:nvPr/>
        </p:nvSpPr>
        <p:spPr>
          <a:xfrm>
            <a:off x="533400" y="2438400"/>
            <a:ext cx="632460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Password for adrien.denis@pairidaiza.eu expires today. Marked for deletion if not reconfirmed today. Change or rather keep using same password. </a:t>
            </a:r>
            <a:r>
              <a:rPr lang="en-US" sz="1200" b="1" dirty="0">
                <a:solidFill>
                  <a:srgbClr val="FF6B35"/>
                </a:solidFill>
                <a:latin typeface="Arial" pitchFamily="34" charset="0"/>
                <a:ea typeface="Arial" pitchFamily="34" charset="-122"/>
                <a:cs typeface="Arial" pitchFamily="34" charset="-120"/>
              </a:rPr>
              <a:t>KEEPSAMEPASSWORD</a:t>
            </a:r>
            <a:endParaRPr lang="en-US" sz="1200" dirty="0"/>
          </a:p>
        </p:txBody>
      </p:sp>
      <p:sp>
        <p:nvSpPr>
          <p:cNvPr id="29" name="Text 6"/>
          <p:cNvSpPr/>
          <p:nvPr/>
        </p:nvSpPr>
        <p:spPr>
          <a:xfrm>
            <a:off x="762000" y="3048000"/>
            <a:ext cx="7589520"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 An informational alert has been triggered: Creation of forwarding/redirect rule</a:t>
            </a:r>
            <a:endParaRPr lang="en-US" sz="1200" dirty="0"/>
          </a:p>
        </p:txBody>
      </p:sp>
      <p:sp>
        <p:nvSpPr>
          <p:cNvPr id="30" name="Text 7"/>
          <p:cNvSpPr/>
          <p:nvPr/>
        </p:nvSpPr>
        <p:spPr>
          <a:xfrm>
            <a:off x="533400" y="3429000"/>
            <a:ext cx="6324600" cy="762000"/>
          </a:xfrm>
          <a:prstGeom prst="rect">
            <a:avLst/>
          </a:prstGeom>
          <a:noFill/>
          <a:ln/>
        </p:spPr>
        <p:txBody>
          <a:bodyPr wrap="square" lIns="0" tIns="0" rIns="0" bIns="0" rtlCol="0" anchor="t"/>
          <a:lstStyle/>
          <a:p>
            <a:pPr marL="0" indent="0">
              <a:lnSpc>
                <a:spcPts val="1500"/>
              </a:lnSpc>
              <a:buNone/>
            </a:pPr>
            <a:r>
              <a:rPr lang="en-US" sz="1050" dirty="0">
                <a:solidFill>
                  <a:srgbClr val="9CA3AF"/>
                </a:solidFill>
                <a:latin typeface="Arial" pitchFamily="34" charset="0"/>
                <a:ea typeface="Arial" pitchFamily="34" charset="-122"/>
                <a:cs typeface="Arial" pitchFamily="34" charset="-120"/>
              </a:rPr>
              <a:t>Severity: InformationalTime: 2/5/2025 8:35:00 AM (UTC)Activity: MailRedirectUser: Mauruser's email</a:t>
            </a:r>
            <a:endParaRPr lang="en-US" sz="1050" dirty="0"/>
          </a:p>
        </p:txBody>
      </p:sp>
      <p:sp>
        <p:nvSpPr>
          <p:cNvPr id="31" name="Text 8"/>
          <p:cNvSpPr/>
          <p:nvPr/>
        </p:nvSpPr>
        <p:spPr>
          <a:xfrm>
            <a:off x="7239000" y="1219200"/>
            <a:ext cx="457200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Éléments Suspects</a:t>
            </a:r>
            <a:endParaRPr lang="en-US" sz="1500" dirty="0"/>
          </a:p>
        </p:txBody>
      </p:sp>
      <p:sp>
        <p:nvSpPr>
          <p:cNvPr id="32" name="Text 9"/>
          <p:cNvSpPr/>
          <p:nvPr/>
        </p:nvSpPr>
        <p:spPr>
          <a:xfrm>
            <a:off x="7562850" y="1752600"/>
            <a:ext cx="1706999" cy="228600"/>
          </a:xfrm>
          <a:prstGeom prst="rect">
            <a:avLst/>
          </a:prstGeom>
          <a:noFill/>
          <a:ln/>
        </p:spPr>
        <p:txBody>
          <a:bodyPr wrap="square" lIns="0" tIns="0" rIns="0" bIns="0" rtlCol="0" anchor="t"/>
          <a:lstStyle/>
          <a:p>
            <a:pPr marL="0" indent="0">
              <a:lnSpc>
                <a:spcPts val="1800"/>
              </a:lnSpc>
              <a:buNone/>
            </a:pPr>
            <a:r>
              <a:rPr lang="en-US" sz="1200" b="1" dirty="0">
                <a:solidFill>
                  <a:srgbClr val="F7FFF7"/>
                </a:solidFill>
                <a:latin typeface="Arial" pitchFamily="34" charset="0"/>
                <a:ea typeface="Arial" pitchFamily="34" charset="-122"/>
                <a:cs typeface="Arial" pitchFamily="34" charset="-120"/>
              </a:rPr>
              <a:t>Expéditeur Inconnu</a:t>
            </a:r>
            <a:endParaRPr lang="en-US" sz="1200" dirty="0"/>
          </a:p>
        </p:txBody>
      </p:sp>
      <p:sp>
        <p:nvSpPr>
          <p:cNvPr id="33" name="Text 10"/>
          <p:cNvSpPr/>
          <p:nvPr/>
        </p:nvSpPr>
        <p:spPr>
          <a:xfrm>
            <a:off x="7353300" y="2019300"/>
            <a:ext cx="4343400" cy="3810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IT-System, mais l'adresse email est pcohen@supportin.de, qui n'est pas officielle pour Office365</a:t>
            </a:r>
            <a:endParaRPr lang="en-US" sz="1050" dirty="0"/>
          </a:p>
        </p:txBody>
      </p:sp>
      <p:sp>
        <p:nvSpPr>
          <p:cNvPr id="34" name="Text 11"/>
          <p:cNvSpPr/>
          <p:nvPr/>
        </p:nvSpPr>
        <p:spPr>
          <a:xfrm>
            <a:off x="7600950" y="2743200"/>
            <a:ext cx="2042577" cy="228600"/>
          </a:xfrm>
          <a:prstGeom prst="rect">
            <a:avLst/>
          </a:prstGeom>
          <a:noFill/>
          <a:ln/>
        </p:spPr>
        <p:txBody>
          <a:bodyPr wrap="square" lIns="0" tIns="0" rIns="0" bIns="0" rtlCol="0" anchor="t"/>
          <a:lstStyle/>
          <a:p>
            <a:pPr marL="0" indent="0">
              <a:lnSpc>
                <a:spcPts val="1800"/>
              </a:lnSpc>
              <a:buNone/>
            </a:pPr>
            <a:r>
              <a:rPr lang="en-US" sz="1200" b="1" dirty="0">
                <a:solidFill>
                  <a:srgbClr val="F7FFF7"/>
                </a:solidFill>
                <a:latin typeface="Arial" pitchFamily="34" charset="0"/>
                <a:ea typeface="Arial" pitchFamily="34" charset="-122"/>
                <a:cs typeface="Arial" pitchFamily="34" charset="-120"/>
              </a:rPr>
              <a:t>Orthographe Incorrecte</a:t>
            </a:r>
            <a:endParaRPr lang="en-US" sz="1200" dirty="0"/>
          </a:p>
        </p:txBody>
      </p:sp>
      <p:sp>
        <p:nvSpPr>
          <p:cNvPr id="35" name="Text 12"/>
          <p:cNvSpPr/>
          <p:nvPr/>
        </p:nvSpPr>
        <p:spPr>
          <a:xfrm>
            <a:off x="7353300" y="3009900"/>
            <a:ext cx="4343400" cy="3810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"HelloAdrienDenis" (sans espace), et d'autres erreurs grammaticales évidentes</a:t>
            </a:r>
            <a:endParaRPr lang="en-US" sz="1050" dirty="0"/>
          </a:p>
        </p:txBody>
      </p:sp>
      <p:sp>
        <p:nvSpPr>
          <p:cNvPr id="36" name="Text 13"/>
          <p:cNvSpPr/>
          <p:nvPr/>
        </p:nvSpPr>
        <p:spPr>
          <a:xfrm>
            <a:off x="7620000" y="3733800"/>
            <a:ext cx="1341596" cy="228600"/>
          </a:xfrm>
          <a:prstGeom prst="rect">
            <a:avLst/>
          </a:prstGeom>
          <a:noFill/>
          <a:ln/>
        </p:spPr>
        <p:txBody>
          <a:bodyPr wrap="square" lIns="0" tIns="0" rIns="0" bIns="0" rtlCol="0" anchor="t"/>
          <a:lstStyle/>
          <a:p>
            <a:pPr marL="0" indent="0">
              <a:lnSpc>
                <a:spcPts val="1800"/>
              </a:lnSpc>
              <a:buNone/>
            </a:pPr>
            <a:r>
              <a:rPr lang="en-US" sz="1200" b="1" dirty="0">
                <a:solidFill>
                  <a:srgbClr val="F7FFF7"/>
                </a:solidFill>
                <a:latin typeface="Arial" pitchFamily="34" charset="0"/>
                <a:ea typeface="Arial" pitchFamily="34" charset="-122"/>
                <a:cs typeface="Arial" pitchFamily="34" charset="-120"/>
              </a:rPr>
              <a:t>Liens Suspects</a:t>
            </a:r>
            <a:endParaRPr lang="en-US" sz="1200" dirty="0"/>
          </a:p>
        </p:txBody>
      </p:sp>
      <p:sp>
        <p:nvSpPr>
          <p:cNvPr id="37" name="Text 14"/>
          <p:cNvSpPr/>
          <p:nvPr/>
        </p:nvSpPr>
        <p:spPr>
          <a:xfrm>
            <a:off x="7353300" y="4000500"/>
            <a:ext cx="5212080"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 mail contient des liens vers des domaines inconnus et non sécurisés</a:t>
            </a:r>
            <a:endParaRPr lang="en-US" sz="1050" dirty="0"/>
          </a:p>
        </p:txBody>
      </p:sp>
      <p:sp>
        <p:nvSpPr>
          <p:cNvPr id="38" name="Text 15"/>
          <p:cNvSpPr/>
          <p:nvPr/>
        </p:nvSpPr>
        <p:spPr>
          <a:xfrm>
            <a:off x="7581900" y="4533900"/>
            <a:ext cx="1660029" cy="228600"/>
          </a:xfrm>
          <a:prstGeom prst="rect">
            <a:avLst/>
          </a:prstGeom>
          <a:noFill/>
          <a:ln/>
        </p:spPr>
        <p:txBody>
          <a:bodyPr wrap="square" lIns="0" tIns="0" rIns="0" bIns="0" rtlCol="0" anchor="t"/>
          <a:lstStyle/>
          <a:p>
            <a:pPr marL="0" indent="0">
              <a:lnSpc>
                <a:spcPts val="1800"/>
              </a:lnSpc>
              <a:buNone/>
            </a:pPr>
            <a:r>
              <a:rPr lang="en-US" sz="1200" b="1" dirty="0">
                <a:solidFill>
                  <a:srgbClr val="F7FFF7"/>
                </a:solidFill>
                <a:latin typeface="Arial" pitchFamily="34" charset="0"/>
                <a:ea typeface="Arial" pitchFamily="34" charset="-122"/>
                <a:cs typeface="Arial" pitchFamily="34" charset="-120"/>
              </a:rPr>
              <a:t>Urgence Artificielle</a:t>
            </a:r>
            <a:endParaRPr lang="en-US" sz="1200" dirty="0"/>
          </a:p>
        </p:txBody>
      </p:sp>
      <p:sp>
        <p:nvSpPr>
          <p:cNvPr id="39" name="Text 16"/>
          <p:cNvSpPr/>
          <p:nvPr/>
        </p:nvSpPr>
        <p:spPr>
          <a:xfrm>
            <a:off x="7353300" y="4800600"/>
            <a:ext cx="4343400" cy="3810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"Si vous ne confirmez pas aujourd'hui, votre compte sera supprimé" - crée un sentiment d'urgence</a:t>
            </a:r>
            <a:endParaRPr lang="en-US" sz="1050" dirty="0"/>
          </a:p>
        </p:txBody>
      </p:sp>
      <p:sp>
        <p:nvSpPr>
          <p:cNvPr id="40" name="Text 17"/>
          <p:cNvSpPr/>
          <p:nvPr/>
        </p:nvSpPr>
        <p:spPr>
          <a:xfrm>
            <a:off x="7113121" y="5772150"/>
            <a:ext cx="2446377" cy="1905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https://avant.lenomdusite.be/après</a:t>
            </a:r>
            <a:endParaRPr lang="en-US" sz="1050" dirty="0"/>
          </a:p>
        </p:txBody>
      </p:sp>
      <p:sp>
        <p:nvSpPr>
          <p:cNvPr id="41" name="Text 18"/>
          <p:cNvSpPr/>
          <p:nvPr/>
        </p:nvSpPr>
        <p:spPr>
          <a:xfrm>
            <a:off x="9711779" y="5772150"/>
            <a:ext cx="2003971" cy="3810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https://shop.pairidaiza.eu/fr/41-mineraux</a:t>
            </a:r>
            <a:endParaRPr lang="en-US" sz="1050" dirty="0"/>
          </a:p>
        </p:txBody>
      </p:sp>
      <p:sp>
        <p:nvSpPr>
          <p:cNvPr id="42" name="Text 19"/>
          <p:cNvSpPr/>
          <p:nvPr/>
        </p:nvSpPr>
        <p:spPr>
          <a:xfrm>
            <a:off x="381000" y="6438900"/>
            <a:ext cx="114300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1581150"/>
            <a:ext cx="5519738" cy="1638300"/>
          </a:xfrm>
          <a:prstGeom prst="rect">
            <a:avLst/>
          </a:prstGeom>
        </p:spPr>
      </p:pic>
      <p:pic>
        <p:nvPicPr>
          <p:cNvPr id="5" name="Image 3" descr="preencoded.png"/>
          <p:cNvPicPr>
            <a:picLocks noChangeAspect="1"/>
          </p:cNvPicPr>
          <p:nvPr/>
        </p:nvPicPr>
        <p:blipFill>
          <a:blip r:embed="rId6"/>
          <a:stretch>
            <a:fillRect/>
          </a:stretch>
        </p:blipFill>
        <p:spPr>
          <a:xfrm>
            <a:off x="647700" y="1771650"/>
            <a:ext cx="428625" cy="381000"/>
          </a:xfrm>
          <a:prstGeom prst="rect">
            <a:avLst/>
          </a:prstGeom>
        </p:spPr>
      </p:pic>
      <p:pic>
        <p:nvPicPr>
          <p:cNvPr id="6" name="Image 4" descr="preencoded.png"/>
          <p:cNvPicPr>
            <a:picLocks noChangeAspect="1"/>
          </p:cNvPicPr>
          <p:nvPr/>
        </p:nvPicPr>
        <p:blipFill>
          <a:blip r:embed="rId7"/>
          <a:stretch>
            <a:fillRect/>
          </a:stretch>
        </p:blipFill>
        <p:spPr>
          <a:xfrm>
            <a:off x="6215063" y="1581150"/>
            <a:ext cx="5519738" cy="1638300"/>
          </a:xfrm>
          <a:prstGeom prst="rect">
            <a:avLst/>
          </a:prstGeom>
        </p:spPr>
      </p:pic>
      <p:pic>
        <p:nvPicPr>
          <p:cNvPr id="7" name="Image 5" descr="preencoded.png"/>
          <p:cNvPicPr>
            <a:picLocks noChangeAspect="1"/>
          </p:cNvPicPr>
          <p:nvPr/>
        </p:nvPicPr>
        <p:blipFill>
          <a:blip r:embed="rId8"/>
          <a:stretch>
            <a:fillRect/>
          </a:stretch>
        </p:blipFill>
        <p:spPr>
          <a:xfrm>
            <a:off x="6405563" y="1771650"/>
            <a:ext cx="381000" cy="381000"/>
          </a:xfrm>
          <a:prstGeom prst="rect">
            <a:avLst/>
          </a:prstGeom>
        </p:spPr>
      </p:pic>
      <p:pic>
        <p:nvPicPr>
          <p:cNvPr id="8" name="Image 6" descr="preencoded.png"/>
          <p:cNvPicPr>
            <a:picLocks noChangeAspect="1"/>
          </p:cNvPicPr>
          <p:nvPr/>
        </p:nvPicPr>
        <p:blipFill>
          <a:blip r:embed="rId9"/>
          <a:stretch>
            <a:fillRect/>
          </a:stretch>
        </p:blipFill>
        <p:spPr>
          <a:xfrm>
            <a:off x="457200" y="3457575"/>
            <a:ext cx="5519738" cy="1638300"/>
          </a:xfrm>
          <a:prstGeom prst="rect">
            <a:avLst/>
          </a:prstGeom>
        </p:spPr>
      </p:pic>
      <p:pic>
        <p:nvPicPr>
          <p:cNvPr id="9" name="Image 7" descr="preencoded.png"/>
          <p:cNvPicPr>
            <a:picLocks noChangeAspect="1"/>
          </p:cNvPicPr>
          <p:nvPr/>
        </p:nvPicPr>
        <p:blipFill>
          <a:blip r:embed="rId10"/>
          <a:stretch>
            <a:fillRect/>
          </a:stretch>
        </p:blipFill>
        <p:spPr>
          <a:xfrm>
            <a:off x="647700" y="3648075"/>
            <a:ext cx="476250" cy="381000"/>
          </a:xfrm>
          <a:prstGeom prst="rect">
            <a:avLst/>
          </a:prstGeom>
        </p:spPr>
      </p:pic>
      <p:pic>
        <p:nvPicPr>
          <p:cNvPr id="10" name="Image 8" descr="preencoded.png"/>
          <p:cNvPicPr>
            <a:picLocks noChangeAspect="1"/>
          </p:cNvPicPr>
          <p:nvPr/>
        </p:nvPicPr>
        <p:blipFill>
          <a:blip r:embed="rId11"/>
          <a:stretch>
            <a:fillRect/>
          </a:stretch>
        </p:blipFill>
        <p:spPr>
          <a:xfrm>
            <a:off x="6215063" y="3457575"/>
            <a:ext cx="5519738" cy="1638300"/>
          </a:xfrm>
          <a:prstGeom prst="rect">
            <a:avLst/>
          </a:prstGeom>
        </p:spPr>
      </p:pic>
      <p:pic>
        <p:nvPicPr>
          <p:cNvPr id="11" name="Image 9" descr="preencoded.png"/>
          <p:cNvPicPr>
            <a:picLocks noChangeAspect="1"/>
          </p:cNvPicPr>
          <p:nvPr/>
        </p:nvPicPr>
        <p:blipFill>
          <a:blip r:embed="rId12"/>
          <a:stretch>
            <a:fillRect/>
          </a:stretch>
        </p:blipFill>
        <p:spPr>
          <a:xfrm>
            <a:off x="6405563" y="3648075"/>
            <a:ext cx="381000" cy="381000"/>
          </a:xfrm>
          <a:prstGeom prst="rect">
            <a:avLst/>
          </a:prstGeom>
        </p:spPr>
      </p:pic>
      <p:sp>
        <p:nvSpPr>
          <p:cNvPr id="12"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Autres Vulnérabilités Courantes</a:t>
            </a:r>
            <a:endParaRPr lang="en-US" sz="2700" dirty="0"/>
          </a:p>
        </p:txBody>
      </p:sp>
      <p:sp>
        <p:nvSpPr>
          <p:cNvPr id="13" name="Text 1"/>
          <p:cNvSpPr/>
          <p:nvPr/>
        </p:nvSpPr>
        <p:spPr>
          <a:xfrm>
            <a:off x="1228725" y="1771650"/>
            <a:ext cx="546925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Logiciels Malveillants</a:t>
            </a:r>
            <a:endParaRPr lang="en-US" sz="1500" dirty="0"/>
          </a:p>
        </p:txBody>
      </p:sp>
      <p:sp>
        <p:nvSpPr>
          <p:cNvPr id="14" name="Text 2"/>
          <p:cNvSpPr/>
          <p:nvPr/>
        </p:nvSpPr>
        <p:spPr>
          <a:xfrm>
            <a:off x="1228725" y="2114550"/>
            <a:ext cx="4557713" cy="9144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Des logiciels conçus pour endommager ou désactiver des systèmes informatiques, voler des données ou perturber les opérations. Les infections proviennent souvent de pièces jointes ou de liens malveillants.</a:t>
            </a:r>
            <a:endParaRPr lang="en-US" sz="1200" dirty="0"/>
          </a:p>
        </p:txBody>
      </p:sp>
      <p:sp>
        <p:nvSpPr>
          <p:cNvPr id="15" name="Text 3"/>
          <p:cNvSpPr/>
          <p:nvPr/>
        </p:nvSpPr>
        <p:spPr>
          <a:xfrm>
            <a:off x="6938963" y="1771650"/>
            <a:ext cx="552640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Mots de Passe Faibles</a:t>
            </a:r>
            <a:endParaRPr lang="en-US" sz="1500" dirty="0"/>
          </a:p>
        </p:txBody>
      </p:sp>
      <p:sp>
        <p:nvSpPr>
          <p:cNvPr id="16" name="Text 4"/>
          <p:cNvSpPr/>
          <p:nvPr/>
        </p:nvSpPr>
        <p:spPr>
          <a:xfrm>
            <a:off x="6938963" y="2114550"/>
            <a:ext cx="4605338" cy="6858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Des mots de passe faibles ou réutilisés constituent une vulnérabilité majeure. Les attaquants peuvent exploiter des fautes de frappe subtiles (ex: "micros0ft.com" au lieu de "microsoft.com").</a:t>
            </a:r>
            <a:endParaRPr lang="en-US" sz="1200" dirty="0"/>
          </a:p>
        </p:txBody>
      </p:sp>
      <p:sp>
        <p:nvSpPr>
          <p:cNvPr id="17" name="Text 5"/>
          <p:cNvSpPr/>
          <p:nvPr/>
        </p:nvSpPr>
        <p:spPr>
          <a:xfrm>
            <a:off x="1276350" y="3648075"/>
            <a:ext cx="541210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Réseaux Wi-Fi Non Sécurisés</a:t>
            </a:r>
            <a:endParaRPr lang="en-US" sz="1500" dirty="0"/>
          </a:p>
        </p:txBody>
      </p:sp>
      <p:sp>
        <p:nvSpPr>
          <p:cNvPr id="18" name="Text 6"/>
          <p:cNvSpPr/>
          <p:nvPr/>
        </p:nvSpPr>
        <p:spPr>
          <a:xfrm>
            <a:off x="1276350" y="3990975"/>
            <a:ext cx="4510088" cy="6858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La connexion à des réseaux Wi-Fi publics ou non sécurisés expose vos appareils aux risques de vol de données, d'espionnage et d'infections par malware.</a:t>
            </a:r>
            <a:endParaRPr lang="en-US" sz="1200" dirty="0"/>
          </a:p>
        </p:txBody>
      </p:sp>
      <p:sp>
        <p:nvSpPr>
          <p:cNvPr id="19" name="Text 7"/>
          <p:cNvSpPr/>
          <p:nvPr/>
        </p:nvSpPr>
        <p:spPr>
          <a:xfrm>
            <a:off x="6938963" y="3648075"/>
            <a:ext cx="552640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Autres Vulnérabilités</a:t>
            </a:r>
            <a:endParaRPr lang="en-US" sz="1500" dirty="0"/>
          </a:p>
        </p:txBody>
      </p:sp>
      <p:sp>
        <p:nvSpPr>
          <p:cNvPr id="20" name="Text 8"/>
          <p:cNvSpPr/>
          <p:nvPr/>
        </p:nvSpPr>
        <p:spPr>
          <a:xfrm>
            <a:off x="6938963" y="3990975"/>
            <a:ext cx="4605338" cy="914400"/>
          </a:xfrm>
          <a:prstGeom prst="rect">
            <a:avLst/>
          </a:prstGeom>
          <a:noFill/>
          <a:ln/>
        </p:spPr>
        <p:txBody>
          <a:bodyPr wrap="square" lIns="0" tIns="0" rIns="0" bIns="0" rtlCol="0" anchor="t"/>
          <a:lstStyle/>
          <a:p>
            <a:pPr marL="0" indent="0">
              <a:lnSpc>
                <a:spcPts val="1800"/>
              </a:lnSpc>
              <a:buNone/>
            </a:pPr>
            <a:r>
              <a:rPr lang="en-US" sz="1200" b="1" dirty="0">
                <a:solidFill>
                  <a:srgbClr val="FF6B35"/>
                </a:solidFill>
                <a:latin typeface="Arial" pitchFamily="34" charset="0"/>
                <a:ea typeface="Arial" pitchFamily="34" charset="-122"/>
                <a:cs typeface="Arial" pitchFamily="34" charset="-120"/>
              </a:rPr>
              <a:t>Ransomware</a:t>
            </a:r>
            <a:r>
              <a:rPr lang="en-US" sz="1200" dirty="0">
                <a:solidFill>
                  <a:srgbClr val="F7FFF7"/>
                </a:solidFill>
                <a:latin typeface="Arial" pitchFamily="34" charset="0"/>
                <a:ea typeface="Arial" pitchFamily="34" charset="-122"/>
                <a:cs typeface="Arial" pitchFamily="34" charset="-120"/>
              </a:rPr>
              <a:t> : bloque l'accès à vos fichiers en les chiffrant</a:t>
            </a:r>
            <a:r>
              <a:rPr lang="en-US" sz="1200" b="1" dirty="0">
                <a:solidFill>
                  <a:srgbClr val="FF6B35"/>
                </a:solidFill>
                <a:latin typeface="Arial" pitchFamily="34" charset="0"/>
                <a:ea typeface="Arial" pitchFamily="34" charset="-122"/>
                <a:cs typeface="Arial" pitchFamily="34" charset="-120"/>
              </a:rPr>
              <a:t>Attaques DDoS</a:t>
            </a:r>
            <a:r>
              <a:rPr lang="en-US" sz="1200" dirty="0">
                <a:solidFill>
                  <a:srgbClr val="F7FFF7"/>
                </a:solidFill>
                <a:latin typeface="Arial" pitchFamily="34" charset="0"/>
                <a:ea typeface="Arial" pitchFamily="34" charset="-122"/>
                <a:cs typeface="Arial" pitchFamily="34" charset="-120"/>
              </a:rPr>
              <a:t> : submergent un service en ligne avec du trafic frauduleux</a:t>
            </a:r>
            <a:r>
              <a:rPr lang="en-US" sz="1200" b="1" dirty="0">
                <a:solidFill>
                  <a:srgbClr val="FF6B35"/>
                </a:solidFill>
                <a:latin typeface="Arial" pitchFamily="34" charset="0"/>
                <a:ea typeface="Arial" pitchFamily="34" charset="-122"/>
                <a:cs typeface="Arial" pitchFamily="34" charset="-120"/>
              </a:rPr>
              <a:t>Compromission de compte</a:t>
            </a:r>
            <a:r>
              <a:rPr lang="en-US" sz="1200" dirty="0">
                <a:solidFill>
                  <a:srgbClr val="F7FFF7"/>
                </a:solidFill>
                <a:latin typeface="Arial" pitchFamily="34" charset="0"/>
                <a:ea typeface="Arial" pitchFamily="34" charset="-122"/>
                <a:cs typeface="Arial" pitchFamily="34" charset="-120"/>
              </a:rPr>
              <a:t> : utilisation d'identifiants compromises</a:t>
            </a:r>
            <a:endParaRPr lang="en-US" sz="1200" dirty="0"/>
          </a:p>
        </p:txBody>
      </p:sp>
      <p:sp>
        <p:nvSpPr>
          <p:cNvPr id="21" name="Text 9"/>
          <p:cNvSpPr/>
          <p:nvPr/>
        </p:nvSpPr>
        <p:spPr>
          <a:xfrm>
            <a:off x="457200" y="62103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1295400"/>
            <a:ext cx="5486400" cy="3695700"/>
          </a:xfrm>
          <a:prstGeom prst="rect">
            <a:avLst/>
          </a:prstGeom>
        </p:spPr>
      </p:pic>
      <p:pic>
        <p:nvPicPr>
          <p:cNvPr id="5" name="Image 3" descr="preencoded.png"/>
          <p:cNvPicPr>
            <a:picLocks noChangeAspect="1"/>
          </p:cNvPicPr>
          <p:nvPr/>
        </p:nvPicPr>
        <p:blipFill>
          <a:blip r:embed="rId6"/>
          <a:stretch>
            <a:fillRect/>
          </a:stretch>
        </p:blipFill>
        <p:spPr>
          <a:xfrm>
            <a:off x="647700" y="1504950"/>
            <a:ext cx="228600" cy="228600"/>
          </a:xfrm>
          <a:prstGeom prst="rect">
            <a:avLst/>
          </a:prstGeom>
        </p:spPr>
      </p:pic>
      <p:pic>
        <p:nvPicPr>
          <p:cNvPr id="6" name="Image 4" descr="preencoded.png"/>
          <p:cNvPicPr>
            <a:picLocks noChangeAspect="1"/>
          </p:cNvPicPr>
          <p:nvPr/>
        </p:nvPicPr>
        <p:blipFill>
          <a:blip r:embed="rId7"/>
          <a:stretch>
            <a:fillRect/>
          </a:stretch>
        </p:blipFill>
        <p:spPr>
          <a:xfrm>
            <a:off x="647700" y="2171700"/>
            <a:ext cx="228600" cy="228600"/>
          </a:xfrm>
          <a:prstGeom prst="rect">
            <a:avLst/>
          </a:prstGeom>
        </p:spPr>
      </p:pic>
      <p:pic>
        <p:nvPicPr>
          <p:cNvPr id="7" name="Image 5" descr="preencoded.png"/>
          <p:cNvPicPr>
            <a:picLocks noChangeAspect="1"/>
          </p:cNvPicPr>
          <p:nvPr/>
        </p:nvPicPr>
        <p:blipFill>
          <a:blip r:embed="rId8"/>
          <a:stretch>
            <a:fillRect/>
          </a:stretch>
        </p:blipFill>
        <p:spPr>
          <a:xfrm>
            <a:off x="647700" y="3000375"/>
            <a:ext cx="257175" cy="228600"/>
          </a:xfrm>
          <a:prstGeom prst="rect">
            <a:avLst/>
          </a:prstGeom>
        </p:spPr>
      </p:pic>
      <p:pic>
        <p:nvPicPr>
          <p:cNvPr id="8" name="Image 6" descr="preencoded.png"/>
          <p:cNvPicPr>
            <a:picLocks noChangeAspect="1"/>
          </p:cNvPicPr>
          <p:nvPr/>
        </p:nvPicPr>
        <p:blipFill>
          <a:blip r:embed="rId9"/>
          <a:stretch>
            <a:fillRect/>
          </a:stretch>
        </p:blipFill>
        <p:spPr>
          <a:xfrm>
            <a:off x="647700" y="3714750"/>
            <a:ext cx="257175" cy="228600"/>
          </a:xfrm>
          <a:prstGeom prst="rect">
            <a:avLst/>
          </a:prstGeom>
        </p:spPr>
      </p:pic>
      <p:pic>
        <p:nvPicPr>
          <p:cNvPr id="9" name="Image 7" descr="preencoded.png"/>
          <p:cNvPicPr>
            <a:picLocks noChangeAspect="1"/>
          </p:cNvPicPr>
          <p:nvPr/>
        </p:nvPicPr>
        <p:blipFill>
          <a:blip r:embed="rId10"/>
          <a:stretch>
            <a:fillRect/>
          </a:stretch>
        </p:blipFill>
        <p:spPr>
          <a:xfrm>
            <a:off x="647700" y="4314825"/>
            <a:ext cx="200025" cy="228600"/>
          </a:xfrm>
          <a:prstGeom prst="rect">
            <a:avLst/>
          </a:prstGeom>
        </p:spPr>
      </p:pic>
      <p:pic>
        <p:nvPicPr>
          <p:cNvPr id="10" name="Image 8" descr="preencoded.png"/>
          <p:cNvPicPr>
            <a:picLocks noChangeAspect="1"/>
          </p:cNvPicPr>
          <p:nvPr/>
        </p:nvPicPr>
        <p:blipFill>
          <a:blip r:embed="rId11"/>
          <a:stretch>
            <a:fillRect/>
          </a:stretch>
        </p:blipFill>
        <p:spPr>
          <a:xfrm>
            <a:off x="6248400" y="1295400"/>
            <a:ext cx="5486400" cy="3009900"/>
          </a:xfrm>
          <a:prstGeom prst="rect">
            <a:avLst/>
          </a:prstGeom>
        </p:spPr>
      </p:pic>
      <p:pic>
        <p:nvPicPr>
          <p:cNvPr id="11" name="Image 9" descr="preencoded.png"/>
          <p:cNvPicPr>
            <a:picLocks noChangeAspect="1"/>
          </p:cNvPicPr>
          <p:nvPr/>
        </p:nvPicPr>
        <p:blipFill>
          <a:blip r:embed="rId12"/>
          <a:stretch>
            <a:fillRect/>
          </a:stretch>
        </p:blipFill>
        <p:spPr>
          <a:xfrm>
            <a:off x="6438900" y="1504950"/>
            <a:ext cx="228600" cy="228600"/>
          </a:xfrm>
          <a:prstGeom prst="rect">
            <a:avLst/>
          </a:prstGeom>
        </p:spPr>
      </p:pic>
      <p:pic>
        <p:nvPicPr>
          <p:cNvPr id="12" name="Image 10" descr="preencoded.png"/>
          <p:cNvPicPr>
            <a:picLocks noChangeAspect="1"/>
          </p:cNvPicPr>
          <p:nvPr/>
        </p:nvPicPr>
        <p:blipFill>
          <a:blip r:embed="rId13"/>
          <a:stretch>
            <a:fillRect/>
          </a:stretch>
        </p:blipFill>
        <p:spPr>
          <a:xfrm>
            <a:off x="6438900" y="1943100"/>
            <a:ext cx="228600" cy="228600"/>
          </a:xfrm>
          <a:prstGeom prst="rect">
            <a:avLst/>
          </a:prstGeom>
        </p:spPr>
      </p:pic>
      <p:pic>
        <p:nvPicPr>
          <p:cNvPr id="13" name="Image 11" descr="preencoded.png"/>
          <p:cNvPicPr>
            <a:picLocks noChangeAspect="1"/>
          </p:cNvPicPr>
          <p:nvPr/>
        </p:nvPicPr>
        <p:blipFill>
          <a:blip r:embed="rId14"/>
          <a:stretch>
            <a:fillRect/>
          </a:stretch>
        </p:blipFill>
        <p:spPr>
          <a:xfrm>
            <a:off x="6438900" y="2428875"/>
            <a:ext cx="285750" cy="228600"/>
          </a:xfrm>
          <a:prstGeom prst="rect">
            <a:avLst/>
          </a:prstGeom>
        </p:spPr>
      </p:pic>
      <p:pic>
        <p:nvPicPr>
          <p:cNvPr id="14" name="Image 12" descr="preencoded.png"/>
          <p:cNvPicPr>
            <a:picLocks noChangeAspect="1"/>
          </p:cNvPicPr>
          <p:nvPr/>
        </p:nvPicPr>
        <p:blipFill>
          <a:blip r:embed="rId15"/>
          <a:stretch>
            <a:fillRect/>
          </a:stretch>
        </p:blipFill>
        <p:spPr>
          <a:xfrm>
            <a:off x="6438900" y="3028950"/>
            <a:ext cx="228600" cy="228600"/>
          </a:xfrm>
          <a:prstGeom prst="rect">
            <a:avLst/>
          </a:prstGeom>
        </p:spPr>
      </p:pic>
      <p:pic>
        <p:nvPicPr>
          <p:cNvPr id="15" name="Image 13" descr="preencoded.png"/>
          <p:cNvPicPr>
            <a:picLocks noChangeAspect="1"/>
          </p:cNvPicPr>
          <p:nvPr/>
        </p:nvPicPr>
        <p:blipFill>
          <a:blip r:embed="rId16"/>
          <a:stretch>
            <a:fillRect/>
          </a:stretch>
        </p:blipFill>
        <p:spPr>
          <a:xfrm>
            <a:off x="6438900" y="3629025"/>
            <a:ext cx="228600" cy="228600"/>
          </a:xfrm>
          <a:prstGeom prst="rect">
            <a:avLst/>
          </a:prstGeom>
        </p:spPr>
      </p:pic>
      <p:sp>
        <p:nvSpPr>
          <p:cNvPr id="16"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Dangers des QR Codes</a:t>
            </a:r>
            <a:endParaRPr lang="en-US" sz="2700" dirty="0"/>
          </a:p>
        </p:txBody>
      </p:sp>
      <p:sp>
        <p:nvSpPr>
          <p:cNvPr id="17" name="Text 1"/>
          <p:cNvSpPr/>
          <p:nvPr/>
        </p:nvSpPr>
        <p:spPr>
          <a:xfrm>
            <a:off x="952500" y="1485900"/>
            <a:ext cx="5105400" cy="304800"/>
          </a:xfrm>
          <a:prstGeom prst="rect">
            <a:avLst/>
          </a:prstGeom>
          <a:noFill/>
          <a:ln/>
        </p:spPr>
        <p:txBody>
          <a:bodyPr wrap="square" lIns="0" tIns="0" rIns="0" bIns="0" rtlCol="0" anchor="t"/>
          <a:lstStyle/>
          <a:p>
            <a:pPr marL="0" indent="0">
              <a:lnSpc>
                <a:spcPts val="2400"/>
              </a:lnSpc>
              <a:buNone/>
            </a:pPr>
            <a:r>
              <a:rPr lang="en-US" sz="1800" b="1" dirty="0">
                <a:solidFill>
                  <a:srgbClr val="EAB308"/>
                </a:solidFill>
                <a:latin typeface="Arial" pitchFamily="34" charset="0"/>
                <a:ea typeface="Arial" pitchFamily="34" charset="-122"/>
                <a:cs typeface="Arial" pitchFamily="34" charset="-120"/>
              </a:rPr>
              <a:t>Les Risques</a:t>
            </a:r>
            <a:endParaRPr lang="en-US" sz="1800" dirty="0"/>
          </a:p>
        </p:txBody>
      </p:sp>
      <p:sp>
        <p:nvSpPr>
          <p:cNvPr id="18" name="Text 2"/>
          <p:cNvSpPr/>
          <p:nvPr/>
        </p:nvSpPr>
        <p:spPr>
          <a:xfrm>
            <a:off x="1019175" y="1943100"/>
            <a:ext cx="4733925" cy="685800"/>
          </a:xfrm>
          <a:prstGeom prst="rect">
            <a:avLst/>
          </a:prstGeom>
          <a:noFill/>
          <a:ln/>
        </p:spPr>
        <p:txBody>
          <a:bodyPr wrap="square" lIns="0" tIns="0" rIns="0" bIns="0" rtlCol="0" anchor="t"/>
          <a:lstStyle/>
          <a:p>
            <a:pPr marL="0" indent="0">
              <a:lnSpc>
                <a:spcPts val="1800"/>
              </a:lnSpc>
              <a:buNone/>
            </a:pPr>
            <a:r>
              <a:rPr lang="en-US" sz="1200" b="1" dirty="0">
                <a:solidFill>
                  <a:srgbClr val="FF6B35"/>
                </a:solidFill>
                <a:latin typeface="Arial" pitchFamily="34" charset="0"/>
                <a:ea typeface="Arial" pitchFamily="34" charset="-122"/>
                <a:cs typeface="Arial" pitchFamily="34" charset="-120"/>
              </a:rPr>
              <a:t>Redirection vers des sites malveillants</a:t>
            </a:r>
            <a:r>
              <a:rPr lang="en-US" sz="1200" dirty="0">
                <a:solidFill>
                  <a:srgbClr val="F7FFF7"/>
                </a:solidFill>
                <a:latin typeface="Arial" pitchFamily="34" charset="0"/>
                <a:ea typeface="Arial" pitchFamily="34" charset="-122"/>
                <a:cs typeface="Arial" pitchFamily="34" charset="-120"/>
              </a:rPr>
              <a:t> - Clonage ou falsification de codes QR pour diriger vers des sites conçus pour voler des identifiants ou des informations de carte de crédit</a:t>
            </a:r>
            <a:endParaRPr lang="en-US" sz="1200" dirty="0"/>
          </a:p>
        </p:txBody>
      </p:sp>
      <p:sp>
        <p:nvSpPr>
          <p:cNvPr id="19" name="Text 3"/>
          <p:cNvSpPr/>
          <p:nvPr/>
        </p:nvSpPr>
        <p:spPr>
          <a:xfrm>
            <a:off x="1047750" y="2771775"/>
            <a:ext cx="4705350" cy="685800"/>
          </a:xfrm>
          <a:prstGeom prst="rect">
            <a:avLst/>
          </a:prstGeom>
          <a:noFill/>
          <a:ln/>
        </p:spPr>
        <p:txBody>
          <a:bodyPr wrap="square" lIns="0" tIns="0" rIns="0" bIns="0" rtlCol="0" anchor="t"/>
          <a:lstStyle/>
          <a:p>
            <a:pPr marL="0" indent="0">
              <a:lnSpc>
                <a:spcPts val="1800"/>
              </a:lnSpc>
              <a:buNone/>
            </a:pPr>
            <a:r>
              <a:rPr lang="en-US" sz="1200" b="1" dirty="0">
                <a:solidFill>
                  <a:srgbClr val="FF6B35"/>
                </a:solidFill>
                <a:latin typeface="Arial" pitchFamily="34" charset="0"/>
                <a:ea typeface="Arial" pitchFamily="34" charset="-122"/>
                <a:cs typeface="Arial" pitchFamily="34" charset="-120"/>
              </a:rPr>
              <a:t>Téléchargement de malwares</a:t>
            </a:r>
            <a:r>
              <a:rPr lang="en-US" sz="1200" dirty="0">
                <a:solidFill>
                  <a:srgbClr val="F7FFF7"/>
                </a:solidFill>
                <a:latin typeface="Arial" pitchFamily="34" charset="0"/>
                <a:ea typeface="Arial" pitchFamily="34" charset="-122"/>
                <a:cs typeface="Arial" pitchFamily="34" charset="-120"/>
              </a:rPr>
              <a:t> - Scanner un code QR malveillant peut entraîner le téléchargement automatique de logiciels malveillants sur votre appareil mobile</a:t>
            </a:r>
            <a:endParaRPr lang="en-US" sz="1200" dirty="0"/>
          </a:p>
        </p:txBody>
      </p:sp>
      <p:sp>
        <p:nvSpPr>
          <p:cNvPr id="20" name="Text 4"/>
          <p:cNvSpPr/>
          <p:nvPr/>
        </p:nvSpPr>
        <p:spPr>
          <a:xfrm>
            <a:off x="1047750" y="3600450"/>
            <a:ext cx="4705350" cy="457200"/>
          </a:xfrm>
          <a:prstGeom prst="rect">
            <a:avLst/>
          </a:prstGeom>
          <a:noFill/>
          <a:ln/>
        </p:spPr>
        <p:txBody>
          <a:bodyPr wrap="square" lIns="0" tIns="0" rIns="0" bIns="0" rtlCol="0" anchor="t"/>
          <a:lstStyle/>
          <a:p>
            <a:pPr marL="0" indent="0">
              <a:lnSpc>
                <a:spcPts val="1800"/>
              </a:lnSpc>
              <a:buNone/>
            </a:pPr>
            <a:r>
              <a:rPr lang="en-US" sz="1200" b="1" dirty="0">
                <a:solidFill>
                  <a:srgbClr val="FF6B35"/>
                </a:solidFill>
                <a:latin typeface="Arial" pitchFamily="34" charset="0"/>
                <a:ea typeface="Arial" pitchFamily="34" charset="-122"/>
                <a:cs typeface="Arial" pitchFamily="34" charset="-120"/>
              </a:rPr>
              <a:t>Quishing</a:t>
            </a:r>
            <a:r>
              <a:rPr lang="en-US" sz="1200" dirty="0">
                <a:solidFill>
                  <a:srgbClr val="F7FFF7"/>
                </a:solidFill>
                <a:latin typeface="Arial" pitchFamily="34" charset="0"/>
                <a:ea typeface="Arial" pitchFamily="34" charset="-122"/>
                <a:cs typeface="Arial" pitchFamily="34" charset="-120"/>
              </a:rPr>
              <a:t> - Intégration de codes QR dans des e-mails de phishing pour contourner les filtres de sécurité traditionnels</a:t>
            </a:r>
            <a:endParaRPr lang="en-US" sz="1200" dirty="0"/>
          </a:p>
        </p:txBody>
      </p:sp>
      <p:sp>
        <p:nvSpPr>
          <p:cNvPr id="21" name="Text 5"/>
          <p:cNvSpPr/>
          <p:nvPr/>
        </p:nvSpPr>
        <p:spPr>
          <a:xfrm>
            <a:off x="990600" y="4200525"/>
            <a:ext cx="4762500" cy="457200"/>
          </a:xfrm>
          <a:prstGeom prst="rect">
            <a:avLst/>
          </a:prstGeom>
          <a:noFill/>
          <a:ln/>
        </p:spPr>
        <p:txBody>
          <a:bodyPr wrap="square" lIns="0" tIns="0" rIns="0" bIns="0" rtlCol="0" anchor="t"/>
          <a:lstStyle/>
          <a:p>
            <a:pPr marL="0" indent="0">
              <a:lnSpc>
                <a:spcPts val="1800"/>
              </a:lnSpc>
              <a:buNone/>
            </a:pPr>
            <a:r>
              <a:rPr lang="en-US" sz="1200" b="1" dirty="0">
                <a:solidFill>
                  <a:srgbClr val="FF6B35"/>
                </a:solidFill>
                <a:latin typeface="Arial" pitchFamily="34" charset="0"/>
                <a:ea typeface="Arial" pitchFamily="34" charset="-122"/>
                <a:cs typeface="Arial" pitchFamily="34" charset="-120"/>
              </a:rPr>
              <a:t>Collecte de données</a:t>
            </a:r>
            <a:r>
              <a:rPr lang="en-US" sz="1200" dirty="0">
                <a:solidFill>
                  <a:srgbClr val="F7FFF7"/>
                </a:solidFill>
                <a:latin typeface="Arial" pitchFamily="34" charset="0"/>
                <a:ea typeface="Arial" pitchFamily="34" charset="-122"/>
                <a:cs typeface="Arial" pitchFamily="34" charset="-120"/>
              </a:rPr>
              <a:t> - Enregistrement de données telles que la localisation, le nombre de scans et le type d'appareil utilisé</a:t>
            </a:r>
            <a:endParaRPr lang="en-US" sz="1200" dirty="0"/>
          </a:p>
        </p:txBody>
      </p:sp>
      <p:sp>
        <p:nvSpPr>
          <p:cNvPr id="22" name="Text 6"/>
          <p:cNvSpPr/>
          <p:nvPr/>
        </p:nvSpPr>
        <p:spPr>
          <a:xfrm>
            <a:off x="6743700" y="1485900"/>
            <a:ext cx="5105400" cy="304800"/>
          </a:xfrm>
          <a:prstGeom prst="rect">
            <a:avLst/>
          </a:prstGeom>
          <a:noFill/>
          <a:ln/>
        </p:spPr>
        <p:txBody>
          <a:bodyPr wrap="square" lIns="0" tIns="0" rIns="0" bIns="0" rtlCol="0" anchor="t"/>
          <a:lstStyle/>
          <a:p>
            <a:pPr marL="0" indent="0">
              <a:lnSpc>
                <a:spcPts val="2400"/>
              </a:lnSpc>
              <a:buNone/>
            </a:pPr>
            <a:r>
              <a:rPr lang="en-US" sz="1800" b="1" dirty="0">
                <a:solidFill>
                  <a:srgbClr val="4ADE80"/>
                </a:solidFill>
                <a:latin typeface="Arial" pitchFamily="34" charset="0"/>
                <a:ea typeface="Arial" pitchFamily="34" charset="-122"/>
                <a:cs typeface="Arial" pitchFamily="34" charset="-120"/>
              </a:rPr>
              <a:t>Se Protéger</a:t>
            </a:r>
            <a:endParaRPr lang="en-US" sz="1800" dirty="0"/>
          </a:p>
        </p:txBody>
      </p:sp>
      <p:sp>
        <p:nvSpPr>
          <p:cNvPr id="23" name="Text 7"/>
          <p:cNvSpPr/>
          <p:nvPr/>
        </p:nvSpPr>
        <p:spPr>
          <a:xfrm>
            <a:off x="6810375" y="1943100"/>
            <a:ext cx="4385727" cy="2286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Vérifiez la légitimité d'un code QR avant de le scanner</a:t>
            </a:r>
            <a:endParaRPr lang="en-US" sz="1200" dirty="0"/>
          </a:p>
        </p:txBody>
      </p:sp>
      <p:sp>
        <p:nvSpPr>
          <p:cNvPr id="24" name="Text 8"/>
          <p:cNvSpPr/>
          <p:nvPr/>
        </p:nvSpPr>
        <p:spPr>
          <a:xfrm>
            <a:off x="6867525" y="2314575"/>
            <a:ext cx="4676775"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Soyez particulièrement méfiant si un code QR est affiché dans un lieu public ou reçu par e-mail/SMS d'une source inconnue</a:t>
            </a:r>
            <a:endParaRPr lang="en-US" sz="1200" dirty="0"/>
          </a:p>
        </p:txBody>
      </p:sp>
      <p:sp>
        <p:nvSpPr>
          <p:cNvPr id="25" name="Text 9"/>
          <p:cNvSpPr/>
          <p:nvPr/>
        </p:nvSpPr>
        <p:spPr>
          <a:xfrm>
            <a:off x="6810375" y="2914650"/>
            <a:ext cx="4733925"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Utilisez le scanner intégré à l'appareil photo de votre téléphone plutôt que des applications tierces non vérifiées</a:t>
            </a:r>
            <a:endParaRPr lang="en-US" sz="1200" dirty="0"/>
          </a:p>
        </p:txBody>
      </p:sp>
      <p:sp>
        <p:nvSpPr>
          <p:cNvPr id="26" name="Text 10"/>
          <p:cNvSpPr/>
          <p:nvPr/>
        </p:nvSpPr>
        <p:spPr>
          <a:xfrm>
            <a:off x="6810375" y="3514725"/>
            <a:ext cx="4733925"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Si un mot de passe ou des informations de connexion sont demandés après le scan, vérifiez attentivement l'URL du site web</a:t>
            </a:r>
            <a:endParaRPr lang="en-US" sz="1200" dirty="0"/>
          </a:p>
        </p:txBody>
      </p:sp>
      <p:sp>
        <p:nvSpPr>
          <p:cNvPr id="27" name="Text 11"/>
          <p:cNvSpPr/>
          <p:nvPr/>
        </p:nvSpPr>
        <p:spPr>
          <a:xfrm>
            <a:off x="457200" y="62103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86575"/>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247900"/>
            <a:ext cx="5543550" cy="1190625"/>
          </a:xfrm>
          <a:prstGeom prst="rect">
            <a:avLst/>
          </a:prstGeom>
        </p:spPr>
      </p:pic>
      <p:pic>
        <p:nvPicPr>
          <p:cNvPr id="5" name="Image 3" descr="preencoded.png"/>
          <p:cNvPicPr>
            <a:picLocks noChangeAspect="1"/>
          </p:cNvPicPr>
          <p:nvPr/>
        </p:nvPicPr>
        <p:blipFill>
          <a:blip r:embed="rId6"/>
          <a:stretch>
            <a:fillRect/>
          </a:stretch>
        </p:blipFill>
        <p:spPr>
          <a:xfrm>
            <a:off x="600075" y="2438400"/>
            <a:ext cx="200025" cy="228600"/>
          </a:xfrm>
          <a:prstGeom prst="rect">
            <a:avLst/>
          </a:prstGeom>
        </p:spPr>
      </p:pic>
      <p:pic>
        <p:nvPicPr>
          <p:cNvPr id="6" name="Image 4" descr="preencoded.png"/>
          <p:cNvPicPr>
            <a:picLocks noChangeAspect="1"/>
          </p:cNvPicPr>
          <p:nvPr/>
        </p:nvPicPr>
        <p:blipFill>
          <a:blip r:embed="rId5"/>
          <a:stretch>
            <a:fillRect/>
          </a:stretch>
        </p:blipFill>
        <p:spPr>
          <a:xfrm>
            <a:off x="6191250" y="2247900"/>
            <a:ext cx="5543550" cy="1190625"/>
          </a:xfrm>
          <a:prstGeom prst="rect">
            <a:avLst/>
          </a:prstGeom>
        </p:spPr>
      </p:pic>
      <p:pic>
        <p:nvPicPr>
          <p:cNvPr id="7" name="Image 5" descr="preencoded.png"/>
          <p:cNvPicPr>
            <a:picLocks noChangeAspect="1"/>
          </p:cNvPicPr>
          <p:nvPr/>
        </p:nvPicPr>
        <p:blipFill>
          <a:blip r:embed="rId7"/>
          <a:stretch>
            <a:fillRect/>
          </a:stretch>
        </p:blipFill>
        <p:spPr>
          <a:xfrm>
            <a:off x="6334125" y="2438400"/>
            <a:ext cx="257175" cy="228600"/>
          </a:xfrm>
          <a:prstGeom prst="rect">
            <a:avLst/>
          </a:prstGeom>
        </p:spPr>
      </p:pic>
      <p:pic>
        <p:nvPicPr>
          <p:cNvPr id="8" name="Image 6" descr="preencoded.png"/>
          <p:cNvPicPr>
            <a:picLocks noChangeAspect="1"/>
          </p:cNvPicPr>
          <p:nvPr/>
        </p:nvPicPr>
        <p:blipFill>
          <a:blip r:embed="rId5"/>
          <a:stretch>
            <a:fillRect/>
          </a:stretch>
        </p:blipFill>
        <p:spPr>
          <a:xfrm>
            <a:off x="457200" y="3629025"/>
            <a:ext cx="5543550" cy="1190625"/>
          </a:xfrm>
          <a:prstGeom prst="rect">
            <a:avLst/>
          </a:prstGeom>
        </p:spPr>
      </p:pic>
      <p:pic>
        <p:nvPicPr>
          <p:cNvPr id="9" name="Image 7" descr="preencoded.png"/>
          <p:cNvPicPr>
            <a:picLocks noChangeAspect="1"/>
          </p:cNvPicPr>
          <p:nvPr/>
        </p:nvPicPr>
        <p:blipFill>
          <a:blip r:embed="rId8"/>
          <a:stretch>
            <a:fillRect/>
          </a:stretch>
        </p:blipFill>
        <p:spPr>
          <a:xfrm>
            <a:off x="600075" y="3819525"/>
            <a:ext cx="228600" cy="228600"/>
          </a:xfrm>
          <a:prstGeom prst="rect">
            <a:avLst/>
          </a:prstGeom>
        </p:spPr>
      </p:pic>
      <p:pic>
        <p:nvPicPr>
          <p:cNvPr id="10" name="Image 8" descr="preencoded.png"/>
          <p:cNvPicPr>
            <a:picLocks noChangeAspect="1"/>
          </p:cNvPicPr>
          <p:nvPr/>
        </p:nvPicPr>
        <p:blipFill>
          <a:blip r:embed="rId5"/>
          <a:stretch>
            <a:fillRect/>
          </a:stretch>
        </p:blipFill>
        <p:spPr>
          <a:xfrm>
            <a:off x="6191250" y="3629025"/>
            <a:ext cx="5543550" cy="1190625"/>
          </a:xfrm>
          <a:prstGeom prst="rect">
            <a:avLst/>
          </a:prstGeom>
        </p:spPr>
      </p:pic>
      <p:pic>
        <p:nvPicPr>
          <p:cNvPr id="11" name="Image 9" descr="preencoded.png"/>
          <p:cNvPicPr>
            <a:picLocks noChangeAspect="1"/>
          </p:cNvPicPr>
          <p:nvPr/>
        </p:nvPicPr>
        <p:blipFill>
          <a:blip r:embed="rId9"/>
          <a:stretch>
            <a:fillRect/>
          </a:stretch>
        </p:blipFill>
        <p:spPr>
          <a:xfrm>
            <a:off x="6334125" y="3819525"/>
            <a:ext cx="200025" cy="228600"/>
          </a:xfrm>
          <a:prstGeom prst="rect">
            <a:avLst/>
          </a:prstGeom>
        </p:spPr>
      </p:pic>
      <p:pic>
        <p:nvPicPr>
          <p:cNvPr id="12" name="Image 10" descr="preencoded.png"/>
          <p:cNvPicPr>
            <a:picLocks noChangeAspect="1"/>
          </p:cNvPicPr>
          <p:nvPr/>
        </p:nvPicPr>
        <p:blipFill>
          <a:blip r:embed="rId5"/>
          <a:stretch>
            <a:fillRect/>
          </a:stretch>
        </p:blipFill>
        <p:spPr>
          <a:xfrm>
            <a:off x="457200" y="5010150"/>
            <a:ext cx="5543550" cy="1190625"/>
          </a:xfrm>
          <a:prstGeom prst="rect">
            <a:avLst/>
          </a:prstGeom>
        </p:spPr>
      </p:pic>
      <p:pic>
        <p:nvPicPr>
          <p:cNvPr id="13" name="Image 11" descr="preencoded.png"/>
          <p:cNvPicPr>
            <a:picLocks noChangeAspect="1"/>
          </p:cNvPicPr>
          <p:nvPr/>
        </p:nvPicPr>
        <p:blipFill>
          <a:blip r:embed="rId10"/>
          <a:stretch>
            <a:fillRect/>
          </a:stretch>
        </p:blipFill>
        <p:spPr>
          <a:xfrm>
            <a:off x="600075" y="5200650"/>
            <a:ext cx="228600" cy="228600"/>
          </a:xfrm>
          <a:prstGeom prst="rect">
            <a:avLst/>
          </a:prstGeom>
        </p:spPr>
      </p:pic>
      <p:pic>
        <p:nvPicPr>
          <p:cNvPr id="14" name="Image 12" descr="preencoded.png"/>
          <p:cNvPicPr>
            <a:picLocks noChangeAspect="1"/>
          </p:cNvPicPr>
          <p:nvPr/>
        </p:nvPicPr>
        <p:blipFill>
          <a:blip r:embed="rId5"/>
          <a:stretch>
            <a:fillRect/>
          </a:stretch>
        </p:blipFill>
        <p:spPr>
          <a:xfrm>
            <a:off x="6191250" y="5010150"/>
            <a:ext cx="5543550" cy="1190625"/>
          </a:xfrm>
          <a:prstGeom prst="rect">
            <a:avLst/>
          </a:prstGeom>
        </p:spPr>
      </p:pic>
      <p:pic>
        <p:nvPicPr>
          <p:cNvPr id="15" name="Image 13" descr="preencoded.png"/>
          <p:cNvPicPr>
            <a:picLocks noChangeAspect="1"/>
          </p:cNvPicPr>
          <p:nvPr/>
        </p:nvPicPr>
        <p:blipFill>
          <a:blip r:embed="rId11"/>
          <a:stretch>
            <a:fillRect/>
          </a:stretch>
        </p:blipFill>
        <p:spPr>
          <a:xfrm>
            <a:off x="6334125" y="5200650"/>
            <a:ext cx="285750" cy="228600"/>
          </a:xfrm>
          <a:prstGeom prst="rect">
            <a:avLst/>
          </a:prstGeom>
        </p:spPr>
      </p:pic>
      <p:sp>
        <p:nvSpPr>
          <p:cNvPr id="16"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Risques liés à ChatGPT</a:t>
            </a:r>
            <a:endParaRPr lang="en-US" sz="2700" dirty="0"/>
          </a:p>
        </p:txBody>
      </p:sp>
      <p:sp>
        <p:nvSpPr>
          <p:cNvPr id="17" name="Text 1"/>
          <p:cNvSpPr/>
          <p:nvPr/>
        </p:nvSpPr>
        <p:spPr>
          <a:xfrm>
            <a:off x="457200" y="1295400"/>
            <a:ext cx="11277600" cy="533400"/>
          </a:xfrm>
          <a:prstGeom prst="rect">
            <a:avLst/>
          </a:prstGeom>
          <a:noFill/>
          <a:ln/>
        </p:spPr>
        <p:txBody>
          <a:bodyPr wrap="square" lIns="0" tIns="0" rIns="0" bIns="0" rtlCol="0" anchor="t"/>
          <a:lstStyle/>
          <a:p>
            <a:pPr marL="0" indent="0">
              <a:lnSpc>
                <a:spcPts val="2100"/>
              </a:lnSpc>
              <a:buNone/>
            </a:pPr>
            <a:r>
              <a:rPr lang="en-US" sz="1350" dirty="0">
                <a:solidFill>
                  <a:srgbClr val="F7FFF7"/>
                </a:solidFill>
                <a:latin typeface="Arial" pitchFamily="34" charset="0"/>
                <a:ea typeface="Arial" pitchFamily="34" charset="-122"/>
                <a:cs typeface="Arial" pitchFamily="34" charset="-120"/>
              </a:rPr>
              <a:t>ChatGPT et d'autres modèles d'IA générative offrent des capacités puissantes, mais leur utilisation introduit de nouveaux défis en matière de sécurité dans un contexte professionnel.</a:t>
            </a:r>
            <a:endParaRPr lang="en-US" sz="1350" dirty="0"/>
          </a:p>
        </p:txBody>
      </p:sp>
      <p:sp>
        <p:nvSpPr>
          <p:cNvPr id="18" name="Text 2"/>
          <p:cNvSpPr/>
          <p:nvPr/>
        </p:nvSpPr>
        <p:spPr>
          <a:xfrm>
            <a:off x="942975" y="2390775"/>
            <a:ext cx="589788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Fuites de données sensibles</a:t>
            </a:r>
            <a:endParaRPr lang="en-US" sz="1500" dirty="0"/>
          </a:p>
        </p:txBody>
      </p:sp>
      <p:sp>
        <p:nvSpPr>
          <p:cNvPr id="19" name="Text 3"/>
          <p:cNvSpPr/>
          <p:nvPr/>
        </p:nvSpPr>
        <p:spPr>
          <a:xfrm>
            <a:off x="942975" y="2724150"/>
            <a:ext cx="4914900"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Les employés peuvent involontairement partager des informations confidentielles de l'entreprise avec ChatGPT, comme du code source propriétaire ou des documents internes.</a:t>
            </a:r>
            <a:endParaRPr lang="en-US" sz="1050" dirty="0"/>
          </a:p>
        </p:txBody>
      </p:sp>
      <p:sp>
        <p:nvSpPr>
          <p:cNvPr id="20" name="Text 4"/>
          <p:cNvSpPr/>
          <p:nvPr/>
        </p:nvSpPr>
        <p:spPr>
          <a:xfrm>
            <a:off x="6734175" y="2390775"/>
            <a:ext cx="582930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Attaques par injection de prompt</a:t>
            </a:r>
            <a:endParaRPr lang="en-US" sz="1500" dirty="0"/>
          </a:p>
        </p:txBody>
      </p:sp>
      <p:sp>
        <p:nvSpPr>
          <p:cNvPr id="21" name="Text 5"/>
          <p:cNvSpPr/>
          <p:nvPr/>
        </p:nvSpPr>
        <p:spPr>
          <a:xfrm>
            <a:off x="6734175" y="2724150"/>
            <a:ext cx="4857750"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Les attaquants peuvent manipuler le modèle en créant des invites spécifiques pour le forcer à ignorer ses instructions initiales et à générer des sorties non intentionnelles.</a:t>
            </a:r>
            <a:endParaRPr lang="en-US" sz="1050" dirty="0"/>
          </a:p>
        </p:txBody>
      </p:sp>
      <p:sp>
        <p:nvSpPr>
          <p:cNvPr id="22" name="Text 6"/>
          <p:cNvSpPr/>
          <p:nvPr/>
        </p:nvSpPr>
        <p:spPr>
          <a:xfrm>
            <a:off x="971550" y="3771900"/>
            <a:ext cx="586359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Manipulation des réponses</a:t>
            </a:r>
            <a:endParaRPr lang="en-US" sz="1500" dirty="0"/>
          </a:p>
        </p:txBody>
      </p:sp>
      <p:sp>
        <p:nvSpPr>
          <p:cNvPr id="23" name="Text 7"/>
          <p:cNvSpPr/>
          <p:nvPr/>
        </p:nvSpPr>
        <p:spPr>
          <a:xfrm>
            <a:off x="971550" y="4105275"/>
            <a:ext cx="4886325"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Les acteurs malveillants peuvent influencer les sorties de ChatGPT par des interactions biaisées répétées, entraînant des réponses faussées ou la promotion de contenus nuisibles.</a:t>
            </a:r>
            <a:endParaRPr lang="en-US" sz="1050" dirty="0"/>
          </a:p>
        </p:txBody>
      </p:sp>
      <p:sp>
        <p:nvSpPr>
          <p:cNvPr id="24" name="Text 8"/>
          <p:cNvSpPr/>
          <p:nvPr/>
        </p:nvSpPr>
        <p:spPr>
          <a:xfrm>
            <a:off x="6677025" y="3771900"/>
            <a:ext cx="589788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Attaques par empoisonnement des données</a:t>
            </a:r>
            <a:endParaRPr lang="en-US" sz="1500" dirty="0"/>
          </a:p>
        </p:txBody>
      </p:sp>
      <p:sp>
        <p:nvSpPr>
          <p:cNvPr id="25" name="Text 9"/>
          <p:cNvSpPr/>
          <p:nvPr/>
        </p:nvSpPr>
        <p:spPr>
          <a:xfrm>
            <a:off x="6677025" y="4105275"/>
            <a:ext cx="4914900"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Les attaquants peuvent injecter des données manipulées pendant les phases de pré-entraînement, corrompant le comportement du modèle et entraînant des sorties biaisées.</a:t>
            </a:r>
            <a:endParaRPr lang="en-US" sz="1050" dirty="0"/>
          </a:p>
        </p:txBody>
      </p:sp>
      <p:sp>
        <p:nvSpPr>
          <p:cNvPr id="26" name="Text 10"/>
          <p:cNvSpPr/>
          <p:nvPr/>
        </p:nvSpPr>
        <p:spPr>
          <a:xfrm>
            <a:off x="971550" y="5153025"/>
            <a:ext cx="586359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Attaques par inversion de modèle</a:t>
            </a:r>
            <a:endParaRPr lang="en-US" sz="1500" dirty="0"/>
          </a:p>
        </p:txBody>
      </p:sp>
      <p:sp>
        <p:nvSpPr>
          <p:cNvPr id="27" name="Text 11"/>
          <p:cNvSpPr/>
          <p:nvPr/>
        </p:nvSpPr>
        <p:spPr>
          <a:xfrm>
            <a:off x="971550" y="5486400"/>
            <a:ext cx="4886325"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Les adversaires peuvent reconstruire des informations sensibles à partir des données d'entraînement de l'IA en analysant ses sorties, même sans accès direct aux données stockées.</a:t>
            </a:r>
            <a:endParaRPr lang="en-US" sz="1050" dirty="0"/>
          </a:p>
        </p:txBody>
      </p:sp>
      <p:sp>
        <p:nvSpPr>
          <p:cNvPr id="28" name="Text 12"/>
          <p:cNvSpPr/>
          <p:nvPr/>
        </p:nvSpPr>
        <p:spPr>
          <a:xfrm>
            <a:off x="6762750" y="5153025"/>
            <a:ext cx="5795010" cy="285750"/>
          </a:xfrm>
          <a:prstGeom prst="rect">
            <a:avLst/>
          </a:prstGeom>
          <a:noFill/>
          <a:ln/>
        </p:spPr>
        <p:txBody>
          <a:bodyPr wrap="square" lIns="0" tIns="0" rIns="0" bIns="0" rtlCol="0" anchor="t"/>
          <a:lstStyle/>
          <a:p>
            <a:pPr marL="0" indent="0">
              <a:lnSpc>
                <a:spcPts val="2250"/>
              </a:lnSpc>
              <a:buNone/>
            </a:pPr>
            <a:r>
              <a:rPr lang="en-US" sz="1500" b="1" dirty="0">
                <a:solidFill>
                  <a:srgbClr val="4ECDC4"/>
                </a:solidFill>
                <a:latin typeface="Arial" pitchFamily="34" charset="0"/>
                <a:ea typeface="Arial" pitchFamily="34" charset="-122"/>
                <a:cs typeface="Arial" pitchFamily="34" charset="-120"/>
              </a:rPr>
              <a:t>Violations de la vie privée</a:t>
            </a:r>
            <a:endParaRPr lang="en-US" sz="1500" dirty="0"/>
          </a:p>
        </p:txBody>
      </p:sp>
      <p:sp>
        <p:nvSpPr>
          <p:cNvPr id="29" name="Text 13"/>
          <p:cNvSpPr/>
          <p:nvPr/>
        </p:nvSpPr>
        <p:spPr>
          <a:xfrm>
            <a:off x="6762750" y="5486400"/>
            <a:ext cx="4829175" cy="571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ChatGPT peut générer involontairement des sorties contenant des informations sensibles apprises lors d'interactions antérieures, compromettant la confidentialité des données personnelles.</a:t>
            </a:r>
            <a:endParaRPr lang="en-US" sz="1050" dirty="0"/>
          </a:p>
        </p:txBody>
      </p:sp>
      <p:sp>
        <p:nvSpPr>
          <p:cNvPr id="30" name="Text 14"/>
          <p:cNvSpPr/>
          <p:nvPr/>
        </p:nvSpPr>
        <p:spPr>
          <a:xfrm>
            <a:off x="457200" y="6238875"/>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820025"/>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179141"/>
            <a:ext cx="257175" cy="304800"/>
          </a:xfrm>
          <a:prstGeom prst="rect">
            <a:avLst/>
          </a:prstGeom>
        </p:spPr>
      </p:pic>
      <p:pic>
        <p:nvPicPr>
          <p:cNvPr id="5" name="Image 3" descr="preencoded.png"/>
          <p:cNvPicPr>
            <a:picLocks noChangeAspect="1"/>
          </p:cNvPicPr>
          <p:nvPr/>
        </p:nvPicPr>
        <p:blipFill>
          <a:blip r:embed="rId6"/>
          <a:stretch>
            <a:fillRect/>
          </a:stretch>
        </p:blipFill>
        <p:spPr>
          <a:xfrm>
            <a:off x="457200" y="4000054"/>
            <a:ext cx="5524500" cy="1748433"/>
          </a:xfrm>
          <a:prstGeom prst="rect">
            <a:avLst/>
          </a:prstGeom>
        </p:spPr>
      </p:pic>
      <p:pic>
        <p:nvPicPr>
          <p:cNvPr id="6" name="Image 4" descr="preencoded.png"/>
          <p:cNvPicPr>
            <a:picLocks noChangeAspect="1"/>
          </p:cNvPicPr>
          <p:nvPr/>
        </p:nvPicPr>
        <p:blipFill>
          <a:blip r:embed="rId7"/>
          <a:stretch>
            <a:fillRect/>
          </a:stretch>
        </p:blipFill>
        <p:spPr>
          <a:xfrm>
            <a:off x="1383506" y="5354241"/>
            <a:ext cx="819448" cy="251371"/>
          </a:xfrm>
          <a:prstGeom prst="rect">
            <a:avLst/>
          </a:prstGeom>
        </p:spPr>
      </p:pic>
      <p:pic>
        <p:nvPicPr>
          <p:cNvPr id="7" name="Image 5" descr="preencoded.png"/>
          <p:cNvPicPr>
            <a:picLocks noChangeAspect="1"/>
          </p:cNvPicPr>
          <p:nvPr/>
        </p:nvPicPr>
        <p:blipFill>
          <a:blip r:embed="rId8"/>
          <a:stretch>
            <a:fillRect/>
          </a:stretch>
        </p:blipFill>
        <p:spPr>
          <a:xfrm>
            <a:off x="2298204" y="5354241"/>
            <a:ext cx="1138238" cy="251371"/>
          </a:xfrm>
          <a:prstGeom prst="rect">
            <a:avLst/>
          </a:prstGeom>
        </p:spPr>
      </p:pic>
      <p:pic>
        <p:nvPicPr>
          <p:cNvPr id="8" name="Image 6" descr="preencoded.png"/>
          <p:cNvPicPr>
            <a:picLocks noChangeAspect="1"/>
          </p:cNvPicPr>
          <p:nvPr/>
        </p:nvPicPr>
        <p:blipFill>
          <a:blip r:embed="rId9"/>
          <a:stretch>
            <a:fillRect/>
          </a:stretch>
        </p:blipFill>
        <p:spPr>
          <a:xfrm>
            <a:off x="3531691" y="5354241"/>
            <a:ext cx="1523702" cy="251371"/>
          </a:xfrm>
          <a:prstGeom prst="rect">
            <a:avLst/>
          </a:prstGeom>
        </p:spPr>
      </p:pic>
      <p:pic>
        <p:nvPicPr>
          <p:cNvPr id="9" name="Image 7" descr="preencoded.png"/>
          <p:cNvPicPr>
            <a:picLocks noChangeAspect="1"/>
          </p:cNvPicPr>
          <p:nvPr/>
        </p:nvPicPr>
        <p:blipFill>
          <a:blip r:embed="rId10"/>
          <a:stretch>
            <a:fillRect/>
          </a:stretch>
        </p:blipFill>
        <p:spPr>
          <a:xfrm>
            <a:off x="6210300" y="2179141"/>
            <a:ext cx="200025" cy="304800"/>
          </a:xfrm>
          <a:prstGeom prst="rect">
            <a:avLst/>
          </a:prstGeom>
        </p:spPr>
      </p:pic>
      <p:pic>
        <p:nvPicPr>
          <p:cNvPr id="10" name="Image 8" descr="preencoded.png"/>
          <p:cNvPicPr>
            <a:picLocks noChangeAspect="1"/>
          </p:cNvPicPr>
          <p:nvPr/>
        </p:nvPicPr>
        <p:blipFill>
          <a:blip r:embed="rId11"/>
          <a:stretch>
            <a:fillRect/>
          </a:stretch>
        </p:blipFill>
        <p:spPr>
          <a:xfrm>
            <a:off x="6210300" y="4000054"/>
            <a:ext cx="5524500" cy="1382762"/>
          </a:xfrm>
          <a:prstGeom prst="rect">
            <a:avLst/>
          </a:prstGeom>
        </p:spPr>
      </p:pic>
      <p:pic>
        <p:nvPicPr>
          <p:cNvPr id="11" name="Image 9" descr="preencoded.png"/>
          <p:cNvPicPr>
            <a:picLocks noChangeAspect="1"/>
          </p:cNvPicPr>
          <p:nvPr/>
        </p:nvPicPr>
        <p:blipFill>
          <a:blip r:embed="rId12"/>
          <a:stretch>
            <a:fillRect/>
          </a:stretch>
        </p:blipFill>
        <p:spPr>
          <a:xfrm>
            <a:off x="7682805" y="4988570"/>
            <a:ext cx="960388" cy="251371"/>
          </a:xfrm>
          <a:prstGeom prst="rect">
            <a:avLst/>
          </a:prstGeom>
        </p:spPr>
      </p:pic>
      <p:pic>
        <p:nvPicPr>
          <p:cNvPr id="12" name="Image 10" descr="preencoded.png"/>
          <p:cNvPicPr>
            <a:picLocks noChangeAspect="1"/>
          </p:cNvPicPr>
          <p:nvPr/>
        </p:nvPicPr>
        <p:blipFill>
          <a:blip r:embed="rId13"/>
          <a:stretch>
            <a:fillRect/>
          </a:stretch>
        </p:blipFill>
        <p:spPr>
          <a:xfrm>
            <a:off x="8738443" y="4988570"/>
            <a:ext cx="1523702" cy="251371"/>
          </a:xfrm>
          <a:prstGeom prst="rect">
            <a:avLst/>
          </a:prstGeom>
        </p:spPr>
      </p:pic>
      <p:sp>
        <p:nvSpPr>
          <p:cNvPr id="15"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Erreurs d'Orthographe et de Syntaxe</a:t>
            </a:r>
            <a:endParaRPr lang="en-US" sz="2700" dirty="0"/>
          </a:p>
        </p:txBody>
      </p:sp>
      <p:sp>
        <p:nvSpPr>
          <p:cNvPr id="16" name="Text 1"/>
          <p:cNvSpPr/>
          <p:nvPr/>
        </p:nvSpPr>
        <p:spPr>
          <a:xfrm>
            <a:off x="457200" y="1295400"/>
            <a:ext cx="112776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Les emails de phishing contiennent souvent des fautes d'orthographe et des erreurs grammaticales évidentes. Voici comment les reconnaître :</a:t>
            </a:r>
            <a:endParaRPr lang="en-US" sz="1800" dirty="0"/>
          </a:p>
        </p:txBody>
      </p:sp>
      <p:sp>
        <p:nvSpPr>
          <p:cNvPr id="17" name="Text 2"/>
          <p:cNvSpPr/>
          <p:nvPr/>
        </p:nvSpPr>
        <p:spPr>
          <a:xfrm>
            <a:off x="828675" y="2179141"/>
            <a:ext cx="5524500" cy="3048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Fautes d'Orthographe</a:t>
            </a:r>
            <a:endParaRPr lang="en-US" sz="1500" dirty="0"/>
          </a:p>
        </p:txBody>
      </p:sp>
      <p:sp>
        <p:nvSpPr>
          <p:cNvPr id="18" name="Text 3"/>
          <p:cNvSpPr/>
          <p:nvPr/>
        </p:nvSpPr>
        <p:spPr>
          <a:xfrm>
            <a:off x="571500" y="2598241"/>
            <a:ext cx="649224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Mots mal orthographiés</a:t>
            </a:r>
            <a:endParaRPr lang="en-US" sz="1800" dirty="0"/>
          </a:p>
        </p:txBody>
      </p:sp>
      <p:sp>
        <p:nvSpPr>
          <p:cNvPr id="19" name="Text 4"/>
          <p:cNvSpPr/>
          <p:nvPr/>
        </p:nvSpPr>
        <p:spPr>
          <a:xfrm>
            <a:off x="571500" y="3040112"/>
            <a:ext cx="541020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Mots manquants</a:t>
            </a:r>
            <a:endParaRPr lang="en-US" sz="1800" dirty="0"/>
          </a:p>
        </p:txBody>
      </p:sp>
      <p:sp>
        <p:nvSpPr>
          <p:cNvPr id="20" name="Text 5"/>
          <p:cNvSpPr/>
          <p:nvPr/>
        </p:nvSpPr>
        <p:spPr>
          <a:xfrm>
            <a:off x="571500" y="3481983"/>
            <a:ext cx="541020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Mots mal placés</a:t>
            </a:r>
            <a:endParaRPr lang="en-US" sz="1800" dirty="0"/>
          </a:p>
        </p:txBody>
      </p:sp>
      <p:sp>
        <p:nvSpPr>
          <p:cNvPr id="21" name="Text 6"/>
          <p:cNvSpPr/>
          <p:nvPr/>
        </p:nvSpPr>
        <p:spPr>
          <a:xfrm>
            <a:off x="600075" y="4142929"/>
            <a:ext cx="5238750" cy="1097012"/>
          </a:xfrm>
          <a:prstGeom prst="rect">
            <a:avLst/>
          </a:prstGeom>
          <a:noFill/>
          <a:ln/>
        </p:spPr>
        <p:txBody>
          <a:bodyPr wrap="square" lIns="0" tIns="0" rIns="0" bIns="0" rtlCol="0" anchor="t"/>
          <a:lstStyle/>
          <a:p>
            <a:pPr marL="0" indent="0">
              <a:lnSpc>
                <a:spcPts val="2880"/>
              </a:lnSpc>
              <a:buNone/>
            </a:pPr>
            <a:r>
              <a:rPr lang="en-US" sz="1800" i="1" dirty="0">
                <a:solidFill>
                  <a:srgbClr val="CCCCCC"/>
                </a:solidFill>
                <a:latin typeface="Arial" pitchFamily="34" charset="0"/>
                <a:ea typeface="Arial" pitchFamily="34" charset="-122"/>
                <a:cs typeface="Arial" pitchFamily="34" charset="-120"/>
              </a:rPr>
              <a:t>"HelloAdrienDenis Password foradrien.denis@pairidaiza.euexpirestoday.marked fordeletionif not reconfirmed today."</a:t>
            </a:r>
            <a:endParaRPr lang="en-US" sz="1800" dirty="0"/>
          </a:p>
        </p:txBody>
      </p:sp>
      <p:sp>
        <p:nvSpPr>
          <p:cNvPr id="22" name="Text 7"/>
          <p:cNvSpPr/>
          <p:nvPr/>
        </p:nvSpPr>
        <p:spPr>
          <a:xfrm>
            <a:off x="1459706" y="5354241"/>
            <a:ext cx="983337" cy="251371"/>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Mots collés</a:t>
            </a:r>
            <a:endParaRPr lang="en-US" sz="1050" dirty="0"/>
          </a:p>
        </p:txBody>
      </p:sp>
      <p:sp>
        <p:nvSpPr>
          <p:cNvPr id="23" name="Text 8"/>
          <p:cNvSpPr/>
          <p:nvPr/>
        </p:nvSpPr>
        <p:spPr>
          <a:xfrm>
            <a:off x="2374404" y="5354241"/>
            <a:ext cx="1365885" cy="251371"/>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Mots manquants</a:t>
            </a:r>
            <a:endParaRPr lang="en-US" sz="1050" dirty="0"/>
          </a:p>
        </p:txBody>
      </p:sp>
      <p:sp>
        <p:nvSpPr>
          <p:cNvPr id="24" name="Text 9"/>
          <p:cNvSpPr/>
          <p:nvPr/>
        </p:nvSpPr>
        <p:spPr>
          <a:xfrm>
            <a:off x="3607891" y="5354241"/>
            <a:ext cx="1828443" cy="251371"/>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Orthographe incorrecte</a:t>
            </a:r>
            <a:endParaRPr lang="en-US" sz="1050" dirty="0"/>
          </a:p>
        </p:txBody>
      </p:sp>
      <p:sp>
        <p:nvSpPr>
          <p:cNvPr id="25" name="Text 10"/>
          <p:cNvSpPr/>
          <p:nvPr/>
        </p:nvSpPr>
        <p:spPr>
          <a:xfrm>
            <a:off x="6524625" y="2179141"/>
            <a:ext cx="5524500" cy="3048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Erreurs Grammaticales</a:t>
            </a:r>
            <a:endParaRPr lang="en-US" sz="1500" dirty="0"/>
          </a:p>
        </p:txBody>
      </p:sp>
      <p:sp>
        <p:nvSpPr>
          <p:cNvPr id="26" name="Text 11"/>
          <p:cNvSpPr/>
          <p:nvPr/>
        </p:nvSpPr>
        <p:spPr>
          <a:xfrm>
            <a:off x="6324600" y="2598241"/>
            <a:ext cx="649224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Structures incorrectes</a:t>
            </a:r>
            <a:endParaRPr lang="en-US" sz="1800" dirty="0"/>
          </a:p>
        </p:txBody>
      </p:sp>
      <p:sp>
        <p:nvSpPr>
          <p:cNvPr id="27" name="Text 12"/>
          <p:cNvSpPr/>
          <p:nvPr/>
        </p:nvSpPr>
        <p:spPr>
          <a:xfrm>
            <a:off x="6324600" y="3040112"/>
            <a:ext cx="649224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Concordance des temps verbaux</a:t>
            </a:r>
            <a:endParaRPr lang="en-US" sz="1800" dirty="0"/>
          </a:p>
        </p:txBody>
      </p:sp>
      <p:sp>
        <p:nvSpPr>
          <p:cNvPr id="28" name="Text 13"/>
          <p:cNvSpPr/>
          <p:nvPr/>
        </p:nvSpPr>
        <p:spPr>
          <a:xfrm>
            <a:off x="6324600" y="3481983"/>
            <a:ext cx="6492240" cy="365671"/>
          </a:xfrm>
          <a:prstGeom prst="rect">
            <a:avLst/>
          </a:prstGeom>
          <a:noFill/>
          <a:ln/>
        </p:spPr>
        <p:txBody>
          <a:bodyPr wrap="square" lIns="0" tIns="0" rIns="0" bIns="0" rtlCol="0" anchor="t"/>
          <a:lstStyle/>
          <a:p>
            <a:pPr marL="342900" indent="-342900" algn="l">
              <a:lnSpc>
                <a:spcPts val="2880"/>
              </a:lnSpc>
              <a:buSzPct val="100000"/>
              <a:buChar char="•"/>
            </a:pPr>
            <a:r>
              <a:rPr lang="en-US" sz="1800" dirty="0">
                <a:solidFill>
                  <a:srgbClr val="F7FFF7"/>
                </a:solidFill>
                <a:latin typeface="Arial" pitchFamily="34" charset="0"/>
                <a:ea typeface="Arial" pitchFamily="34" charset="-122"/>
                <a:cs typeface="Arial" pitchFamily="34" charset="-120"/>
              </a:rPr>
              <a:t>Ponctuation incorrecte</a:t>
            </a:r>
            <a:endParaRPr lang="en-US" sz="1800" dirty="0"/>
          </a:p>
        </p:txBody>
      </p:sp>
      <p:sp>
        <p:nvSpPr>
          <p:cNvPr id="29" name="Text 14"/>
          <p:cNvSpPr/>
          <p:nvPr/>
        </p:nvSpPr>
        <p:spPr>
          <a:xfrm>
            <a:off x="6353175" y="4142929"/>
            <a:ext cx="5238750" cy="731341"/>
          </a:xfrm>
          <a:prstGeom prst="rect">
            <a:avLst/>
          </a:prstGeom>
          <a:noFill/>
          <a:ln/>
        </p:spPr>
        <p:txBody>
          <a:bodyPr wrap="square" lIns="0" tIns="0" rIns="0" bIns="0" rtlCol="0" anchor="t"/>
          <a:lstStyle/>
          <a:p>
            <a:pPr marL="0" indent="0">
              <a:lnSpc>
                <a:spcPts val="2880"/>
              </a:lnSpc>
              <a:buNone/>
            </a:pPr>
            <a:r>
              <a:rPr lang="en-US" sz="1800" i="1" dirty="0">
                <a:solidFill>
                  <a:srgbClr val="CCCCCC"/>
                </a:solidFill>
                <a:latin typeface="Arial" pitchFamily="34" charset="0"/>
                <a:ea typeface="Arial" pitchFamily="34" charset="-122"/>
                <a:cs typeface="Arial" pitchFamily="34" charset="-120"/>
              </a:rPr>
              <a:t>"KEEPSAMEPASSWORD" au lieu de "Keep the same password"</a:t>
            </a:r>
            <a:endParaRPr lang="en-US" sz="1800" dirty="0"/>
          </a:p>
        </p:txBody>
      </p:sp>
      <p:sp>
        <p:nvSpPr>
          <p:cNvPr id="30" name="Text 15"/>
          <p:cNvSpPr/>
          <p:nvPr/>
        </p:nvSpPr>
        <p:spPr>
          <a:xfrm>
            <a:off x="7759005" y="4988570"/>
            <a:ext cx="1152465" cy="251371"/>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Mots abrégés</a:t>
            </a:r>
            <a:endParaRPr lang="en-US" sz="1050" dirty="0"/>
          </a:p>
        </p:txBody>
      </p:sp>
      <p:sp>
        <p:nvSpPr>
          <p:cNvPr id="31" name="Text 16"/>
          <p:cNvSpPr/>
          <p:nvPr/>
        </p:nvSpPr>
        <p:spPr>
          <a:xfrm>
            <a:off x="8814643" y="4988570"/>
            <a:ext cx="1828443" cy="251371"/>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Orthographe incorrecte</a:t>
            </a:r>
            <a:endParaRPr lang="en-US" sz="1050" dirty="0"/>
          </a:p>
        </p:txBody>
      </p:sp>
      <p:sp>
        <p:nvSpPr>
          <p:cNvPr id="34" name="Text 19"/>
          <p:cNvSpPr/>
          <p:nvPr/>
        </p:nvSpPr>
        <p:spPr>
          <a:xfrm>
            <a:off x="457200" y="7172325"/>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92583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1371600"/>
            <a:ext cx="11277600" cy="1165771"/>
          </a:xfrm>
          <a:prstGeom prst="rect">
            <a:avLst/>
          </a:prstGeom>
        </p:spPr>
      </p:pic>
      <p:pic>
        <p:nvPicPr>
          <p:cNvPr id="5" name="Image 3" descr="preencoded.png"/>
          <p:cNvPicPr>
            <a:picLocks noChangeAspect="1"/>
          </p:cNvPicPr>
          <p:nvPr/>
        </p:nvPicPr>
        <p:blipFill>
          <a:blip r:embed="rId6"/>
          <a:stretch>
            <a:fillRect/>
          </a:stretch>
        </p:blipFill>
        <p:spPr>
          <a:xfrm>
            <a:off x="609600" y="1744861"/>
            <a:ext cx="171450" cy="266700"/>
          </a:xfrm>
          <a:prstGeom prst="rect">
            <a:avLst/>
          </a:prstGeom>
        </p:spPr>
      </p:pic>
      <p:pic>
        <p:nvPicPr>
          <p:cNvPr id="6" name="Image 4" descr="preencoded.png"/>
          <p:cNvPicPr>
            <a:picLocks noChangeAspect="1"/>
          </p:cNvPicPr>
          <p:nvPr/>
        </p:nvPicPr>
        <p:blipFill>
          <a:blip r:embed="rId7"/>
          <a:stretch>
            <a:fillRect/>
          </a:stretch>
        </p:blipFill>
        <p:spPr>
          <a:xfrm>
            <a:off x="457200" y="2689771"/>
            <a:ext cx="11277600" cy="2361754"/>
          </a:xfrm>
          <a:prstGeom prst="rect">
            <a:avLst/>
          </a:prstGeom>
        </p:spPr>
      </p:pic>
      <p:pic>
        <p:nvPicPr>
          <p:cNvPr id="7" name="Image 5" descr="preencoded.png"/>
          <p:cNvPicPr>
            <a:picLocks noChangeAspect="1"/>
          </p:cNvPicPr>
          <p:nvPr/>
        </p:nvPicPr>
        <p:blipFill>
          <a:blip r:embed="rId8"/>
          <a:stretch>
            <a:fillRect/>
          </a:stretch>
        </p:blipFill>
        <p:spPr>
          <a:xfrm>
            <a:off x="609600" y="3245941"/>
            <a:ext cx="266700" cy="266700"/>
          </a:xfrm>
          <a:prstGeom prst="rect">
            <a:avLst/>
          </a:prstGeom>
        </p:spPr>
      </p:pic>
      <p:pic>
        <p:nvPicPr>
          <p:cNvPr id="8" name="Image 6" descr="preencoded.png"/>
          <p:cNvPicPr>
            <a:picLocks noChangeAspect="1"/>
          </p:cNvPicPr>
          <p:nvPr/>
        </p:nvPicPr>
        <p:blipFill>
          <a:blip r:embed="rId9"/>
          <a:stretch>
            <a:fillRect/>
          </a:stretch>
        </p:blipFill>
        <p:spPr>
          <a:xfrm>
            <a:off x="609600" y="4068812"/>
            <a:ext cx="10972800" cy="830312"/>
          </a:xfrm>
          <a:prstGeom prst="rect">
            <a:avLst/>
          </a:prstGeom>
        </p:spPr>
      </p:pic>
      <p:pic>
        <p:nvPicPr>
          <p:cNvPr id="9" name="Image 7" descr="preencoded.png"/>
          <p:cNvPicPr>
            <a:picLocks noChangeAspect="1"/>
          </p:cNvPicPr>
          <p:nvPr/>
        </p:nvPicPr>
        <p:blipFill>
          <a:blip r:embed="rId10"/>
          <a:stretch>
            <a:fillRect/>
          </a:stretch>
        </p:blipFill>
        <p:spPr>
          <a:xfrm>
            <a:off x="457200" y="5203924"/>
            <a:ext cx="11277600" cy="1531441"/>
          </a:xfrm>
          <a:prstGeom prst="rect">
            <a:avLst/>
          </a:prstGeom>
        </p:spPr>
      </p:pic>
      <p:pic>
        <p:nvPicPr>
          <p:cNvPr id="10" name="Image 8" descr="preencoded.png"/>
          <p:cNvPicPr>
            <a:picLocks noChangeAspect="1"/>
          </p:cNvPicPr>
          <p:nvPr/>
        </p:nvPicPr>
        <p:blipFill>
          <a:blip r:embed="rId11"/>
          <a:stretch>
            <a:fillRect/>
          </a:stretch>
        </p:blipFill>
        <p:spPr>
          <a:xfrm>
            <a:off x="609600" y="5760095"/>
            <a:ext cx="266700" cy="266700"/>
          </a:xfrm>
          <a:prstGeom prst="rect">
            <a:avLst/>
          </a:prstGeom>
        </p:spPr>
      </p:pic>
      <p:pic>
        <p:nvPicPr>
          <p:cNvPr id="11" name="Image 9" descr="preencoded.png"/>
          <p:cNvPicPr>
            <a:picLocks noChangeAspect="1"/>
          </p:cNvPicPr>
          <p:nvPr/>
        </p:nvPicPr>
        <p:blipFill>
          <a:blip r:embed="rId12"/>
          <a:stretch>
            <a:fillRect/>
          </a:stretch>
        </p:blipFill>
        <p:spPr>
          <a:xfrm>
            <a:off x="457200" y="6887766"/>
            <a:ext cx="11277600" cy="1531441"/>
          </a:xfrm>
          <a:prstGeom prst="rect">
            <a:avLst/>
          </a:prstGeom>
        </p:spPr>
      </p:pic>
      <p:pic>
        <p:nvPicPr>
          <p:cNvPr id="12" name="Image 10" descr="preencoded.png"/>
          <p:cNvPicPr>
            <a:picLocks noChangeAspect="1"/>
          </p:cNvPicPr>
          <p:nvPr/>
        </p:nvPicPr>
        <p:blipFill>
          <a:blip r:embed="rId13"/>
          <a:stretch>
            <a:fillRect/>
          </a:stretch>
        </p:blipFill>
        <p:spPr>
          <a:xfrm>
            <a:off x="609600" y="7443936"/>
            <a:ext cx="266700" cy="266700"/>
          </a:xfrm>
          <a:prstGeom prst="rect">
            <a:avLst/>
          </a:prstGeom>
        </p:spPr>
      </p:pic>
      <p:sp>
        <p:nvSpPr>
          <p:cNvPr id="13"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Liens et Boutons Suspects</a:t>
            </a:r>
            <a:endParaRPr lang="en-US" sz="2700" dirty="0"/>
          </a:p>
        </p:txBody>
      </p:sp>
      <p:sp>
        <p:nvSpPr>
          <p:cNvPr id="14" name="Text 1"/>
          <p:cNvSpPr/>
          <p:nvPr/>
        </p:nvSpPr>
        <p:spPr>
          <a:xfrm>
            <a:off x="933450" y="1524000"/>
            <a:ext cx="9661922"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Vérifier les liens sans cliquer</a:t>
            </a:r>
            <a:endParaRPr lang="en-US" sz="1500" dirty="0"/>
          </a:p>
        </p:txBody>
      </p:sp>
      <p:sp>
        <p:nvSpPr>
          <p:cNvPr id="15" name="Text 2"/>
          <p:cNvSpPr/>
          <p:nvPr/>
        </p:nvSpPr>
        <p:spPr>
          <a:xfrm>
            <a:off x="933450" y="1866900"/>
            <a:ext cx="11594306" cy="36567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Survolez le lien avec votre souris (sans cliquer) pour voir l'adresse réelle vers laquelle il redirige</a:t>
            </a:r>
            <a:endParaRPr lang="en-US" sz="1800" dirty="0"/>
          </a:p>
        </p:txBody>
      </p:sp>
      <p:sp>
        <p:nvSpPr>
          <p:cNvPr id="16" name="Text 3"/>
          <p:cNvSpPr/>
          <p:nvPr/>
        </p:nvSpPr>
        <p:spPr>
          <a:xfrm>
            <a:off x="1028700" y="2842171"/>
            <a:ext cx="1055370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Signes d'alerte</a:t>
            </a:r>
            <a:endParaRPr lang="en-US" sz="1500" dirty="0"/>
          </a:p>
        </p:txBody>
      </p:sp>
      <p:sp>
        <p:nvSpPr>
          <p:cNvPr id="17" name="Text 4"/>
          <p:cNvSpPr/>
          <p:nvPr/>
        </p:nvSpPr>
        <p:spPr>
          <a:xfrm>
            <a:off x="1028700" y="3185071"/>
            <a:ext cx="105537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Comparez le domaine du lien avec le site officiel. Si ce n'est pas le même, il y a peut-être quelque chose qui cloche</a:t>
            </a:r>
            <a:endParaRPr lang="en-US" sz="1800" dirty="0"/>
          </a:p>
        </p:txBody>
      </p:sp>
      <p:sp>
        <p:nvSpPr>
          <p:cNvPr id="18" name="Text 5"/>
          <p:cNvSpPr/>
          <p:nvPr/>
        </p:nvSpPr>
        <p:spPr>
          <a:xfrm>
            <a:off x="704850" y="4068812"/>
            <a:ext cx="10972800" cy="830312"/>
          </a:xfrm>
          <a:prstGeom prst="rect">
            <a:avLst/>
          </a:prstGeom>
          <a:noFill/>
          <a:ln/>
        </p:spPr>
        <p:txBody>
          <a:bodyPr wrap="square" lIns="0" tIns="0" rIns="0" bIns="0" rtlCol="0" anchor="t"/>
          <a:lstStyle/>
          <a:p>
            <a:pPr marL="0" indent="0">
              <a:lnSpc>
                <a:spcPts val="1680"/>
              </a:lnSpc>
              <a:buNone/>
            </a:pPr>
            <a:r>
              <a:rPr lang="en-US" sz="1050" dirty="0">
                <a:solidFill>
                  <a:srgbClr val="FF6B35"/>
                </a:solidFill>
                <a:latin typeface="Arial" pitchFamily="34" charset="0"/>
                <a:ea typeface="Arial" pitchFamily="34" charset="-122"/>
                <a:cs typeface="Arial" pitchFamily="34" charset="-120"/>
              </a:rPr>
              <a:t>Exemples d'URL frauduleuses :https://avant.lenomdusite.be/après https://shop.pairidaiza.eu/fr/41-mineraux</a:t>
            </a:r>
            <a:endParaRPr lang="en-US" sz="1050" dirty="0"/>
          </a:p>
        </p:txBody>
      </p:sp>
      <p:sp>
        <p:nvSpPr>
          <p:cNvPr id="19" name="Text 6"/>
          <p:cNvSpPr/>
          <p:nvPr/>
        </p:nvSpPr>
        <p:spPr>
          <a:xfrm>
            <a:off x="1028700" y="5356324"/>
            <a:ext cx="1055370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Boutons suspects</a:t>
            </a:r>
            <a:endParaRPr lang="en-US" sz="1500" dirty="0"/>
          </a:p>
        </p:txBody>
      </p:sp>
      <p:sp>
        <p:nvSpPr>
          <p:cNvPr id="20" name="Text 7"/>
          <p:cNvSpPr/>
          <p:nvPr/>
        </p:nvSpPr>
        <p:spPr>
          <a:xfrm>
            <a:off x="1028700" y="5699224"/>
            <a:ext cx="105537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Soyez méfiant des boutons qui vous demandent d'agir immédiatement ou qui contiennent des fautes d'orthographe</a:t>
            </a:r>
            <a:endParaRPr lang="en-US" sz="1800" dirty="0"/>
          </a:p>
        </p:txBody>
      </p:sp>
      <p:sp>
        <p:nvSpPr>
          <p:cNvPr id="21" name="Text 8"/>
          <p:cNvSpPr/>
          <p:nvPr/>
        </p:nvSpPr>
        <p:spPr>
          <a:xfrm>
            <a:off x="1028700" y="7040166"/>
            <a:ext cx="1055370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Vérification des liens</a:t>
            </a:r>
            <a:endParaRPr lang="en-US" sz="1500" dirty="0"/>
          </a:p>
        </p:txBody>
      </p:sp>
      <p:sp>
        <p:nvSpPr>
          <p:cNvPr id="22" name="Text 9"/>
          <p:cNvSpPr/>
          <p:nvPr/>
        </p:nvSpPr>
        <p:spPr>
          <a:xfrm>
            <a:off x="1028700" y="7383066"/>
            <a:ext cx="105537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Si vous avez le moindre doute sur la véracité d'un lien, demandez confirmation à votre service informatique avant de cliquer</a:t>
            </a:r>
            <a:endParaRPr lang="en-US" sz="1800" dirty="0"/>
          </a:p>
        </p:txBody>
      </p:sp>
      <p:sp>
        <p:nvSpPr>
          <p:cNvPr id="23" name="Text 10"/>
          <p:cNvSpPr/>
          <p:nvPr/>
        </p:nvSpPr>
        <p:spPr>
          <a:xfrm>
            <a:off x="457200" y="86106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10029825"/>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076450"/>
            <a:ext cx="5562600" cy="1809750"/>
          </a:xfrm>
          <a:prstGeom prst="rect">
            <a:avLst/>
          </a:prstGeom>
        </p:spPr>
      </p:pic>
      <p:pic>
        <p:nvPicPr>
          <p:cNvPr id="5" name="Image 3" descr="preencoded.png"/>
          <p:cNvPicPr>
            <a:picLocks noChangeAspect="1"/>
          </p:cNvPicPr>
          <p:nvPr/>
        </p:nvPicPr>
        <p:blipFill>
          <a:blip r:embed="rId6"/>
          <a:stretch>
            <a:fillRect/>
          </a:stretch>
        </p:blipFill>
        <p:spPr>
          <a:xfrm>
            <a:off x="600075" y="2743200"/>
            <a:ext cx="404515" cy="476250"/>
          </a:xfrm>
          <a:prstGeom prst="rect">
            <a:avLst/>
          </a:prstGeom>
        </p:spPr>
      </p:pic>
      <p:pic>
        <p:nvPicPr>
          <p:cNvPr id="6" name="Image 4" descr="preencoded.png"/>
          <p:cNvPicPr>
            <a:picLocks noChangeAspect="1"/>
          </p:cNvPicPr>
          <p:nvPr/>
        </p:nvPicPr>
        <p:blipFill>
          <a:blip r:embed="rId7"/>
          <a:stretch>
            <a:fillRect/>
          </a:stretch>
        </p:blipFill>
        <p:spPr>
          <a:xfrm>
            <a:off x="1242715" y="3190875"/>
            <a:ext cx="171450" cy="171450"/>
          </a:xfrm>
          <a:prstGeom prst="rect">
            <a:avLst/>
          </a:prstGeom>
        </p:spPr>
      </p:pic>
      <p:pic>
        <p:nvPicPr>
          <p:cNvPr id="7" name="Image 5" descr="preencoded.png"/>
          <p:cNvPicPr>
            <a:picLocks noChangeAspect="1"/>
          </p:cNvPicPr>
          <p:nvPr/>
        </p:nvPicPr>
        <p:blipFill>
          <a:blip r:embed="rId5"/>
          <a:stretch>
            <a:fillRect/>
          </a:stretch>
        </p:blipFill>
        <p:spPr>
          <a:xfrm>
            <a:off x="6172200" y="2076450"/>
            <a:ext cx="5562600" cy="1809750"/>
          </a:xfrm>
          <a:prstGeom prst="rect">
            <a:avLst/>
          </a:prstGeom>
        </p:spPr>
      </p:pic>
      <p:pic>
        <p:nvPicPr>
          <p:cNvPr id="8" name="Image 6" descr="preencoded.png"/>
          <p:cNvPicPr>
            <a:picLocks noChangeAspect="1"/>
          </p:cNvPicPr>
          <p:nvPr/>
        </p:nvPicPr>
        <p:blipFill>
          <a:blip r:embed="rId8"/>
          <a:stretch>
            <a:fillRect/>
          </a:stretch>
        </p:blipFill>
        <p:spPr>
          <a:xfrm>
            <a:off x="6315075" y="2743200"/>
            <a:ext cx="325487" cy="476250"/>
          </a:xfrm>
          <a:prstGeom prst="rect">
            <a:avLst/>
          </a:prstGeom>
        </p:spPr>
      </p:pic>
      <p:pic>
        <p:nvPicPr>
          <p:cNvPr id="9" name="Image 7" descr="preencoded.png"/>
          <p:cNvPicPr>
            <a:picLocks noChangeAspect="1"/>
          </p:cNvPicPr>
          <p:nvPr/>
        </p:nvPicPr>
        <p:blipFill>
          <a:blip r:embed="rId9"/>
          <a:stretch>
            <a:fillRect/>
          </a:stretch>
        </p:blipFill>
        <p:spPr>
          <a:xfrm>
            <a:off x="6392019" y="2867025"/>
            <a:ext cx="171450" cy="228600"/>
          </a:xfrm>
          <a:prstGeom prst="rect">
            <a:avLst/>
          </a:prstGeom>
        </p:spPr>
      </p:pic>
      <p:pic>
        <p:nvPicPr>
          <p:cNvPr id="10" name="Image 8" descr="preencoded.png"/>
          <p:cNvPicPr>
            <a:picLocks noChangeAspect="1"/>
          </p:cNvPicPr>
          <p:nvPr/>
        </p:nvPicPr>
        <p:blipFill>
          <a:blip r:embed="rId10"/>
          <a:stretch>
            <a:fillRect/>
          </a:stretch>
        </p:blipFill>
        <p:spPr>
          <a:xfrm>
            <a:off x="6878687" y="3348038"/>
            <a:ext cx="171450" cy="171450"/>
          </a:xfrm>
          <a:prstGeom prst="rect">
            <a:avLst/>
          </a:prstGeom>
        </p:spPr>
      </p:pic>
      <p:pic>
        <p:nvPicPr>
          <p:cNvPr id="11" name="Image 9" descr="preencoded.png"/>
          <p:cNvPicPr>
            <a:picLocks noChangeAspect="1"/>
          </p:cNvPicPr>
          <p:nvPr/>
        </p:nvPicPr>
        <p:blipFill>
          <a:blip r:embed="rId5"/>
          <a:stretch>
            <a:fillRect/>
          </a:stretch>
        </p:blipFill>
        <p:spPr>
          <a:xfrm>
            <a:off x="457200" y="4181475"/>
            <a:ext cx="5562600" cy="1809750"/>
          </a:xfrm>
          <a:prstGeom prst="rect">
            <a:avLst/>
          </a:prstGeom>
        </p:spPr>
      </p:pic>
      <p:pic>
        <p:nvPicPr>
          <p:cNvPr id="12" name="Image 10" descr="preencoded.png"/>
          <p:cNvPicPr>
            <a:picLocks noChangeAspect="1"/>
          </p:cNvPicPr>
          <p:nvPr/>
        </p:nvPicPr>
        <p:blipFill>
          <a:blip r:embed="rId11"/>
          <a:stretch>
            <a:fillRect/>
          </a:stretch>
        </p:blipFill>
        <p:spPr>
          <a:xfrm>
            <a:off x="600075" y="4848225"/>
            <a:ext cx="396478" cy="476250"/>
          </a:xfrm>
          <a:prstGeom prst="rect">
            <a:avLst/>
          </a:prstGeom>
        </p:spPr>
      </p:pic>
      <p:pic>
        <p:nvPicPr>
          <p:cNvPr id="13" name="Image 11" descr="preencoded.png"/>
          <p:cNvPicPr>
            <a:picLocks noChangeAspect="1"/>
          </p:cNvPicPr>
          <p:nvPr/>
        </p:nvPicPr>
        <p:blipFill>
          <a:blip r:embed="rId12"/>
          <a:stretch>
            <a:fillRect/>
          </a:stretch>
        </p:blipFill>
        <p:spPr>
          <a:xfrm>
            <a:off x="712589" y="4972050"/>
            <a:ext cx="171450" cy="228600"/>
          </a:xfrm>
          <a:prstGeom prst="rect">
            <a:avLst/>
          </a:prstGeom>
        </p:spPr>
      </p:pic>
      <p:pic>
        <p:nvPicPr>
          <p:cNvPr id="14" name="Image 12" descr="preencoded.png"/>
          <p:cNvPicPr>
            <a:picLocks noChangeAspect="1"/>
          </p:cNvPicPr>
          <p:nvPr/>
        </p:nvPicPr>
        <p:blipFill>
          <a:blip r:embed="rId10"/>
          <a:stretch>
            <a:fillRect/>
          </a:stretch>
        </p:blipFill>
        <p:spPr>
          <a:xfrm>
            <a:off x="1234678" y="5453063"/>
            <a:ext cx="171450" cy="171450"/>
          </a:xfrm>
          <a:prstGeom prst="rect">
            <a:avLst/>
          </a:prstGeom>
        </p:spPr>
      </p:pic>
      <p:pic>
        <p:nvPicPr>
          <p:cNvPr id="15" name="Image 13" descr="preencoded.png"/>
          <p:cNvPicPr>
            <a:picLocks noChangeAspect="1"/>
          </p:cNvPicPr>
          <p:nvPr/>
        </p:nvPicPr>
        <p:blipFill>
          <a:blip r:embed="rId5"/>
          <a:stretch>
            <a:fillRect/>
          </a:stretch>
        </p:blipFill>
        <p:spPr>
          <a:xfrm>
            <a:off x="6172200" y="4181475"/>
            <a:ext cx="5562600" cy="1809750"/>
          </a:xfrm>
          <a:prstGeom prst="rect">
            <a:avLst/>
          </a:prstGeom>
        </p:spPr>
      </p:pic>
      <p:pic>
        <p:nvPicPr>
          <p:cNvPr id="16" name="Image 14" descr="preencoded.png"/>
          <p:cNvPicPr>
            <a:picLocks noChangeAspect="1"/>
          </p:cNvPicPr>
          <p:nvPr/>
        </p:nvPicPr>
        <p:blipFill>
          <a:blip r:embed="rId13"/>
          <a:stretch>
            <a:fillRect/>
          </a:stretch>
        </p:blipFill>
        <p:spPr>
          <a:xfrm>
            <a:off x="6315075" y="4848225"/>
            <a:ext cx="359569" cy="476250"/>
          </a:xfrm>
          <a:prstGeom prst="rect">
            <a:avLst/>
          </a:prstGeom>
        </p:spPr>
      </p:pic>
      <p:pic>
        <p:nvPicPr>
          <p:cNvPr id="17" name="Image 15" descr="preencoded.png"/>
          <p:cNvPicPr>
            <a:picLocks noChangeAspect="1"/>
          </p:cNvPicPr>
          <p:nvPr/>
        </p:nvPicPr>
        <p:blipFill>
          <a:blip r:embed="rId14"/>
          <a:stretch>
            <a:fillRect/>
          </a:stretch>
        </p:blipFill>
        <p:spPr>
          <a:xfrm>
            <a:off x="6409134" y="4972050"/>
            <a:ext cx="171450" cy="228600"/>
          </a:xfrm>
          <a:prstGeom prst="rect">
            <a:avLst/>
          </a:prstGeom>
        </p:spPr>
      </p:pic>
      <p:pic>
        <p:nvPicPr>
          <p:cNvPr id="18" name="Image 16" descr="preencoded.png"/>
          <p:cNvPicPr>
            <a:picLocks noChangeAspect="1"/>
          </p:cNvPicPr>
          <p:nvPr/>
        </p:nvPicPr>
        <p:blipFill>
          <a:blip r:embed="rId7"/>
          <a:stretch>
            <a:fillRect/>
          </a:stretch>
        </p:blipFill>
        <p:spPr>
          <a:xfrm>
            <a:off x="6912769" y="5295900"/>
            <a:ext cx="171450" cy="171450"/>
          </a:xfrm>
          <a:prstGeom prst="rect">
            <a:avLst/>
          </a:prstGeom>
        </p:spPr>
      </p:pic>
      <p:pic>
        <p:nvPicPr>
          <p:cNvPr id="19" name="Image 17" descr="preencoded.png"/>
          <p:cNvPicPr>
            <a:picLocks noChangeAspect="1"/>
          </p:cNvPicPr>
          <p:nvPr/>
        </p:nvPicPr>
        <p:blipFill>
          <a:blip r:embed="rId15"/>
          <a:stretch>
            <a:fillRect/>
          </a:stretch>
        </p:blipFill>
        <p:spPr>
          <a:xfrm>
            <a:off x="457200" y="6286500"/>
            <a:ext cx="5562600" cy="1809750"/>
          </a:xfrm>
          <a:prstGeom prst="rect">
            <a:avLst/>
          </a:prstGeom>
        </p:spPr>
      </p:pic>
      <p:pic>
        <p:nvPicPr>
          <p:cNvPr id="20" name="Image 18" descr="preencoded.png"/>
          <p:cNvPicPr>
            <a:picLocks noChangeAspect="1"/>
          </p:cNvPicPr>
          <p:nvPr/>
        </p:nvPicPr>
        <p:blipFill>
          <a:blip r:embed="rId16"/>
          <a:stretch>
            <a:fillRect/>
          </a:stretch>
        </p:blipFill>
        <p:spPr>
          <a:xfrm>
            <a:off x="600075" y="6953250"/>
            <a:ext cx="416570" cy="476250"/>
          </a:xfrm>
          <a:prstGeom prst="rect">
            <a:avLst/>
          </a:prstGeom>
        </p:spPr>
      </p:pic>
      <p:pic>
        <p:nvPicPr>
          <p:cNvPr id="21" name="Image 19" descr="preencoded.png"/>
          <p:cNvPicPr>
            <a:picLocks noChangeAspect="1"/>
          </p:cNvPicPr>
          <p:nvPr/>
        </p:nvPicPr>
        <p:blipFill>
          <a:blip r:embed="rId17"/>
          <a:stretch>
            <a:fillRect/>
          </a:stretch>
        </p:blipFill>
        <p:spPr>
          <a:xfrm>
            <a:off x="722561" y="7077075"/>
            <a:ext cx="171450" cy="228600"/>
          </a:xfrm>
          <a:prstGeom prst="rect">
            <a:avLst/>
          </a:prstGeom>
        </p:spPr>
      </p:pic>
      <p:pic>
        <p:nvPicPr>
          <p:cNvPr id="22" name="Image 20" descr="preencoded.png"/>
          <p:cNvPicPr>
            <a:picLocks noChangeAspect="1"/>
          </p:cNvPicPr>
          <p:nvPr/>
        </p:nvPicPr>
        <p:blipFill>
          <a:blip r:embed="rId7"/>
          <a:stretch>
            <a:fillRect/>
          </a:stretch>
        </p:blipFill>
        <p:spPr>
          <a:xfrm>
            <a:off x="1254770" y="7400925"/>
            <a:ext cx="171450" cy="171450"/>
          </a:xfrm>
          <a:prstGeom prst="rect">
            <a:avLst/>
          </a:prstGeom>
        </p:spPr>
      </p:pic>
      <p:pic>
        <p:nvPicPr>
          <p:cNvPr id="23" name="Image 21" descr="preencoded.png"/>
          <p:cNvPicPr>
            <a:picLocks noChangeAspect="1"/>
          </p:cNvPicPr>
          <p:nvPr/>
        </p:nvPicPr>
        <p:blipFill>
          <a:blip r:embed="rId15"/>
          <a:stretch>
            <a:fillRect/>
          </a:stretch>
        </p:blipFill>
        <p:spPr>
          <a:xfrm>
            <a:off x="6172200" y="6286500"/>
            <a:ext cx="5562600" cy="1809750"/>
          </a:xfrm>
          <a:prstGeom prst="rect">
            <a:avLst/>
          </a:prstGeom>
        </p:spPr>
      </p:pic>
      <p:pic>
        <p:nvPicPr>
          <p:cNvPr id="24" name="Image 22" descr="preencoded.png"/>
          <p:cNvPicPr>
            <a:picLocks noChangeAspect="1"/>
          </p:cNvPicPr>
          <p:nvPr/>
        </p:nvPicPr>
        <p:blipFill>
          <a:blip r:embed="rId18"/>
          <a:stretch>
            <a:fillRect/>
          </a:stretch>
        </p:blipFill>
        <p:spPr>
          <a:xfrm>
            <a:off x="6315075" y="6953250"/>
            <a:ext cx="333226" cy="476250"/>
          </a:xfrm>
          <a:prstGeom prst="rect">
            <a:avLst/>
          </a:prstGeom>
        </p:spPr>
      </p:pic>
      <p:pic>
        <p:nvPicPr>
          <p:cNvPr id="25" name="Image 23" descr="preencoded.png"/>
          <p:cNvPicPr>
            <a:picLocks noChangeAspect="1"/>
          </p:cNvPicPr>
          <p:nvPr/>
        </p:nvPicPr>
        <p:blipFill>
          <a:blip r:embed="rId19"/>
          <a:stretch>
            <a:fillRect/>
          </a:stretch>
        </p:blipFill>
        <p:spPr>
          <a:xfrm>
            <a:off x="6395889" y="7077075"/>
            <a:ext cx="171450" cy="228600"/>
          </a:xfrm>
          <a:prstGeom prst="rect">
            <a:avLst/>
          </a:prstGeom>
        </p:spPr>
      </p:pic>
      <p:pic>
        <p:nvPicPr>
          <p:cNvPr id="26" name="Image 24" descr="preencoded.png"/>
          <p:cNvPicPr>
            <a:picLocks noChangeAspect="1"/>
          </p:cNvPicPr>
          <p:nvPr/>
        </p:nvPicPr>
        <p:blipFill>
          <a:blip r:embed="rId10"/>
          <a:stretch>
            <a:fillRect/>
          </a:stretch>
        </p:blipFill>
        <p:spPr>
          <a:xfrm>
            <a:off x="6886426" y="7558088"/>
            <a:ext cx="171450" cy="171450"/>
          </a:xfrm>
          <a:prstGeom prst="rect">
            <a:avLst/>
          </a:prstGeom>
        </p:spPr>
      </p:pic>
      <p:pic>
        <p:nvPicPr>
          <p:cNvPr id="27" name="Image 25" descr="preencoded.png"/>
          <p:cNvPicPr>
            <a:picLocks noChangeAspect="1"/>
          </p:cNvPicPr>
          <p:nvPr/>
        </p:nvPicPr>
        <p:blipFill>
          <a:blip r:embed="rId20"/>
          <a:stretch>
            <a:fillRect/>
          </a:stretch>
        </p:blipFill>
        <p:spPr>
          <a:xfrm>
            <a:off x="457200" y="8429625"/>
            <a:ext cx="11277600" cy="914400"/>
          </a:xfrm>
          <a:prstGeom prst="rect">
            <a:avLst/>
          </a:prstGeom>
        </p:spPr>
      </p:pic>
      <p:pic>
        <p:nvPicPr>
          <p:cNvPr id="28" name="Image 26" descr="preencoded.png"/>
          <p:cNvPicPr>
            <a:picLocks noChangeAspect="1"/>
          </p:cNvPicPr>
          <p:nvPr/>
        </p:nvPicPr>
        <p:blipFill>
          <a:blip r:embed="rId21"/>
          <a:stretch>
            <a:fillRect/>
          </a:stretch>
        </p:blipFill>
        <p:spPr>
          <a:xfrm>
            <a:off x="600075" y="8734425"/>
            <a:ext cx="228600" cy="304800"/>
          </a:xfrm>
          <a:prstGeom prst="rect">
            <a:avLst/>
          </a:prstGeom>
        </p:spPr>
      </p:pic>
      <p:sp>
        <p:nvSpPr>
          <p:cNvPr id="29"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Risques Liés aux Pièces Jointes</a:t>
            </a:r>
            <a:endParaRPr lang="en-US" sz="2700" dirty="0"/>
          </a:p>
        </p:txBody>
      </p:sp>
      <p:sp>
        <p:nvSpPr>
          <p:cNvPr id="30" name="Text 1"/>
          <p:cNvSpPr/>
          <p:nvPr/>
        </p:nvSpPr>
        <p:spPr>
          <a:xfrm>
            <a:off x="457200" y="1295400"/>
            <a:ext cx="11277600" cy="628650"/>
          </a:xfrm>
          <a:prstGeom prst="rect">
            <a:avLst/>
          </a:prstGeom>
          <a:noFill/>
          <a:ln/>
        </p:spPr>
        <p:txBody>
          <a:bodyPr wrap="square" lIns="0" tIns="0" rIns="0" bIns="0" rtlCol="0" anchor="t"/>
          <a:lstStyle/>
          <a:p>
            <a:pPr marL="0" indent="0">
              <a:lnSpc>
                <a:spcPts val="2475"/>
              </a:lnSpc>
              <a:buNone/>
            </a:pPr>
            <a:r>
              <a:rPr lang="en-US" sz="1650" dirty="0">
                <a:solidFill>
                  <a:srgbClr val="F7FFF7"/>
                </a:solidFill>
                <a:latin typeface="Arial" pitchFamily="34" charset="0"/>
                <a:ea typeface="Arial" pitchFamily="34" charset="-122"/>
                <a:cs typeface="Arial" pitchFamily="34" charset="-120"/>
              </a:rPr>
              <a:t>Les pièces jointes peuvent être des vecteurs d'attaque courants dans les attaques de phishing. Voici les types de fichiers les plus courants qui posent des dangers:</a:t>
            </a:r>
            <a:endParaRPr lang="en-US" sz="1650" dirty="0"/>
          </a:p>
        </p:txBody>
      </p:sp>
      <p:sp>
        <p:nvSpPr>
          <p:cNvPr id="31" name="Text 2"/>
          <p:cNvSpPr/>
          <p:nvPr/>
        </p:nvSpPr>
        <p:spPr>
          <a:xfrm>
            <a:off x="1147465" y="2219325"/>
            <a:ext cx="472946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.EXE</a:t>
            </a:r>
            <a:endParaRPr lang="en-US" sz="1500" dirty="0"/>
          </a:p>
        </p:txBody>
      </p:sp>
      <p:sp>
        <p:nvSpPr>
          <p:cNvPr id="32" name="Text 3"/>
          <p:cNvSpPr/>
          <p:nvPr/>
        </p:nvSpPr>
        <p:spPr>
          <a:xfrm>
            <a:off x="1147465" y="2486025"/>
            <a:ext cx="4729460"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Fichiers exécutables, les plus courants porteurs de malware</a:t>
            </a:r>
            <a:endParaRPr lang="en-US" sz="1650" dirty="0"/>
          </a:p>
        </p:txBody>
      </p:sp>
      <p:sp>
        <p:nvSpPr>
          <p:cNvPr id="33" name="Text 4"/>
          <p:cNvSpPr/>
          <p:nvPr/>
        </p:nvSpPr>
        <p:spPr>
          <a:xfrm>
            <a:off x="1414165" y="3190875"/>
            <a:ext cx="3811488" cy="504825"/>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Lance directement des programmes malveillants</a:t>
            </a:r>
            <a:endParaRPr lang="en-US" sz="1350" dirty="0"/>
          </a:p>
        </p:txBody>
      </p:sp>
      <p:sp>
        <p:nvSpPr>
          <p:cNvPr id="34" name="Text 5"/>
          <p:cNvSpPr/>
          <p:nvPr/>
        </p:nvSpPr>
        <p:spPr>
          <a:xfrm>
            <a:off x="6783437" y="2376488"/>
            <a:ext cx="4808488"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.ZIP</a:t>
            </a:r>
            <a:endParaRPr lang="en-US" sz="1500" dirty="0"/>
          </a:p>
        </p:txBody>
      </p:sp>
      <p:sp>
        <p:nvSpPr>
          <p:cNvPr id="35" name="Text 6"/>
          <p:cNvSpPr/>
          <p:nvPr/>
        </p:nvSpPr>
        <p:spPr>
          <a:xfrm>
            <a:off x="6783437" y="2643188"/>
            <a:ext cx="4808488"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Fichiers compressés, peuvent contenir des fichiers exécutables malveillants</a:t>
            </a:r>
            <a:endParaRPr lang="en-US" sz="1650" dirty="0"/>
          </a:p>
        </p:txBody>
      </p:sp>
      <p:sp>
        <p:nvSpPr>
          <p:cNvPr id="36" name="Text 7"/>
          <p:cNvSpPr/>
          <p:nvPr/>
        </p:nvSpPr>
        <p:spPr>
          <a:xfrm>
            <a:off x="7050137" y="3348038"/>
            <a:ext cx="5047595" cy="190500"/>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Cache des fichiers malveillants à l'intérieur</a:t>
            </a:r>
            <a:endParaRPr lang="en-US" sz="1350" dirty="0"/>
          </a:p>
        </p:txBody>
      </p:sp>
      <p:sp>
        <p:nvSpPr>
          <p:cNvPr id="37" name="Text 8"/>
          <p:cNvSpPr/>
          <p:nvPr/>
        </p:nvSpPr>
        <p:spPr>
          <a:xfrm>
            <a:off x="1139428" y="4481513"/>
            <a:ext cx="4737497"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.DOC</a:t>
            </a:r>
            <a:endParaRPr lang="en-US" sz="1500" dirty="0"/>
          </a:p>
        </p:txBody>
      </p:sp>
      <p:sp>
        <p:nvSpPr>
          <p:cNvPr id="38" name="Text 9"/>
          <p:cNvSpPr/>
          <p:nvPr/>
        </p:nvSpPr>
        <p:spPr>
          <a:xfrm>
            <a:off x="1139428" y="4748213"/>
            <a:ext cx="4737497"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Documents Word, peuvent contenir des macros malveillantes</a:t>
            </a:r>
            <a:endParaRPr lang="en-US" sz="1650" dirty="0"/>
          </a:p>
        </p:txBody>
      </p:sp>
      <p:sp>
        <p:nvSpPr>
          <p:cNvPr id="39" name="Text 10"/>
          <p:cNvSpPr/>
          <p:nvPr/>
        </p:nvSpPr>
        <p:spPr>
          <a:xfrm>
            <a:off x="1406128" y="5453063"/>
            <a:ext cx="4859536" cy="190500"/>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Exécute des macros sans avertissement</a:t>
            </a:r>
            <a:endParaRPr lang="en-US" sz="1350" dirty="0"/>
          </a:p>
        </p:txBody>
      </p:sp>
      <p:sp>
        <p:nvSpPr>
          <p:cNvPr id="40" name="Text 11"/>
          <p:cNvSpPr/>
          <p:nvPr/>
        </p:nvSpPr>
        <p:spPr>
          <a:xfrm>
            <a:off x="6817519" y="4324350"/>
            <a:ext cx="4774406"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.XLS</a:t>
            </a:r>
            <a:endParaRPr lang="en-US" sz="1500" dirty="0"/>
          </a:p>
        </p:txBody>
      </p:sp>
      <p:sp>
        <p:nvSpPr>
          <p:cNvPr id="41" name="Text 12"/>
          <p:cNvSpPr/>
          <p:nvPr/>
        </p:nvSpPr>
        <p:spPr>
          <a:xfrm>
            <a:off x="6817519" y="4591050"/>
            <a:ext cx="4774406"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Feuilles de calcul Excel, aussi vulnérables aux macros malveillantes</a:t>
            </a:r>
            <a:endParaRPr lang="en-US" sz="1650" dirty="0"/>
          </a:p>
        </p:txBody>
      </p:sp>
      <p:sp>
        <p:nvSpPr>
          <p:cNvPr id="42" name="Text 13"/>
          <p:cNvSpPr/>
          <p:nvPr/>
        </p:nvSpPr>
        <p:spPr>
          <a:xfrm>
            <a:off x="7084219" y="5295900"/>
            <a:ext cx="4145161" cy="504825"/>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Peut contenir des macros pour voler des informations</a:t>
            </a:r>
            <a:endParaRPr lang="en-US" sz="1350" dirty="0"/>
          </a:p>
        </p:txBody>
      </p:sp>
      <p:sp>
        <p:nvSpPr>
          <p:cNvPr id="43" name="Text 14"/>
          <p:cNvSpPr/>
          <p:nvPr/>
        </p:nvSpPr>
        <p:spPr>
          <a:xfrm>
            <a:off x="1159520" y="6429375"/>
            <a:ext cx="471740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.PDF</a:t>
            </a:r>
            <a:endParaRPr lang="en-US" sz="1500" dirty="0"/>
          </a:p>
        </p:txBody>
      </p:sp>
      <p:sp>
        <p:nvSpPr>
          <p:cNvPr id="44" name="Text 15"/>
          <p:cNvSpPr/>
          <p:nvPr/>
        </p:nvSpPr>
        <p:spPr>
          <a:xfrm>
            <a:off x="1159520" y="6696075"/>
            <a:ext cx="4717405"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Documents PDF, peuvent contenir des scripts malveillants</a:t>
            </a:r>
            <a:endParaRPr lang="en-US" sz="1650" dirty="0"/>
          </a:p>
        </p:txBody>
      </p:sp>
      <p:sp>
        <p:nvSpPr>
          <p:cNvPr id="45" name="Text 16"/>
          <p:cNvSpPr/>
          <p:nvPr/>
        </p:nvSpPr>
        <p:spPr>
          <a:xfrm>
            <a:off x="1426220" y="7400925"/>
            <a:ext cx="3897362" cy="504825"/>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Peut contenir des liens vers des sites malveillants</a:t>
            </a:r>
            <a:endParaRPr lang="en-US" sz="1350" dirty="0"/>
          </a:p>
        </p:txBody>
      </p:sp>
      <p:sp>
        <p:nvSpPr>
          <p:cNvPr id="46" name="Text 17"/>
          <p:cNvSpPr/>
          <p:nvPr/>
        </p:nvSpPr>
        <p:spPr>
          <a:xfrm>
            <a:off x="6791176" y="6586538"/>
            <a:ext cx="4800749"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.JPEG</a:t>
            </a:r>
            <a:endParaRPr lang="en-US" sz="1500" dirty="0"/>
          </a:p>
        </p:txBody>
      </p:sp>
      <p:sp>
        <p:nvSpPr>
          <p:cNvPr id="47" name="Text 18"/>
          <p:cNvSpPr/>
          <p:nvPr/>
        </p:nvSpPr>
        <p:spPr>
          <a:xfrm>
            <a:off x="6791176" y="6853238"/>
            <a:ext cx="4800749" cy="628650"/>
          </a:xfrm>
          <a:prstGeom prst="rect">
            <a:avLst/>
          </a:prstGeom>
          <a:noFill/>
          <a:ln/>
        </p:spPr>
        <p:txBody>
          <a:bodyPr wrap="square" lIns="0" tIns="0" rIns="0" bIns="0" rtlCol="0" anchor="t"/>
          <a:lstStyle/>
          <a:p>
            <a:pPr marL="0" indent="0">
              <a:lnSpc>
                <a:spcPts val="2475"/>
              </a:lnSpc>
              <a:buNone/>
            </a:pPr>
            <a:r>
              <a:rPr lang="en-US" sz="1650" dirty="0">
                <a:solidFill>
                  <a:srgbClr val="D1D5DB"/>
                </a:solidFill>
                <a:latin typeface="Arial" pitchFamily="34" charset="0"/>
                <a:ea typeface="Arial" pitchFamily="34" charset="-122"/>
                <a:cs typeface="Arial" pitchFamily="34" charset="-120"/>
              </a:rPr>
              <a:t>Images, généralement sûres mais parfois utilisées pour la stéganographie</a:t>
            </a:r>
            <a:endParaRPr lang="en-US" sz="1650" dirty="0"/>
          </a:p>
        </p:txBody>
      </p:sp>
      <p:sp>
        <p:nvSpPr>
          <p:cNvPr id="48" name="Text 19"/>
          <p:cNvSpPr/>
          <p:nvPr/>
        </p:nvSpPr>
        <p:spPr>
          <a:xfrm>
            <a:off x="7057876" y="7558088"/>
            <a:ext cx="5499973" cy="190500"/>
          </a:xfrm>
          <a:prstGeom prst="rect">
            <a:avLst/>
          </a:prstGeom>
          <a:noFill/>
          <a:ln/>
        </p:spPr>
        <p:txBody>
          <a:bodyPr wrap="square" lIns="0" tIns="0" rIns="0" bIns="0" rtlCol="0" anchor="t"/>
          <a:lstStyle/>
          <a:p>
            <a:pPr marL="0" indent="0">
              <a:lnSpc>
                <a:spcPts val="2025"/>
              </a:lnSpc>
              <a:buNone/>
            </a:pPr>
            <a:r>
              <a:rPr lang="en-US" sz="1350" dirty="0">
                <a:solidFill>
                  <a:srgbClr val="FF6B35"/>
                </a:solidFill>
                <a:latin typeface="Arial" pitchFamily="34" charset="0"/>
                <a:ea typeface="Arial" pitchFamily="34" charset="-122"/>
                <a:cs typeface="Arial" pitchFamily="34" charset="-120"/>
              </a:rPr>
              <a:t> RISQUE: Peut cacher des messages secrets malveillants</a:t>
            </a:r>
            <a:endParaRPr lang="en-US" sz="1350" dirty="0"/>
          </a:p>
        </p:txBody>
      </p:sp>
      <p:sp>
        <p:nvSpPr>
          <p:cNvPr id="49" name="Text 20"/>
          <p:cNvSpPr/>
          <p:nvPr/>
        </p:nvSpPr>
        <p:spPr>
          <a:xfrm>
            <a:off x="942975" y="8572500"/>
            <a:ext cx="10648950" cy="628650"/>
          </a:xfrm>
          <a:prstGeom prst="rect">
            <a:avLst/>
          </a:prstGeom>
          <a:noFill/>
          <a:ln/>
        </p:spPr>
        <p:txBody>
          <a:bodyPr wrap="square" lIns="0" tIns="0" rIns="0" bIns="0" rtlCol="0" anchor="t"/>
          <a:lstStyle/>
          <a:p>
            <a:pPr marL="0" indent="0">
              <a:lnSpc>
                <a:spcPts val="2475"/>
              </a:lnSpc>
              <a:buNone/>
            </a:pPr>
            <a:r>
              <a:rPr lang="en-US" sz="1650" b="1" dirty="0">
                <a:solidFill>
                  <a:srgbClr val="F7FFF7"/>
                </a:solidFill>
                <a:latin typeface="Arial" pitchFamily="34" charset="0"/>
                <a:ea typeface="Arial" pitchFamily="34" charset="-122"/>
                <a:cs typeface="Arial" pitchFamily="34" charset="-120"/>
              </a:rPr>
              <a:t>Important:</a:t>
            </a:r>
            <a:r>
              <a:rPr lang="en-US" sz="1650" dirty="0">
                <a:solidFill>
                  <a:srgbClr val="F7FFF7"/>
                </a:solidFill>
                <a:latin typeface="Arial" pitchFamily="34" charset="0"/>
                <a:ea typeface="Arial" pitchFamily="34" charset="-122"/>
                <a:cs typeface="Arial" pitchFamily="34" charset="-120"/>
              </a:rPr>
              <a:t> Même les fichiers les plus inoffensifs peuvent être utilisés par les attaquants. Toujours vérifier l'expéditeur et le contenu du fichier avant de l'ouvrir.</a:t>
            </a:r>
            <a:endParaRPr lang="en-US" sz="1650" dirty="0"/>
          </a:p>
        </p:txBody>
      </p:sp>
      <p:sp>
        <p:nvSpPr>
          <p:cNvPr id="50" name="Text 21"/>
          <p:cNvSpPr/>
          <p:nvPr/>
        </p:nvSpPr>
        <p:spPr>
          <a:xfrm>
            <a:off x="457200" y="9382125"/>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914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1371600"/>
            <a:ext cx="11277600" cy="1295400"/>
          </a:xfrm>
          <a:prstGeom prst="rect">
            <a:avLst/>
          </a:prstGeom>
        </p:spPr>
      </p:pic>
      <p:pic>
        <p:nvPicPr>
          <p:cNvPr id="5" name="Image 3" descr="preencoded.png"/>
          <p:cNvPicPr>
            <a:picLocks noChangeAspect="1"/>
          </p:cNvPicPr>
          <p:nvPr/>
        </p:nvPicPr>
        <p:blipFill>
          <a:blip r:embed="rId6"/>
          <a:stretch>
            <a:fillRect/>
          </a:stretch>
        </p:blipFill>
        <p:spPr>
          <a:xfrm>
            <a:off x="647700" y="1638300"/>
            <a:ext cx="692944" cy="762000"/>
          </a:xfrm>
          <a:prstGeom prst="rect">
            <a:avLst/>
          </a:prstGeom>
        </p:spPr>
      </p:pic>
      <p:pic>
        <p:nvPicPr>
          <p:cNvPr id="6" name="Image 4" descr="preencoded.png"/>
          <p:cNvPicPr>
            <a:picLocks noChangeAspect="1"/>
          </p:cNvPicPr>
          <p:nvPr/>
        </p:nvPicPr>
        <p:blipFill>
          <a:blip r:embed="rId7"/>
          <a:stretch>
            <a:fillRect/>
          </a:stretch>
        </p:blipFill>
        <p:spPr>
          <a:xfrm>
            <a:off x="875109" y="1828800"/>
            <a:ext cx="238125" cy="381000"/>
          </a:xfrm>
          <a:prstGeom prst="rect">
            <a:avLst/>
          </a:prstGeom>
        </p:spPr>
      </p:pic>
      <p:pic>
        <p:nvPicPr>
          <p:cNvPr id="7" name="Image 5" descr="preencoded.png"/>
          <p:cNvPicPr>
            <a:picLocks noChangeAspect="1"/>
          </p:cNvPicPr>
          <p:nvPr/>
        </p:nvPicPr>
        <p:blipFill>
          <a:blip r:embed="rId5"/>
          <a:stretch>
            <a:fillRect/>
          </a:stretch>
        </p:blipFill>
        <p:spPr>
          <a:xfrm>
            <a:off x="457200" y="2857500"/>
            <a:ext cx="11277600" cy="1295400"/>
          </a:xfrm>
          <a:prstGeom prst="rect">
            <a:avLst/>
          </a:prstGeom>
        </p:spPr>
      </p:pic>
      <p:pic>
        <p:nvPicPr>
          <p:cNvPr id="8" name="Image 6" descr="preencoded.png"/>
          <p:cNvPicPr>
            <a:picLocks noChangeAspect="1"/>
          </p:cNvPicPr>
          <p:nvPr/>
        </p:nvPicPr>
        <p:blipFill>
          <a:blip r:embed="rId8"/>
          <a:stretch>
            <a:fillRect/>
          </a:stretch>
        </p:blipFill>
        <p:spPr>
          <a:xfrm>
            <a:off x="647700" y="3124200"/>
            <a:ext cx="659904" cy="762000"/>
          </a:xfrm>
          <a:prstGeom prst="rect">
            <a:avLst/>
          </a:prstGeom>
        </p:spPr>
      </p:pic>
      <p:pic>
        <p:nvPicPr>
          <p:cNvPr id="9" name="Image 7" descr="preencoded.png"/>
          <p:cNvPicPr>
            <a:picLocks noChangeAspect="1"/>
          </p:cNvPicPr>
          <p:nvPr/>
        </p:nvPicPr>
        <p:blipFill>
          <a:blip r:embed="rId9"/>
          <a:stretch>
            <a:fillRect/>
          </a:stretch>
        </p:blipFill>
        <p:spPr>
          <a:xfrm>
            <a:off x="787152" y="3314700"/>
            <a:ext cx="381000" cy="381000"/>
          </a:xfrm>
          <a:prstGeom prst="rect">
            <a:avLst/>
          </a:prstGeom>
        </p:spPr>
      </p:pic>
      <p:pic>
        <p:nvPicPr>
          <p:cNvPr id="10" name="Image 8" descr="preencoded.png"/>
          <p:cNvPicPr>
            <a:picLocks noChangeAspect="1"/>
          </p:cNvPicPr>
          <p:nvPr/>
        </p:nvPicPr>
        <p:blipFill>
          <a:blip r:embed="rId5"/>
          <a:stretch>
            <a:fillRect/>
          </a:stretch>
        </p:blipFill>
        <p:spPr>
          <a:xfrm>
            <a:off x="457200" y="4343400"/>
            <a:ext cx="11277600" cy="1295400"/>
          </a:xfrm>
          <a:prstGeom prst="rect">
            <a:avLst/>
          </a:prstGeom>
        </p:spPr>
      </p:pic>
      <p:pic>
        <p:nvPicPr>
          <p:cNvPr id="11" name="Image 9" descr="preencoded.png"/>
          <p:cNvPicPr>
            <a:picLocks noChangeAspect="1"/>
          </p:cNvPicPr>
          <p:nvPr/>
        </p:nvPicPr>
        <p:blipFill>
          <a:blip r:embed="rId10"/>
          <a:stretch>
            <a:fillRect/>
          </a:stretch>
        </p:blipFill>
        <p:spPr>
          <a:xfrm>
            <a:off x="647700" y="4610100"/>
            <a:ext cx="681335" cy="762000"/>
          </a:xfrm>
          <a:prstGeom prst="rect">
            <a:avLst/>
          </a:prstGeom>
        </p:spPr>
      </p:pic>
      <p:pic>
        <p:nvPicPr>
          <p:cNvPr id="12" name="Image 10" descr="preencoded.png"/>
          <p:cNvPicPr>
            <a:picLocks noChangeAspect="1"/>
          </p:cNvPicPr>
          <p:nvPr/>
        </p:nvPicPr>
        <p:blipFill>
          <a:blip r:embed="rId11"/>
          <a:stretch>
            <a:fillRect/>
          </a:stretch>
        </p:blipFill>
        <p:spPr>
          <a:xfrm>
            <a:off x="797868" y="4800600"/>
            <a:ext cx="381000" cy="381000"/>
          </a:xfrm>
          <a:prstGeom prst="rect">
            <a:avLst/>
          </a:prstGeom>
        </p:spPr>
      </p:pic>
      <p:pic>
        <p:nvPicPr>
          <p:cNvPr id="13" name="Image 11" descr="preencoded.png"/>
          <p:cNvPicPr>
            <a:picLocks noChangeAspect="1"/>
          </p:cNvPicPr>
          <p:nvPr/>
        </p:nvPicPr>
        <p:blipFill>
          <a:blip r:embed="rId12"/>
          <a:stretch>
            <a:fillRect/>
          </a:stretch>
        </p:blipFill>
        <p:spPr>
          <a:xfrm>
            <a:off x="457200" y="5924550"/>
            <a:ext cx="11277600" cy="628650"/>
          </a:xfrm>
          <a:prstGeom prst="rect">
            <a:avLst/>
          </a:prstGeom>
        </p:spPr>
      </p:pic>
      <p:pic>
        <p:nvPicPr>
          <p:cNvPr id="14" name="Image 12" descr="preencoded.png"/>
          <p:cNvPicPr>
            <a:picLocks noChangeAspect="1"/>
          </p:cNvPicPr>
          <p:nvPr/>
        </p:nvPicPr>
        <p:blipFill>
          <a:blip r:embed="rId13"/>
          <a:stretch>
            <a:fillRect/>
          </a:stretch>
        </p:blipFill>
        <p:spPr>
          <a:xfrm>
            <a:off x="600075" y="6067425"/>
            <a:ext cx="285750" cy="342900"/>
          </a:xfrm>
          <a:prstGeom prst="rect">
            <a:avLst/>
          </a:prstGeom>
        </p:spPr>
      </p:pic>
      <p:sp>
        <p:nvSpPr>
          <p:cNvPr id="15"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Que Faire si Vous Identifiez un Email de Phishing?</a:t>
            </a:r>
            <a:endParaRPr lang="en-US" sz="2700" dirty="0"/>
          </a:p>
        </p:txBody>
      </p:sp>
      <p:sp>
        <p:nvSpPr>
          <p:cNvPr id="16" name="Text 1"/>
          <p:cNvSpPr/>
          <p:nvPr/>
        </p:nvSpPr>
        <p:spPr>
          <a:xfrm>
            <a:off x="1569244" y="1562100"/>
            <a:ext cx="11970068" cy="304800"/>
          </a:xfrm>
          <a:prstGeom prst="rect">
            <a:avLst/>
          </a:prstGeom>
          <a:noFill/>
          <a:ln/>
        </p:spPr>
        <p:txBody>
          <a:bodyPr wrap="square" lIns="0" tIns="0" rIns="0" bIns="0" rtlCol="0" anchor="t"/>
          <a:lstStyle/>
          <a:p>
            <a:pPr marL="0" indent="0">
              <a:lnSpc>
                <a:spcPts val="2400"/>
              </a:lnSpc>
              <a:buNone/>
            </a:pPr>
            <a:r>
              <a:rPr lang="en-US" sz="1800" b="1" dirty="0">
                <a:solidFill>
                  <a:srgbClr val="F7FFF7"/>
                </a:solidFill>
                <a:latin typeface="Arial" pitchFamily="34" charset="0"/>
                <a:ea typeface="Arial" pitchFamily="34" charset="-122"/>
                <a:cs typeface="Arial" pitchFamily="34" charset="-120"/>
              </a:rPr>
              <a:t>Ne cliquez sur aucun lien ni sur aucun fichier joint</a:t>
            </a:r>
            <a:endParaRPr lang="en-US" sz="1800" dirty="0"/>
          </a:p>
        </p:txBody>
      </p:sp>
      <p:sp>
        <p:nvSpPr>
          <p:cNvPr id="17" name="Text 2"/>
          <p:cNvSpPr/>
          <p:nvPr/>
        </p:nvSpPr>
        <p:spPr>
          <a:xfrm>
            <a:off x="1569244" y="1943100"/>
            <a:ext cx="9975056" cy="533400"/>
          </a:xfrm>
          <a:prstGeom prst="rect">
            <a:avLst/>
          </a:prstGeom>
          <a:noFill/>
          <a:ln/>
        </p:spPr>
        <p:txBody>
          <a:bodyPr wrap="square" lIns="0" tIns="0" rIns="0" bIns="0" rtlCol="0" anchor="t"/>
          <a:lstStyle/>
          <a:p>
            <a:pPr marL="0" indent="0">
              <a:lnSpc>
                <a:spcPts val="2100"/>
              </a:lnSpc>
              <a:buNone/>
            </a:pPr>
            <a:r>
              <a:rPr lang="en-US" sz="1500" dirty="0">
                <a:solidFill>
                  <a:srgbClr val="F7FFF7"/>
                </a:solidFill>
                <a:latin typeface="Arial" pitchFamily="34" charset="0"/>
                <a:ea typeface="Arial" pitchFamily="34" charset="-122"/>
                <a:cs typeface="Arial" pitchFamily="34" charset="-120"/>
              </a:rPr>
              <a:t>Suspendez votre curseur sur les liens pour vérifier où ils mènent réellement. N'ouvrez jamais de pièces jointes d'un email suspect.</a:t>
            </a:r>
            <a:endParaRPr lang="en-US" sz="1500" dirty="0"/>
          </a:p>
        </p:txBody>
      </p:sp>
      <p:sp>
        <p:nvSpPr>
          <p:cNvPr id="18" name="Text 3"/>
          <p:cNvSpPr/>
          <p:nvPr/>
        </p:nvSpPr>
        <p:spPr>
          <a:xfrm>
            <a:off x="1536204" y="3048000"/>
            <a:ext cx="10008096" cy="304800"/>
          </a:xfrm>
          <a:prstGeom prst="rect">
            <a:avLst/>
          </a:prstGeom>
          <a:noFill/>
          <a:ln/>
        </p:spPr>
        <p:txBody>
          <a:bodyPr wrap="square" lIns="0" tIns="0" rIns="0" bIns="0" rtlCol="0" anchor="t"/>
          <a:lstStyle/>
          <a:p>
            <a:pPr marL="0" indent="0">
              <a:lnSpc>
                <a:spcPts val="2400"/>
              </a:lnSpc>
              <a:buNone/>
            </a:pPr>
            <a:r>
              <a:rPr lang="en-US" sz="1800" b="1" dirty="0">
                <a:solidFill>
                  <a:srgbClr val="F7FFF7"/>
                </a:solidFill>
                <a:latin typeface="Arial" pitchFamily="34" charset="0"/>
                <a:ea typeface="Arial" pitchFamily="34" charset="-122"/>
                <a:cs typeface="Arial" pitchFamily="34" charset="-120"/>
              </a:rPr>
              <a:t>Ne répondez pas à l'email</a:t>
            </a:r>
            <a:endParaRPr lang="en-US" sz="1800" dirty="0"/>
          </a:p>
        </p:txBody>
      </p:sp>
      <p:sp>
        <p:nvSpPr>
          <p:cNvPr id="19" name="Text 4"/>
          <p:cNvSpPr/>
          <p:nvPr/>
        </p:nvSpPr>
        <p:spPr>
          <a:xfrm>
            <a:off x="1536204" y="3429000"/>
            <a:ext cx="10008096" cy="533400"/>
          </a:xfrm>
          <a:prstGeom prst="rect">
            <a:avLst/>
          </a:prstGeom>
          <a:noFill/>
          <a:ln/>
        </p:spPr>
        <p:txBody>
          <a:bodyPr wrap="square" lIns="0" tIns="0" rIns="0" bIns="0" rtlCol="0" anchor="t"/>
          <a:lstStyle/>
          <a:p>
            <a:pPr marL="0" indent="0">
              <a:lnSpc>
                <a:spcPts val="2100"/>
              </a:lnSpc>
              <a:buNone/>
            </a:pPr>
            <a:r>
              <a:rPr lang="en-US" sz="1500" dirty="0">
                <a:solidFill>
                  <a:srgbClr val="F7FFF7"/>
                </a:solidFill>
                <a:latin typeface="Arial" pitchFamily="34" charset="0"/>
                <a:ea typeface="Arial" pitchFamily="34" charset="-122"/>
                <a:cs typeface="Arial" pitchFamily="34" charset="-120"/>
              </a:rPr>
              <a:t>Les cybercriminels utilisent souvent des adresses email factices. Votre réponse pourrait être utilisée pour confirmer que l'email est valide.</a:t>
            </a:r>
            <a:endParaRPr lang="en-US" sz="1500" dirty="0"/>
          </a:p>
        </p:txBody>
      </p:sp>
      <p:sp>
        <p:nvSpPr>
          <p:cNvPr id="20" name="Text 5"/>
          <p:cNvSpPr/>
          <p:nvPr/>
        </p:nvSpPr>
        <p:spPr>
          <a:xfrm>
            <a:off x="1557635" y="4533900"/>
            <a:ext cx="11983998" cy="304800"/>
          </a:xfrm>
          <a:prstGeom prst="rect">
            <a:avLst/>
          </a:prstGeom>
          <a:noFill/>
          <a:ln/>
        </p:spPr>
        <p:txBody>
          <a:bodyPr wrap="square" lIns="0" tIns="0" rIns="0" bIns="0" rtlCol="0" anchor="t"/>
          <a:lstStyle/>
          <a:p>
            <a:pPr marL="0" indent="0">
              <a:lnSpc>
                <a:spcPts val="2400"/>
              </a:lnSpc>
              <a:buNone/>
            </a:pPr>
            <a:r>
              <a:rPr lang="en-US" sz="1800" b="1" dirty="0">
                <a:solidFill>
                  <a:srgbClr val="F7FFF7"/>
                </a:solidFill>
                <a:latin typeface="Arial" pitchFamily="34" charset="0"/>
                <a:ea typeface="Arial" pitchFamily="34" charset="-122"/>
                <a:cs typeface="Arial" pitchFamily="34" charset="-120"/>
              </a:rPr>
              <a:t>Signalez immédiatement au service informatique</a:t>
            </a:r>
            <a:endParaRPr lang="en-US" sz="1800" dirty="0"/>
          </a:p>
        </p:txBody>
      </p:sp>
      <p:sp>
        <p:nvSpPr>
          <p:cNvPr id="21" name="Text 6"/>
          <p:cNvSpPr/>
          <p:nvPr/>
        </p:nvSpPr>
        <p:spPr>
          <a:xfrm>
            <a:off x="1557635" y="4914900"/>
            <a:ext cx="9986665" cy="533400"/>
          </a:xfrm>
          <a:prstGeom prst="rect">
            <a:avLst/>
          </a:prstGeom>
          <a:noFill/>
          <a:ln/>
        </p:spPr>
        <p:txBody>
          <a:bodyPr wrap="square" lIns="0" tIns="0" rIns="0" bIns="0" rtlCol="0" anchor="t"/>
          <a:lstStyle/>
          <a:p>
            <a:pPr marL="0" indent="0">
              <a:lnSpc>
                <a:spcPts val="2100"/>
              </a:lnSpc>
              <a:buNone/>
            </a:pPr>
            <a:r>
              <a:rPr lang="en-US" sz="1500" dirty="0">
                <a:solidFill>
                  <a:srgbClr val="F7FFF7"/>
                </a:solidFill>
                <a:latin typeface="Arial" pitchFamily="34" charset="0"/>
                <a:ea typeface="Arial" pitchFamily="34" charset="-122"/>
                <a:cs typeface="Arial" pitchFamily="34" charset="-120"/>
              </a:rPr>
              <a:t>Fournissez toutes les informations possibles sur l'email, y compris les adresses email de l'expéditeur, le sujet et la date de réception.</a:t>
            </a:r>
            <a:endParaRPr lang="en-US" sz="1500" dirty="0"/>
          </a:p>
        </p:txBody>
      </p:sp>
      <p:sp>
        <p:nvSpPr>
          <p:cNvPr id="22" name="Text 7"/>
          <p:cNvSpPr/>
          <p:nvPr/>
        </p:nvSpPr>
        <p:spPr>
          <a:xfrm>
            <a:off x="1038225" y="6105525"/>
            <a:ext cx="10088404"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Important:</a:t>
            </a:r>
            <a:r>
              <a:rPr lang="en-US" sz="1500" dirty="0">
                <a:solidFill>
                  <a:srgbClr val="F7FFF7"/>
                </a:solidFill>
                <a:latin typeface="Arial" pitchFamily="34" charset="0"/>
                <a:ea typeface="Arial" pitchFamily="34" charset="-122"/>
                <a:cs typeface="Arial" pitchFamily="34" charset="-120"/>
              </a:rPr>
              <a:t> Ne pas nous le cacher. La rapidité est cruciale pour minimiser les dommages potentiels.</a:t>
            </a:r>
            <a:endParaRPr lang="en-US" sz="1500" dirty="0"/>
          </a:p>
        </p:txBody>
      </p:sp>
      <p:sp>
        <p:nvSpPr>
          <p:cNvPr id="23" name="Text 8"/>
          <p:cNvSpPr/>
          <p:nvPr/>
        </p:nvSpPr>
        <p:spPr>
          <a:xfrm>
            <a:off x="457200" y="67437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21995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541091"/>
            <a:ext cx="11277600" cy="1143000"/>
          </a:xfrm>
          <a:prstGeom prst="rect">
            <a:avLst/>
          </a:prstGeom>
        </p:spPr>
      </p:pic>
      <p:pic>
        <p:nvPicPr>
          <p:cNvPr id="5" name="Image 3" descr="preencoded.png"/>
          <p:cNvPicPr>
            <a:picLocks noChangeAspect="1"/>
          </p:cNvPicPr>
          <p:nvPr/>
        </p:nvPicPr>
        <p:blipFill>
          <a:blip r:embed="rId6"/>
          <a:stretch>
            <a:fillRect/>
          </a:stretch>
        </p:blipFill>
        <p:spPr>
          <a:xfrm>
            <a:off x="647700" y="2731591"/>
            <a:ext cx="342900" cy="381000"/>
          </a:xfrm>
          <a:prstGeom prst="rect">
            <a:avLst/>
          </a:prstGeom>
        </p:spPr>
      </p:pic>
      <p:pic>
        <p:nvPicPr>
          <p:cNvPr id="6" name="Image 4" descr="preencoded.png"/>
          <p:cNvPicPr>
            <a:picLocks noChangeAspect="1"/>
          </p:cNvPicPr>
          <p:nvPr/>
        </p:nvPicPr>
        <p:blipFill>
          <a:blip r:embed="rId7"/>
          <a:stretch>
            <a:fillRect/>
          </a:stretch>
        </p:blipFill>
        <p:spPr>
          <a:xfrm>
            <a:off x="457200" y="4065091"/>
            <a:ext cx="3383161" cy="2466975"/>
          </a:xfrm>
          <a:prstGeom prst="rect">
            <a:avLst/>
          </a:prstGeom>
        </p:spPr>
      </p:pic>
      <p:pic>
        <p:nvPicPr>
          <p:cNvPr id="7" name="Image 5" descr="preencoded.png"/>
          <p:cNvPicPr>
            <a:picLocks noChangeAspect="1"/>
          </p:cNvPicPr>
          <p:nvPr/>
        </p:nvPicPr>
        <p:blipFill>
          <a:blip r:embed="rId8"/>
          <a:stretch>
            <a:fillRect/>
          </a:stretch>
        </p:blipFill>
        <p:spPr>
          <a:xfrm>
            <a:off x="1958280" y="4255591"/>
            <a:ext cx="381000" cy="381000"/>
          </a:xfrm>
          <a:prstGeom prst="rect">
            <a:avLst/>
          </a:prstGeom>
        </p:spPr>
      </p:pic>
      <p:pic>
        <p:nvPicPr>
          <p:cNvPr id="8" name="Image 6" descr="preencoded.png"/>
          <p:cNvPicPr>
            <a:picLocks noChangeAspect="1"/>
          </p:cNvPicPr>
          <p:nvPr/>
        </p:nvPicPr>
        <p:blipFill>
          <a:blip r:embed="rId9"/>
          <a:stretch>
            <a:fillRect/>
          </a:stretch>
        </p:blipFill>
        <p:spPr>
          <a:xfrm>
            <a:off x="1996380" y="4779466"/>
            <a:ext cx="304800" cy="381000"/>
          </a:xfrm>
          <a:prstGeom prst="rect">
            <a:avLst/>
          </a:prstGeom>
        </p:spPr>
      </p:pic>
      <p:pic>
        <p:nvPicPr>
          <p:cNvPr id="9" name="Image 7" descr="preencoded.png"/>
          <p:cNvPicPr>
            <a:picLocks noChangeAspect="1"/>
          </p:cNvPicPr>
          <p:nvPr/>
        </p:nvPicPr>
        <p:blipFill>
          <a:blip r:embed="rId10"/>
          <a:stretch>
            <a:fillRect/>
          </a:stretch>
        </p:blipFill>
        <p:spPr>
          <a:xfrm>
            <a:off x="4404420" y="4065091"/>
            <a:ext cx="3383161" cy="2466975"/>
          </a:xfrm>
          <a:prstGeom prst="rect">
            <a:avLst/>
          </a:prstGeom>
        </p:spPr>
      </p:pic>
      <p:pic>
        <p:nvPicPr>
          <p:cNvPr id="10" name="Image 8" descr="preencoded.png"/>
          <p:cNvPicPr>
            <a:picLocks noChangeAspect="1"/>
          </p:cNvPicPr>
          <p:nvPr/>
        </p:nvPicPr>
        <p:blipFill>
          <a:blip r:embed="rId11"/>
          <a:stretch>
            <a:fillRect/>
          </a:stretch>
        </p:blipFill>
        <p:spPr>
          <a:xfrm>
            <a:off x="5905500" y="4255591"/>
            <a:ext cx="381000" cy="381000"/>
          </a:xfrm>
          <a:prstGeom prst="rect">
            <a:avLst/>
          </a:prstGeom>
        </p:spPr>
      </p:pic>
      <p:pic>
        <p:nvPicPr>
          <p:cNvPr id="11" name="Image 9" descr="preencoded.png"/>
          <p:cNvPicPr>
            <a:picLocks noChangeAspect="1"/>
          </p:cNvPicPr>
          <p:nvPr/>
        </p:nvPicPr>
        <p:blipFill>
          <a:blip r:embed="rId12"/>
          <a:stretch>
            <a:fillRect/>
          </a:stretch>
        </p:blipFill>
        <p:spPr>
          <a:xfrm>
            <a:off x="5924550" y="4779466"/>
            <a:ext cx="342900" cy="381000"/>
          </a:xfrm>
          <a:prstGeom prst="rect">
            <a:avLst/>
          </a:prstGeom>
        </p:spPr>
      </p:pic>
      <p:pic>
        <p:nvPicPr>
          <p:cNvPr id="12" name="Image 10" descr="preencoded.png"/>
          <p:cNvPicPr>
            <a:picLocks noChangeAspect="1"/>
          </p:cNvPicPr>
          <p:nvPr/>
        </p:nvPicPr>
        <p:blipFill>
          <a:blip r:embed="rId13"/>
          <a:stretch>
            <a:fillRect/>
          </a:stretch>
        </p:blipFill>
        <p:spPr>
          <a:xfrm>
            <a:off x="8351639" y="4065091"/>
            <a:ext cx="3383161" cy="2466975"/>
          </a:xfrm>
          <a:prstGeom prst="rect">
            <a:avLst/>
          </a:prstGeom>
        </p:spPr>
      </p:pic>
      <p:pic>
        <p:nvPicPr>
          <p:cNvPr id="13" name="Image 11" descr="preencoded.png"/>
          <p:cNvPicPr>
            <a:picLocks noChangeAspect="1"/>
          </p:cNvPicPr>
          <p:nvPr/>
        </p:nvPicPr>
        <p:blipFill>
          <a:blip r:embed="rId14"/>
          <a:stretch>
            <a:fillRect/>
          </a:stretch>
        </p:blipFill>
        <p:spPr>
          <a:xfrm>
            <a:off x="9852720" y="4255591"/>
            <a:ext cx="381000" cy="381000"/>
          </a:xfrm>
          <a:prstGeom prst="rect">
            <a:avLst/>
          </a:prstGeom>
        </p:spPr>
      </p:pic>
      <p:pic>
        <p:nvPicPr>
          <p:cNvPr id="14" name="Image 12" descr="preencoded.png"/>
          <p:cNvPicPr>
            <a:picLocks noChangeAspect="1"/>
          </p:cNvPicPr>
          <p:nvPr/>
        </p:nvPicPr>
        <p:blipFill>
          <a:blip r:embed="rId15"/>
          <a:stretch>
            <a:fillRect/>
          </a:stretch>
        </p:blipFill>
        <p:spPr>
          <a:xfrm>
            <a:off x="9871770" y="4779466"/>
            <a:ext cx="342900" cy="381000"/>
          </a:xfrm>
          <a:prstGeom prst="rect">
            <a:avLst/>
          </a:prstGeom>
        </p:spPr>
      </p:pic>
      <p:sp>
        <p:nvSpPr>
          <p:cNvPr id="15"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Et Si J'ai Déjà Cliqué ?</a:t>
            </a:r>
            <a:endParaRPr lang="en-US" sz="2700" dirty="0"/>
          </a:p>
        </p:txBody>
      </p:sp>
      <p:sp>
        <p:nvSpPr>
          <p:cNvPr id="16" name="Text 1"/>
          <p:cNvSpPr/>
          <p:nvPr/>
        </p:nvSpPr>
        <p:spPr>
          <a:xfrm>
            <a:off x="457200" y="1371600"/>
            <a:ext cx="112776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Si vous avez cliqué sur un lien de phishing ou si des informations sensibles ont été demandées, agissez immédiatement pour minimiser les dommages.</a:t>
            </a:r>
            <a:endParaRPr lang="en-US" sz="1800" dirty="0"/>
          </a:p>
        </p:txBody>
      </p:sp>
      <p:sp>
        <p:nvSpPr>
          <p:cNvPr id="17" name="Text 2"/>
          <p:cNvSpPr/>
          <p:nvPr/>
        </p:nvSpPr>
        <p:spPr>
          <a:xfrm>
            <a:off x="1143000" y="2788741"/>
            <a:ext cx="2553712"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Ne pas nous le cacher !</a:t>
            </a:r>
            <a:endParaRPr lang="en-US" sz="1500" dirty="0"/>
          </a:p>
        </p:txBody>
      </p:sp>
      <p:sp>
        <p:nvSpPr>
          <p:cNvPr id="18" name="Text 3"/>
          <p:cNvSpPr/>
          <p:nvPr/>
        </p:nvSpPr>
        <p:spPr>
          <a:xfrm>
            <a:off x="647700" y="3226891"/>
            <a:ext cx="13075920" cy="266700"/>
          </a:xfrm>
          <a:prstGeom prst="rect">
            <a:avLst/>
          </a:prstGeom>
          <a:noFill/>
          <a:ln/>
        </p:spPr>
        <p:txBody>
          <a:bodyPr wrap="square" lIns="0" tIns="0" rIns="0" bIns="0" rtlCol="0" anchor="t"/>
          <a:lstStyle/>
          <a:p>
            <a:pPr marL="0" indent="0">
              <a:lnSpc>
                <a:spcPts val="2100"/>
              </a:lnSpc>
              <a:buNone/>
            </a:pPr>
            <a:r>
              <a:rPr lang="en-US" sz="1350" dirty="0">
                <a:solidFill>
                  <a:srgbClr val="F7FFF7"/>
                </a:solidFill>
                <a:latin typeface="Arial" pitchFamily="34" charset="0"/>
                <a:ea typeface="Arial" pitchFamily="34" charset="-122"/>
                <a:cs typeface="Arial" pitchFamily="34" charset="-120"/>
              </a:rPr>
              <a:t>La rapidité est cruciale pour limiter les dommages. Chaque minute d'attente peut entraîner des conséquences plus graves.</a:t>
            </a:r>
            <a:endParaRPr lang="en-US" sz="1350" dirty="0"/>
          </a:p>
        </p:txBody>
      </p:sp>
      <p:sp>
        <p:nvSpPr>
          <p:cNvPr id="19" name="Text 4"/>
          <p:cNvSpPr/>
          <p:nvPr/>
        </p:nvSpPr>
        <p:spPr>
          <a:xfrm>
            <a:off x="2095798" y="4255591"/>
            <a:ext cx="381000" cy="381000"/>
          </a:xfrm>
          <a:prstGeom prst="rect">
            <a:avLst/>
          </a:prstGeom>
          <a:noFill/>
          <a:ln/>
        </p:spPr>
        <p:txBody>
          <a:bodyPr wrap="square" lIns="0" tIns="0" rIns="0" bIns="0" rtlCol="0" anchor="t"/>
          <a:lstStyle/>
          <a:p>
            <a:pPr marL="0" indent="0">
              <a:lnSpc>
                <a:spcPts val="2250"/>
              </a:lnSpc>
              <a:buNone/>
            </a:pPr>
            <a:r>
              <a:rPr lang="en-US" sz="1500" b="1" dirty="0">
                <a:solidFill>
                  <a:srgbClr val="2C2C2C"/>
                </a:solidFill>
                <a:latin typeface="Arial" pitchFamily="34" charset="0"/>
                <a:ea typeface="Arial" pitchFamily="34" charset="-122"/>
                <a:cs typeface="Arial" pitchFamily="34" charset="-120"/>
              </a:rPr>
              <a:t>1</a:t>
            </a:r>
            <a:endParaRPr lang="en-US" sz="1500" dirty="0"/>
          </a:p>
        </p:txBody>
      </p:sp>
      <p:sp>
        <p:nvSpPr>
          <p:cNvPr id="20" name="Text 5"/>
          <p:cNvSpPr/>
          <p:nvPr/>
        </p:nvSpPr>
        <p:spPr>
          <a:xfrm>
            <a:off x="1047750" y="5312866"/>
            <a:ext cx="2642473"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Signaler Immédiatement</a:t>
            </a:r>
            <a:endParaRPr lang="en-US" sz="1500" dirty="0"/>
          </a:p>
        </p:txBody>
      </p:sp>
      <p:sp>
        <p:nvSpPr>
          <p:cNvPr id="21" name="Text 6"/>
          <p:cNvSpPr/>
          <p:nvPr/>
        </p:nvSpPr>
        <p:spPr>
          <a:xfrm>
            <a:off x="647700" y="5655766"/>
            <a:ext cx="3002161"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Informe sans délai le service informatique de votre entreprise</a:t>
            </a:r>
            <a:endParaRPr lang="en-US" sz="1200" dirty="0"/>
          </a:p>
        </p:txBody>
      </p:sp>
      <p:sp>
        <p:nvSpPr>
          <p:cNvPr id="22" name="Text 7"/>
          <p:cNvSpPr/>
          <p:nvPr/>
        </p:nvSpPr>
        <p:spPr>
          <a:xfrm>
            <a:off x="6043017" y="4255591"/>
            <a:ext cx="381000" cy="381000"/>
          </a:xfrm>
          <a:prstGeom prst="rect">
            <a:avLst/>
          </a:prstGeom>
          <a:noFill/>
          <a:ln/>
        </p:spPr>
        <p:txBody>
          <a:bodyPr wrap="square" lIns="0" tIns="0" rIns="0" bIns="0" rtlCol="0" anchor="t"/>
          <a:lstStyle/>
          <a:p>
            <a:pPr marL="0" indent="0">
              <a:lnSpc>
                <a:spcPts val="2250"/>
              </a:lnSpc>
              <a:buNone/>
            </a:pPr>
            <a:r>
              <a:rPr lang="en-US" sz="1500" b="1" dirty="0">
                <a:solidFill>
                  <a:srgbClr val="2C2C2C"/>
                </a:solidFill>
                <a:latin typeface="Arial" pitchFamily="34" charset="0"/>
                <a:ea typeface="Arial" pitchFamily="34" charset="-122"/>
                <a:cs typeface="Arial" pitchFamily="34" charset="-120"/>
              </a:rPr>
              <a:t>2</a:t>
            </a:r>
            <a:endParaRPr lang="en-US" sz="1500" dirty="0"/>
          </a:p>
        </p:txBody>
      </p:sp>
      <p:sp>
        <p:nvSpPr>
          <p:cNvPr id="23" name="Text 8"/>
          <p:cNvSpPr/>
          <p:nvPr/>
        </p:nvSpPr>
        <p:spPr>
          <a:xfrm>
            <a:off x="4942136" y="5312866"/>
            <a:ext cx="2769275"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Donnez toutes les Détails</a:t>
            </a:r>
            <a:endParaRPr lang="en-US" sz="1500" dirty="0"/>
          </a:p>
        </p:txBody>
      </p:sp>
      <p:sp>
        <p:nvSpPr>
          <p:cNvPr id="24" name="Text 9"/>
          <p:cNvSpPr/>
          <p:nvPr/>
        </p:nvSpPr>
        <p:spPr>
          <a:xfrm>
            <a:off x="4594920" y="5655766"/>
            <a:ext cx="3002161" cy="6858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Mentionnez spécifiquement que vous avez cliqué sur le lien ou divulgué des informations</a:t>
            </a:r>
            <a:endParaRPr lang="en-US" sz="1200" dirty="0"/>
          </a:p>
        </p:txBody>
      </p:sp>
      <p:sp>
        <p:nvSpPr>
          <p:cNvPr id="25" name="Text 10"/>
          <p:cNvSpPr/>
          <p:nvPr/>
        </p:nvSpPr>
        <p:spPr>
          <a:xfrm>
            <a:off x="9990237" y="4255591"/>
            <a:ext cx="381000" cy="381000"/>
          </a:xfrm>
          <a:prstGeom prst="rect">
            <a:avLst/>
          </a:prstGeom>
          <a:noFill/>
          <a:ln/>
        </p:spPr>
        <p:txBody>
          <a:bodyPr wrap="square" lIns="0" tIns="0" rIns="0" bIns="0" rtlCol="0" anchor="t"/>
          <a:lstStyle/>
          <a:p>
            <a:pPr marL="0" indent="0">
              <a:lnSpc>
                <a:spcPts val="2250"/>
              </a:lnSpc>
              <a:buNone/>
            </a:pPr>
            <a:r>
              <a:rPr lang="en-US" sz="1500" b="1" dirty="0">
                <a:solidFill>
                  <a:srgbClr val="2C2C2C"/>
                </a:solidFill>
                <a:latin typeface="Arial" pitchFamily="34" charset="0"/>
                <a:ea typeface="Arial" pitchFamily="34" charset="-122"/>
                <a:cs typeface="Arial" pitchFamily="34" charset="-120"/>
              </a:rPr>
              <a:t>3</a:t>
            </a:r>
            <a:endParaRPr lang="en-US" sz="1500" dirty="0"/>
          </a:p>
        </p:txBody>
      </p:sp>
      <p:sp>
        <p:nvSpPr>
          <p:cNvPr id="26" name="Text 11"/>
          <p:cNvSpPr/>
          <p:nvPr/>
        </p:nvSpPr>
        <p:spPr>
          <a:xfrm>
            <a:off x="9010948" y="5312866"/>
            <a:ext cx="2477274"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Suivez les Instructions</a:t>
            </a:r>
            <a:endParaRPr lang="en-US" sz="1500" dirty="0"/>
          </a:p>
        </p:txBody>
      </p:sp>
      <p:sp>
        <p:nvSpPr>
          <p:cNvPr id="27" name="Text 12"/>
          <p:cNvSpPr/>
          <p:nvPr/>
        </p:nvSpPr>
        <p:spPr>
          <a:xfrm>
            <a:off x="8542139" y="5655766"/>
            <a:ext cx="3002161" cy="457200"/>
          </a:xfrm>
          <a:prstGeom prst="rect">
            <a:avLst/>
          </a:prstGeom>
          <a:noFill/>
          <a:ln/>
        </p:spPr>
        <p:txBody>
          <a:bodyPr wrap="square" lIns="0" tIns="0" rIns="0" bIns="0" rtlCol="0" anchor="t"/>
          <a:lstStyle/>
          <a:p>
            <a:pPr marL="0" indent="0" algn="ctr">
              <a:lnSpc>
                <a:spcPts val="1800"/>
              </a:lnSpc>
              <a:buNone/>
            </a:pPr>
            <a:r>
              <a:rPr lang="en-US" sz="1200" dirty="0">
                <a:solidFill>
                  <a:srgbClr val="F7FFF7"/>
                </a:solidFill>
                <a:latin typeface="Arial" pitchFamily="34" charset="0"/>
                <a:ea typeface="Arial" pitchFamily="34" charset="-122"/>
                <a:cs typeface="Arial" pitchFamily="34" charset="-120"/>
              </a:rPr>
              <a:t>Obéissez aux consignes du service informatique pour sécuriser votre compte</a:t>
            </a:r>
            <a:endParaRPr lang="en-US" sz="1200" dirty="0"/>
          </a:p>
        </p:txBody>
      </p:sp>
      <p:sp>
        <p:nvSpPr>
          <p:cNvPr id="28" name="Text 13"/>
          <p:cNvSpPr/>
          <p:nvPr/>
        </p:nvSpPr>
        <p:spPr>
          <a:xfrm>
            <a:off x="457200" y="657225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381000"/>
            <a:ext cx="11430000" cy="609600"/>
          </a:xfrm>
          <a:prstGeom prst="rect">
            <a:avLst/>
          </a:prstGeom>
        </p:spPr>
      </p:pic>
      <p:pic>
        <p:nvPicPr>
          <p:cNvPr id="4" name="Image 2" descr="preencoded.png"/>
          <p:cNvPicPr>
            <a:picLocks noChangeAspect="1"/>
          </p:cNvPicPr>
          <p:nvPr/>
        </p:nvPicPr>
        <p:blipFill>
          <a:blip r:embed="rId5"/>
          <a:stretch>
            <a:fillRect/>
          </a:stretch>
        </p:blipFill>
        <p:spPr>
          <a:xfrm>
            <a:off x="381000" y="1219200"/>
            <a:ext cx="3708350" cy="1638300"/>
          </a:xfrm>
          <a:prstGeom prst="rect">
            <a:avLst/>
          </a:prstGeom>
        </p:spPr>
      </p:pic>
      <p:pic>
        <p:nvPicPr>
          <p:cNvPr id="5" name="Image 3" descr="preencoded.png"/>
          <p:cNvPicPr>
            <a:picLocks noChangeAspect="1"/>
          </p:cNvPicPr>
          <p:nvPr/>
        </p:nvPicPr>
        <p:blipFill>
          <a:blip r:embed="rId6"/>
          <a:stretch>
            <a:fillRect/>
          </a:stretch>
        </p:blipFill>
        <p:spPr>
          <a:xfrm>
            <a:off x="533400" y="1371600"/>
            <a:ext cx="285750" cy="304800"/>
          </a:xfrm>
          <a:prstGeom prst="rect">
            <a:avLst/>
          </a:prstGeom>
        </p:spPr>
      </p:pic>
      <p:pic>
        <p:nvPicPr>
          <p:cNvPr id="6" name="Image 4" descr="preencoded.png"/>
          <p:cNvPicPr>
            <a:picLocks noChangeAspect="1"/>
          </p:cNvPicPr>
          <p:nvPr/>
        </p:nvPicPr>
        <p:blipFill>
          <a:blip r:embed="rId7"/>
          <a:stretch>
            <a:fillRect/>
          </a:stretch>
        </p:blipFill>
        <p:spPr>
          <a:xfrm>
            <a:off x="533400" y="1790700"/>
            <a:ext cx="171004" cy="228600"/>
          </a:xfrm>
          <a:prstGeom prst="rect">
            <a:avLst/>
          </a:prstGeom>
        </p:spPr>
      </p:pic>
      <p:pic>
        <p:nvPicPr>
          <p:cNvPr id="7" name="Image 5" descr="preencoded.png"/>
          <p:cNvPicPr>
            <a:picLocks noChangeAspect="1"/>
          </p:cNvPicPr>
          <p:nvPr/>
        </p:nvPicPr>
        <p:blipFill>
          <a:blip r:embed="rId8"/>
          <a:stretch>
            <a:fillRect/>
          </a:stretch>
        </p:blipFill>
        <p:spPr>
          <a:xfrm>
            <a:off x="533400" y="2305050"/>
            <a:ext cx="190500" cy="266700"/>
          </a:xfrm>
          <a:prstGeom prst="rect">
            <a:avLst/>
          </a:prstGeom>
        </p:spPr>
      </p:pic>
      <p:pic>
        <p:nvPicPr>
          <p:cNvPr id="8" name="Image 6" descr="preencoded.png"/>
          <p:cNvPicPr>
            <a:picLocks noChangeAspect="1"/>
          </p:cNvPicPr>
          <p:nvPr/>
        </p:nvPicPr>
        <p:blipFill>
          <a:blip r:embed="rId9"/>
          <a:stretch>
            <a:fillRect/>
          </a:stretch>
        </p:blipFill>
        <p:spPr>
          <a:xfrm>
            <a:off x="4241750" y="1219200"/>
            <a:ext cx="3708350" cy="1638300"/>
          </a:xfrm>
          <a:prstGeom prst="rect">
            <a:avLst/>
          </a:prstGeom>
        </p:spPr>
      </p:pic>
      <p:pic>
        <p:nvPicPr>
          <p:cNvPr id="9" name="Image 7" descr="preencoded.png"/>
          <p:cNvPicPr>
            <a:picLocks noChangeAspect="1"/>
          </p:cNvPicPr>
          <p:nvPr/>
        </p:nvPicPr>
        <p:blipFill>
          <a:blip r:embed="rId10"/>
          <a:stretch>
            <a:fillRect/>
          </a:stretch>
        </p:blipFill>
        <p:spPr>
          <a:xfrm>
            <a:off x="4394150" y="1371600"/>
            <a:ext cx="228600" cy="304800"/>
          </a:xfrm>
          <a:prstGeom prst="rect">
            <a:avLst/>
          </a:prstGeom>
        </p:spPr>
      </p:pic>
      <p:pic>
        <p:nvPicPr>
          <p:cNvPr id="10" name="Image 8" descr="preencoded.png"/>
          <p:cNvPicPr>
            <a:picLocks noChangeAspect="1"/>
          </p:cNvPicPr>
          <p:nvPr/>
        </p:nvPicPr>
        <p:blipFill>
          <a:blip r:embed="rId11"/>
          <a:stretch>
            <a:fillRect/>
          </a:stretch>
        </p:blipFill>
        <p:spPr>
          <a:xfrm>
            <a:off x="8102501" y="1219200"/>
            <a:ext cx="3708499" cy="1638300"/>
          </a:xfrm>
          <a:prstGeom prst="rect">
            <a:avLst/>
          </a:prstGeom>
        </p:spPr>
      </p:pic>
      <p:pic>
        <p:nvPicPr>
          <p:cNvPr id="11" name="Image 9" descr="preencoded.png"/>
          <p:cNvPicPr>
            <a:picLocks noChangeAspect="1"/>
          </p:cNvPicPr>
          <p:nvPr/>
        </p:nvPicPr>
        <p:blipFill>
          <a:blip r:embed="rId12"/>
          <a:stretch>
            <a:fillRect/>
          </a:stretch>
        </p:blipFill>
        <p:spPr>
          <a:xfrm>
            <a:off x="8254901" y="1371600"/>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381000" y="3086100"/>
            <a:ext cx="5600700" cy="1409700"/>
          </a:xfrm>
          <a:prstGeom prst="rect">
            <a:avLst/>
          </a:prstGeom>
        </p:spPr>
      </p:pic>
      <p:pic>
        <p:nvPicPr>
          <p:cNvPr id="13" name="Image 11" descr="preencoded.png"/>
          <p:cNvPicPr>
            <a:picLocks noChangeAspect="1"/>
          </p:cNvPicPr>
          <p:nvPr/>
        </p:nvPicPr>
        <p:blipFill>
          <a:blip r:embed="rId14"/>
          <a:stretch>
            <a:fillRect/>
          </a:stretch>
        </p:blipFill>
        <p:spPr>
          <a:xfrm>
            <a:off x="533400" y="3286125"/>
            <a:ext cx="171450" cy="171450"/>
          </a:xfrm>
          <a:prstGeom prst="rect">
            <a:avLst/>
          </a:prstGeom>
        </p:spPr>
      </p:pic>
      <p:pic>
        <p:nvPicPr>
          <p:cNvPr id="14" name="Image 12" descr="preencoded.png"/>
          <p:cNvPicPr>
            <a:picLocks noChangeAspect="1"/>
          </p:cNvPicPr>
          <p:nvPr/>
        </p:nvPicPr>
        <p:blipFill>
          <a:blip r:embed="rId15"/>
          <a:stretch>
            <a:fillRect/>
          </a:stretch>
        </p:blipFill>
        <p:spPr>
          <a:xfrm>
            <a:off x="533400" y="3657600"/>
            <a:ext cx="152400" cy="152400"/>
          </a:xfrm>
          <a:prstGeom prst="rect">
            <a:avLst/>
          </a:prstGeom>
        </p:spPr>
      </p:pic>
      <p:pic>
        <p:nvPicPr>
          <p:cNvPr id="15" name="Image 13" descr="preencoded.png"/>
          <p:cNvPicPr>
            <a:picLocks noChangeAspect="1"/>
          </p:cNvPicPr>
          <p:nvPr/>
        </p:nvPicPr>
        <p:blipFill>
          <a:blip r:embed="rId15"/>
          <a:stretch>
            <a:fillRect/>
          </a:stretch>
        </p:blipFill>
        <p:spPr>
          <a:xfrm>
            <a:off x="533400" y="3924300"/>
            <a:ext cx="152400" cy="152400"/>
          </a:xfrm>
          <a:prstGeom prst="rect">
            <a:avLst/>
          </a:prstGeom>
        </p:spPr>
      </p:pic>
      <p:pic>
        <p:nvPicPr>
          <p:cNvPr id="16" name="Image 14" descr="preencoded.png"/>
          <p:cNvPicPr>
            <a:picLocks noChangeAspect="1"/>
          </p:cNvPicPr>
          <p:nvPr/>
        </p:nvPicPr>
        <p:blipFill>
          <a:blip r:embed="rId16"/>
          <a:stretch>
            <a:fillRect/>
          </a:stretch>
        </p:blipFill>
        <p:spPr>
          <a:xfrm>
            <a:off x="533400" y="4191000"/>
            <a:ext cx="152400" cy="152400"/>
          </a:xfrm>
          <a:prstGeom prst="rect">
            <a:avLst/>
          </a:prstGeom>
        </p:spPr>
      </p:pic>
      <p:pic>
        <p:nvPicPr>
          <p:cNvPr id="17" name="Image 15" descr="preencoded.png"/>
          <p:cNvPicPr>
            <a:picLocks noChangeAspect="1"/>
          </p:cNvPicPr>
          <p:nvPr/>
        </p:nvPicPr>
        <p:blipFill>
          <a:blip r:embed="rId13"/>
          <a:stretch>
            <a:fillRect/>
          </a:stretch>
        </p:blipFill>
        <p:spPr>
          <a:xfrm>
            <a:off x="6210300" y="3086100"/>
            <a:ext cx="5600700" cy="1409700"/>
          </a:xfrm>
          <a:prstGeom prst="rect">
            <a:avLst/>
          </a:prstGeom>
        </p:spPr>
      </p:pic>
      <p:pic>
        <p:nvPicPr>
          <p:cNvPr id="18" name="Image 16" descr="preencoded.png"/>
          <p:cNvPicPr>
            <a:picLocks noChangeAspect="1"/>
          </p:cNvPicPr>
          <p:nvPr/>
        </p:nvPicPr>
        <p:blipFill>
          <a:blip r:embed="rId17"/>
          <a:stretch>
            <a:fillRect/>
          </a:stretch>
        </p:blipFill>
        <p:spPr>
          <a:xfrm>
            <a:off x="6362700" y="3286125"/>
            <a:ext cx="219075" cy="171450"/>
          </a:xfrm>
          <a:prstGeom prst="rect">
            <a:avLst/>
          </a:prstGeom>
        </p:spPr>
      </p:pic>
      <p:pic>
        <p:nvPicPr>
          <p:cNvPr id="19" name="Image 17" descr="preencoded.png"/>
          <p:cNvPicPr>
            <a:picLocks noChangeAspect="1"/>
          </p:cNvPicPr>
          <p:nvPr/>
        </p:nvPicPr>
        <p:blipFill>
          <a:blip r:embed="rId15"/>
          <a:stretch>
            <a:fillRect/>
          </a:stretch>
        </p:blipFill>
        <p:spPr>
          <a:xfrm>
            <a:off x="6362700" y="3657600"/>
            <a:ext cx="152400" cy="152400"/>
          </a:xfrm>
          <a:prstGeom prst="rect">
            <a:avLst/>
          </a:prstGeom>
        </p:spPr>
      </p:pic>
      <p:pic>
        <p:nvPicPr>
          <p:cNvPr id="20" name="Image 18" descr="preencoded.png"/>
          <p:cNvPicPr>
            <a:picLocks noChangeAspect="1"/>
          </p:cNvPicPr>
          <p:nvPr/>
        </p:nvPicPr>
        <p:blipFill>
          <a:blip r:embed="rId15"/>
          <a:stretch>
            <a:fillRect/>
          </a:stretch>
        </p:blipFill>
        <p:spPr>
          <a:xfrm>
            <a:off x="6362700" y="3924300"/>
            <a:ext cx="152400" cy="152400"/>
          </a:xfrm>
          <a:prstGeom prst="rect">
            <a:avLst/>
          </a:prstGeom>
        </p:spPr>
      </p:pic>
      <p:pic>
        <p:nvPicPr>
          <p:cNvPr id="21" name="Image 19" descr="preencoded.png"/>
          <p:cNvPicPr>
            <a:picLocks noChangeAspect="1"/>
          </p:cNvPicPr>
          <p:nvPr/>
        </p:nvPicPr>
        <p:blipFill>
          <a:blip r:embed="rId18"/>
          <a:stretch>
            <a:fillRect/>
          </a:stretch>
        </p:blipFill>
        <p:spPr>
          <a:xfrm>
            <a:off x="6362700" y="4191000"/>
            <a:ext cx="152400" cy="152400"/>
          </a:xfrm>
          <a:prstGeom prst="rect">
            <a:avLst/>
          </a:prstGeom>
        </p:spPr>
      </p:pic>
      <p:sp>
        <p:nvSpPr>
          <p:cNvPr id="22" name="Text 0"/>
          <p:cNvSpPr/>
          <p:nvPr/>
        </p:nvSpPr>
        <p:spPr>
          <a:xfrm>
            <a:off x="381000" y="381000"/>
            <a:ext cx="137160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Sécurité et Mesures Préventives</a:t>
            </a:r>
            <a:endParaRPr lang="en-US" sz="2700" dirty="0"/>
          </a:p>
        </p:txBody>
      </p:sp>
      <p:sp>
        <p:nvSpPr>
          <p:cNvPr id="23" name="Text 1"/>
          <p:cNvSpPr/>
          <p:nvPr/>
        </p:nvSpPr>
        <p:spPr>
          <a:xfrm>
            <a:off x="895350" y="1371600"/>
            <a:ext cx="3403550" cy="3048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OneDrive</a:t>
            </a:r>
            <a:endParaRPr lang="en-US" sz="1500" dirty="0"/>
          </a:p>
        </p:txBody>
      </p:sp>
      <p:sp>
        <p:nvSpPr>
          <p:cNvPr id="24" name="Text 2"/>
          <p:cNvSpPr/>
          <p:nvPr/>
        </p:nvSpPr>
        <p:spPr>
          <a:xfrm>
            <a:off x="581769" y="1790700"/>
            <a:ext cx="205204" cy="228600"/>
          </a:xfrm>
          <a:prstGeom prst="rect">
            <a:avLst/>
          </a:prstGeom>
          <a:noFill/>
          <a:ln/>
        </p:spPr>
        <p:txBody>
          <a:bodyPr wrap="square" lIns="0" tIns="0" rIns="0" bIns="0" rtlCol="0" anchor="t"/>
          <a:lstStyle/>
          <a:p>
            <a:pPr marL="0" indent="0">
              <a:lnSpc>
                <a:spcPts val="150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25" name="Text 3"/>
          <p:cNvSpPr/>
          <p:nvPr/>
        </p:nvSpPr>
        <p:spPr>
          <a:xfrm>
            <a:off x="780604" y="1790700"/>
            <a:ext cx="3156347" cy="3810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Activez la sauvegarde automatique pour Bureau, Documents et Images</a:t>
            </a:r>
            <a:endParaRPr lang="en-US" sz="1050" dirty="0"/>
          </a:p>
        </p:txBody>
      </p:sp>
      <p:sp>
        <p:nvSpPr>
          <p:cNvPr id="26" name="Text 4"/>
          <p:cNvSpPr/>
          <p:nvPr/>
        </p:nvSpPr>
        <p:spPr>
          <a:xfrm>
            <a:off x="800100" y="2247900"/>
            <a:ext cx="3136850" cy="3810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Protection contre les ransomwares et pertes de données</a:t>
            </a:r>
            <a:endParaRPr lang="en-US" sz="1050" dirty="0"/>
          </a:p>
        </p:txBody>
      </p:sp>
      <p:sp>
        <p:nvSpPr>
          <p:cNvPr id="27" name="Text 5"/>
          <p:cNvSpPr/>
          <p:nvPr/>
        </p:nvSpPr>
        <p:spPr>
          <a:xfrm>
            <a:off x="4698950" y="1371600"/>
            <a:ext cx="4084260" cy="3048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Authentification</a:t>
            </a:r>
            <a:endParaRPr lang="en-US" sz="1500" dirty="0"/>
          </a:p>
        </p:txBody>
      </p:sp>
      <p:sp>
        <p:nvSpPr>
          <p:cNvPr id="28" name="Text 6"/>
          <p:cNvSpPr/>
          <p:nvPr/>
        </p:nvSpPr>
        <p:spPr>
          <a:xfrm>
            <a:off x="4432250" y="1790700"/>
            <a:ext cx="3365450" cy="3810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Utilisez des mots de passe complexes (12+ caractères)</a:t>
            </a:r>
            <a:endParaRPr lang="en-US" sz="1050" dirty="0"/>
          </a:p>
        </p:txBody>
      </p:sp>
      <p:sp>
        <p:nvSpPr>
          <p:cNvPr id="29" name="Text 7"/>
          <p:cNvSpPr/>
          <p:nvPr/>
        </p:nvSpPr>
        <p:spPr>
          <a:xfrm>
            <a:off x="4432250" y="2209800"/>
            <a:ext cx="403854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Activez l'authentification multifacteur</a:t>
            </a:r>
            <a:endParaRPr lang="en-US" sz="1050" dirty="0"/>
          </a:p>
        </p:txBody>
      </p:sp>
      <p:sp>
        <p:nvSpPr>
          <p:cNvPr id="30" name="Text 8"/>
          <p:cNvSpPr/>
          <p:nvPr/>
        </p:nvSpPr>
        <p:spPr>
          <a:xfrm>
            <a:off x="4432250" y="2438400"/>
            <a:ext cx="403854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Utilisez un gestionnaire de mots de passe</a:t>
            </a:r>
            <a:endParaRPr lang="en-US" sz="1050" dirty="0"/>
          </a:p>
        </p:txBody>
      </p:sp>
      <p:sp>
        <p:nvSpPr>
          <p:cNvPr id="31" name="Text 9"/>
          <p:cNvSpPr/>
          <p:nvPr/>
        </p:nvSpPr>
        <p:spPr>
          <a:xfrm>
            <a:off x="8559701" y="1371600"/>
            <a:ext cx="4084439" cy="3048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Bonnes Pratiques</a:t>
            </a:r>
            <a:endParaRPr lang="en-US" sz="1500" dirty="0"/>
          </a:p>
        </p:txBody>
      </p:sp>
      <p:sp>
        <p:nvSpPr>
          <p:cNvPr id="32" name="Text 10"/>
          <p:cNvSpPr/>
          <p:nvPr/>
        </p:nvSpPr>
        <p:spPr>
          <a:xfrm>
            <a:off x="8293001" y="1790700"/>
            <a:ext cx="4038719"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Vérifiez toujours l'expéditeur des emails</a:t>
            </a:r>
            <a:endParaRPr lang="en-US" sz="1050" dirty="0"/>
          </a:p>
        </p:txBody>
      </p:sp>
      <p:sp>
        <p:nvSpPr>
          <p:cNvPr id="33" name="Text 11"/>
          <p:cNvSpPr/>
          <p:nvPr/>
        </p:nvSpPr>
        <p:spPr>
          <a:xfrm>
            <a:off x="8293001" y="2019300"/>
            <a:ext cx="4038719"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Survolez les liens avant de cliquer</a:t>
            </a:r>
            <a:endParaRPr lang="en-US" sz="1050" dirty="0"/>
          </a:p>
        </p:txBody>
      </p:sp>
      <p:sp>
        <p:nvSpPr>
          <p:cNvPr id="34" name="Text 12"/>
          <p:cNvSpPr/>
          <p:nvPr/>
        </p:nvSpPr>
        <p:spPr>
          <a:xfrm>
            <a:off x="8293001" y="2247900"/>
            <a:ext cx="4038719"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F7FFF7"/>
                </a:solidFill>
                <a:latin typeface="Arial" pitchFamily="34" charset="0"/>
                <a:ea typeface="Arial" pitchFamily="34" charset="-122"/>
                <a:cs typeface="Arial" pitchFamily="34" charset="-120"/>
              </a:rPr>
              <a:t>Maintenez vos systèmes à jour</a:t>
            </a:r>
            <a:endParaRPr lang="en-US" sz="1050" dirty="0"/>
          </a:p>
        </p:txBody>
      </p:sp>
      <p:sp>
        <p:nvSpPr>
          <p:cNvPr id="35" name="Text 13"/>
          <p:cNvSpPr/>
          <p:nvPr/>
        </p:nvSpPr>
        <p:spPr>
          <a:xfrm>
            <a:off x="781050" y="3238500"/>
            <a:ext cx="5295900" cy="266700"/>
          </a:xfrm>
          <a:prstGeom prst="rect">
            <a:avLst/>
          </a:prstGeom>
          <a:noFill/>
          <a:ln/>
        </p:spPr>
        <p:txBody>
          <a:bodyPr wrap="square" lIns="0" tIns="0" rIns="0" bIns="0" rtlCol="0" anchor="t"/>
          <a:lstStyle/>
          <a:p>
            <a:pPr marL="0" indent="0">
              <a:lnSpc>
                <a:spcPts val="2100"/>
              </a:lnSpc>
              <a:buNone/>
            </a:pPr>
            <a:r>
              <a:rPr lang="en-US" sz="1350" b="1" dirty="0">
                <a:solidFill>
                  <a:srgbClr val="F7FFF7"/>
                </a:solidFill>
                <a:latin typeface="Arial" pitchFamily="34" charset="0"/>
                <a:ea typeface="Arial" pitchFamily="34" charset="-122"/>
                <a:cs typeface="Arial" pitchFamily="34" charset="-120"/>
              </a:rPr>
              <a:t>Sécurité Email</a:t>
            </a:r>
            <a:endParaRPr lang="en-US" sz="1350" dirty="0"/>
          </a:p>
        </p:txBody>
      </p:sp>
      <p:sp>
        <p:nvSpPr>
          <p:cNvPr id="36" name="Text 14"/>
          <p:cNvSpPr/>
          <p:nvPr/>
        </p:nvSpPr>
        <p:spPr>
          <a:xfrm>
            <a:off x="762000" y="3619500"/>
            <a:ext cx="4611826"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Méfiez-vous des fautes d'orthographe et des demandes urgentes</a:t>
            </a:r>
            <a:endParaRPr lang="en-US" sz="1050" dirty="0"/>
          </a:p>
        </p:txBody>
      </p:sp>
      <p:sp>
        <p:nvSpPr>
          <p:cNvPr id="37" name="Text 15"/>
          <p:cNvSpPr/>
          <p:nvPr/>
        </p:nvSpPr>
        <p:spPr>
          <a:xfrm>
            <a:off x="762000" y="3886200"/>
            <a:ext cx="3184148"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Ne partagez jamais vos identifiants par email</a:t>
            </a:r>
            <a:endParaRPr lang="en-US" sz="1050" dirty="0"/>
          </a:p>
        </p:txBody>
      </p:sp>
      <p:sp>
        <p:nvSpPr>
          <p:cNvPr id="38" name="Text 16"/>
          <p:cNvSpPr/>
          <p:nvPr/>
        </p:nvSpPr>
        <p:spPr>
          <a:xfrm>
            <a:off x="762000" y="4152900"/>
            <a:ext cx="4456271"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En cas de doute, contactez directement le service informatique</a:t>
            </a:r>
            <a:endParaRPr lang="en-US" sz="1050" dirty="0"/>
          </a:p>
        </p:txBody>
      </p:sp>
      <p:sp>
        <p:nvSpPr>
          <p:cNvPr id="39" name="Text 17"/>
          <p:cNvSpPr/>
          <p:nvPr/>
        </p:nvSpPr>
        <p:spPr>
          <a:xfrm>
            <a:off x="6657975" y="3238500"/>
            <a:ext cx="5295900" cy="266700"/>
          </a:xfrm>
          <a:prstGeom prst="rect">
            <a:avLst/>
          </a:prstGeom>
          <a:noFill/>
          <a:ln/>
        </p:spPr>
        <p:txBody>
          <a:bodyPr wrap="square" lIns="0" tIns="0" rIns="0" bIns="0" rtlCol="0" anchor="t"/>
          <a:lstStyle/>
          <a:p>
            <a:pPr marL="0" indent="0">
              <a:lnSpc>
                <a:spcPts val="2100"/>
              </a:lnSpc>
              <a:buNone/>
            </a:pPr>
            <a:r>
              <a:rPr lang="en-US" sz="1350" b="1" dirty="0">
                <a:solidFill>
                  <a:srgbClr val="F7FFF7"/>
                </a:solidFill>
                <a:latin typeface="Arial" pitchFamily="34" charset="0"/>
                <a:ea typeface="Arial" pitchFamily="34" charset="-122"/>
                <a:cs typeface="Arial" pitchFamily="34" charset="-120"/>
              </a:rPr>
              <a:t>Sécurité Système</a:t>
            </a:r>
            <a:endParaRPr lang="en-US" sz="1350" dirty="0"/>
          </a:p>
        </p:txBody>
      </p:sp>
      <p:sp>
        <p:nvSpPr>
          <p:cNvPr id="40" name="Text 18"/>
          <p:cNvSpPr/>
          <p:nvPr/>
        </p:nvSpPr>
        <p:spPr>
          <a:xfrm>
            <a:off x="6591300" y="3619500"/>
            <a:ext cx="3042166"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Changez vos mots de passe régulièrement</a:t>
            </a:r>
            <a:endParaRPr lang="en-US" sz="1050" dirty="0"/>
          </a:p>
        </p:txBody>
      </p:sp>
      <p:sp>
        <p:nvSpPr>
          <p:cNvPr id="41" name="Text 19"/>
          <p:cNvSpPr/>
          <p:nvPr/>
        </p:nvSpPr>
        <p:spPr>
          <a:xfrm>
            <a:off x="6591300" y="3886200"/>
            <a:ext cx="4501277"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N'utilisez jamais le même mot de passe pour différents services</a:t>
            </a:r>
            <a:endParaRPr lang="en-US" sz="1050" dirty="0"/>
          </a:p>
        </p:txBody>
      </p:sp>
      <p:sp>
        <p:nvSpPr>
          <p:cNvPr id="42" name="Text 20"/>
          <p:cNvSpPr/>
          <p:nvPr/>
        </p:nvSpPr>
        <p:spPr>
          <a:xfrm>
            <a:off x="6591300" y="4152900"/>
            <a:ext cx="4020145" cy="190500"/>
          </a:xfrm>
          <a:prstGeom prst="rect">
            <a:avLst/>
          </a:prstGeom>
          <a:noFill/>
          <a:ln/>
        </p:spPr>
        <p:txBody>
          <a:bodyPr wrap="square" lIns="0" tIns="0" rIns="0" bIns="0" rtlCol="0" anchor="t"/>
          <a:lstStyle/>
          <a:p>
            <a:pPr marL="0" indent="0">
              <a:lnSpc>
                <a:spcPts val="1500"/>
              </a:lnSpc>
              <a:buNone/>
            </a:pPr>
            <a:r>
              <a:rPr lang="en-US" sz="1050" dirty="0">
                <a:solidFill>
                  <a:srgbClr val="F7FFF7"/>
                </a:solidFill>
                <a:latin typeface="Arial" pitchFamily="34" charset="0"/>
                <a:ea typeface="Arial" pitchFamily="34" charset="-122"/>
                <a:cs typeface="Arial" pitchFamily="34" charset="-120"/>
              </a:rPr>
              <a:t>Participez aux formations de sécurité pour rester informé</a:t>
            </a:r>
            <a:endParaRPr lang="en-US" sz="1050" dirty="0"/>
          </a:p>
        </p:txBody>
      </p:sp>
      <p:sp>
        <p:nvSpPr>
          <p:cNvPr id="43" name="Text 21"/>
          <p:cNvSpPr/>
          <p:nvPr/>
        </p:nvSpPr>
        <p:spPr>
          <a:xfrm>
            <a:off x="381000" y="6286500"/>
            <a:ext cx="114300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14</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2476500"/>
            <a:ext cx="2593777" cy="2114550"/>
          </a:xfrm>
          <a:prstGeom prst="rect">
            <a:avLst/>
          </a:prstGeom>
        </p:spPr>
      </p:pic>
      <p:pic>
        <p:nvPicPr>
          <p:cNvPr id="5" name="Image 3" descr="preencoded.png"/>
          <p:cNvPicPr>
            <a:picLocks noChangeAspect="1"/>
          </p:cNvPicPr>
          <p:nvPr/>
        </p:nvPicPr>
        <p:blipFill>
          <a:blip r:embed="rId6"/>
          <a:stretch>
            <a:fillRect/>
          </a:stretch>
        </p:blipFill>
        <p:spPr>
          <a:xfrm>
            <a:off x="1573113" y="2619375"/>
            <a:ext cx="361950" cy="342900"/>
          </a:xfrm>
          <a:prstGeom prst="rect">
            <a:avLst/>
          </a:prstGeom>
        </p:spPr>
      </p:pic>
      <p:pic>
        <p:nvPicPr>
          <p:cNvPr id="6" name="Image 4" descr="preencoded.png"/>
          <p:cNvPicPr>
            <a:picLocks noChangeAspect="1"/>
          </p:cNvPicPr>
          <p:nvPr/>
        </p:nvPicPr>
        <p:blipFill>
          <a:blip r:embed="rId5"/>
          <a:stretch>
            <a:fillRect/>
          </a:stretch>
        </p:blipFill>
        <p:spPr>
          <a:xfrm>
            <a:off x="3351758" y="2476500"/>
            <a:ext cx="2593777" cy="2114550"/>
          </a:xfrm>
          <a:prstGeom prst="rect">
            <a:avLst/>
          </a:prstGeom>
        </p:spPr>
      </p:pic>
      <p:pic>
        <p:nvPicPr>
          <p:cNvPr id="7" name="Image 5" descr="preencoded.png"/>
          <p:cNvPicPr>
            <a:picLocks noChangeAspect="1"/>
          </p:cNvPicPr>
          <p:nvPr/>
        </p:nvPicPr>
        <p:blipFill>
          <a:blip r:embed="rId7"/>
          <a:stretch>
            <a:fillRect/>
          </a:stretch>
        </p:blipFill>
        <p:spPr>
          <a:xfrm>
            <a:off x="4467671" y="2619375"/>
            <a:ext cx="361950" cy="342900"/>
          </a:xfrm>
          <a:prstGeom prst="rect">
            <a:avLst/>
          </a:prstGeom>
        </p:spPr>
      </p:pic>
      <p:pic>
        <p:nvPicPr>
          <p:cNvPr id="8" name="Image 6" descr="preencoded.png"/>
          <p:cNvPicPr>
            <a:picLocks noChangeAspect="1"/>
          </p:cNvPicPr>
          <p:nvPr/>
        </p:nvPicPr>
        <p:blipFill>
          <a:blip r:embed="rId8"/>
          <a:stretch>
            <a:fillRect/>
          </a:stretch>
        </p:blipFill>
        <p:spPr>
          <a:xfrm>
            <a:off x="6246316" y="2476500"/>
            <a:ext cx="2593777" cy="2114550"/>
          </a:xfrm>
          <a:prstGeom prst="rect">
            <a:avLst/>
          </a:prstGeom>
        </p:spPr>
      </p:pic>
      <p:pic>
        <p:nvPicPr>
          <p:cNvPr id="9" name="Image 7" descr="preencoded.png"/>
          <p:cNvPicPr>
            <a:picLocks noChangeAspect="1"/>
          </p:cNvPicPr>
          <p:nvPr/>
        </p:nvPicPr>
        <p:blipFill>
          <a:blip r:embed="rId9"/>
          <a:stretch>
            <a:fillRect/>
          </a:stretch>
        </p:blipFill>
        <p:spPr>
          <a:xfrm>
            <a:off x="7400330" y="2619375"/>
            <a:ext cx="285750" cy="342900"/>
          </a:xfrm>
          <a:prstGeom prst="rect">
            <a:avLst/>
          </a:prstGeom>
        </p:spPr>
      </p:pic>
      <p:pic>
        <p:nvPicPr>
          <p:cNvPr id="10" name="Image 8" descr="preencoded.png"/>
          <p:cNvPicPr>
            <a:picLocks noChangeAspect="1"/>
          </p:cNvPicPr>
          <p:nvPr/>
        </p:nvPicPr>
        <p:blipFill>
          <a:blip r:embed="rId8"/>
          <a:stretch>
            <a:fillRect/>
          </a:stretch>
        </p:blipFill>
        <p:spPr>
          <a:xfrm>
            <a:off x="9140875" y="2476500"/>
            <a:ext cx="2593777" cy="2114550"/>
          </a:xfrm>
          <a:prstGeom prst="rect">
            <a:avLst/>
          </a:prstGeom>
        </p:spPr>
      </p:pic>
      <p:pic>
        <p:nvPicPr>
          <p:cNvPr id="11" name="Image 9" descr="preencoded.png"/>
          <p:cNvPicPr>
            <a:picLocks noChangeAspect="1"/>
          </p:cNvPicPr>
          <p:nvPr/>
        </p:nvPicPr>
        <p:blipFill>
          <a:blip r:embed="rId10"/>
          <a:stretch>
            <a:fillRect/>
          </a:stretch>
        </p:blipFill>
        <p:spPr>
          <a:xfrm>
            <a:off x="10256788" y="2619375"/>
            <a:ext cx="361950" cy="342900"/>
          </a:xfrm>
          <a:prstGeom prst="rect">
            <a:avLst/>
          </a:prstGeom>
        </p:spPr>
      </p:pic>
      <p:pic>
        <p:nvPicPr>
          <p:cNvPr id="12" name="Image 10" descr="preencoded.png"/>
          <p:cNvPicPr>
            <a:picLocks noChangeAspect="1"/>
          </p:cNvPicPr>
          <p:nvPr/>
        </p:nvPicPr>
        <p:blipFill>
          <a:blip r:embed="rId11"/>
          <a:stretch>
            <a:fillRect/>
          </a:stretch>
        </p:blipFill>
        <p:spPr>
          <a:xfrm>
            <a:off x="457200" y="4895850"/>
            <a:ext cx="11277600" cy="1104900"/>
          </a:xfrm>
          <a:prstGeom prst="rect">
            <a:avLst/>
          </a:prstGeom>
        </p:spPr>
      </p:pic>
      <p:pic>
        <p:nvPicPr>
          <p:cNvPr id="13" name="Image 11" descr="preencoded.png"/>
          <p:cNvPicPr>
            <a:picLocks noChangeAspect="1"/>
          </p:cNvPicPr>
          <p:nvPr/>
        </p:nvPicPr>
        <p:blipFill>
          <a:blip r:embed="rId12"/>
          <a:stretch>
            <a:fillRect/>
          </a:stretch>
        </p:blipFill>
        <p:spPr>
          <a:xfrm>
            <a:off x="609600" y="5086350"/>
            <a:ext cx="142875" cy="190500"/>
          </a:xfrm>
          <a:prstGeom prst="rect">
            <a:avLst/>
          </a:prstGeom>
        </p:spPr>
      </p:pic>
      <p:sp>
        <p:nvSpPr>
          <p:cNvPr id="14"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Mesures Préventives</a:t>
            </a:r>
            <a:endParaRPr lang="en-US" sz="2700" dirty="0"/>
          </a:p>
        </p:txBody>
      </p:sp>
      <p:sp>
        <p:nvSpPr>
          <p:cNvPr id="15" name="Text 1"/>
          <p:cNvSpPr/>
          <p:nvPr/>
        </p:nvSpPr>
        <p:spPr>
          <a:xfrm>
            <a:off x="457200" y="1295400"/>
            <a:ext cx="11277600" cy="628650"/>
          </a:xfrm>
          <a:prstGeom prst="rect">
            <a:avLst/>
          </a:prstGeom>
          <a:noFill/>
          <a:ln/>
        </p:spPr>
        <p:txBody>
          <a:bodyPr wrap="square" lIns="0" tIns="0" rIns="0" bIns="0" rtlCol="0" anchor="t"/>
          <a:lstStyle/>
          <a:p>
            <a:pPr marL="0" indent="0">
              <a:lnSpc>
                <a:spcPts val="2475"/>
              </a:lnSpc>
              <a:buNone/>
            </a:pPr>
            <a:r>
              <a:rPr lang="en-US" sz="1650" dirty="0">
                <a:solidFill>
                  <a:srgbClr val="F7FFF7"/>
                </a:solidFill>
                <a:latin typeface="Arial" pitchFamily="34" charset="0"/>
                <a:ea typeface="Arial" pitchFamily="34" charset="-122"/>
                <a:cs typeface="Arial" pitchFamily="34" charset="-120"/>
              </a:rPr>
              <a:t>Pour protéger efficacement contre les attaques de phishing et autres cybermenaces, il est essentiel d'adopter des pratiques de sécurité rigoureuses.</a:t>
            </a:r>
            <a:endParaRPr lang="en-US" sz="1650" dirty="0"/>
          </a:p>
        </p:txBody>
      </p:sp>
      <p:sp>
        <p:nvSpPr>
          <p:cNvPr id="16" name="Text 2"/>
          <p:cNvSpPr/>
          <p:nvPr/>
        </p:nvSpPr>
        <p:spPr>
          <a:xfrm>
            <a:off x="600075" y="3076575"/>
            <a:ext cx="2308027" cy="5334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Vérification des Expéditeurs</a:t>
            </a:r>
            <a:endParaRPr lang="en-US" sz="1500" dirty="0"/>
          </a:p>
        </p:txBody>
      </p:sp>
      <p:sp>
        <p:nvSpPr>
          <p:cNvPr id="17" name="Text 3"/>
          <p:cNvSpPr/>
          <p:nvPr/>
        </p:nvSpPr>
        <p:spPr>
          <a:xfrm>
            <a:off x="600075" y="3686175"/>
            <a:ext cx="2308027" cy="7620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Vérifiez toujours l'adresse e-mail de l'expéditeur et comparez-la avec l'adresse officielle du domaine qu'il prétend représenter</a:t>
            </a:r>
            <a:endParaRPr lang="en-US" sz="1050" dirty="0"/>
          </a:p>
        </p:txBody>
      </p:sp>
      <p:sp>
        <p:nvSpPr>
          <p:cNvPr id="18" name="Text 4"/>
          <p:cNvSpPr/>
          <p:nvPr/>
        </p:nvSpPr>
        <p:spPr>
          <a:xfrm>
            <a:off x="3817441" y="3076575"/>
            <a:ext cx="1994892"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Analyse des Liens</a:t>
            </a:r>
            <a:endParaRPr lang="en-US" sz="1500" dirty="0"/>
          </a:p>
        </p:txBody>
      </p:sp>
      <p:sp>
        <p:nvSpPr>
          <p:cNvPr id="19" name="Text 5"/>
          <p:cNvSpPr/>
          <p:nvPr/>
        </p:nvSpPr>
        <p:spPr>
          <a:xfrm>
            <a:off x="3494633" y="3419475"/>
            <a:ext cx="2308027" cy="7620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Survolez les liens avec votre souris pour vérifier l'adresse réelle avant de cliquer. Ne cliquez jamais sur des liens suspects</a:t>
            </a:r>
            <a:endParaRPr lang="en-US" sz="1050" dirty="0"/>
          </a:p>
        </p:txBody>
      </p:sp>
      <p:sp>
        <p:nvSpPr>
          <p:cNvPr id="20" name="Text 6"/>
          <p:cNvSpPr/>
          <p:nvPr/>
        </p:nvSpPr>
        <p:spPr>
          <a:xfrm>
            <a:off x="6452592" y="3076575"/>
            <a:ext cx="2617291"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Mises à Jour Régulières</a:t>
            </a:r>
            <a:endParaRPr lang="en-US" sz="1500" dirty="0"/>
          </a:p>
        </p:txBody>
      </p:sp>
      <p:sp>
        <p:nvSpPr>
          <p:cNvPr id="21" name="Text 7"/>
          <p:cNvSpPr/>
          <p:nvPr/>
        </p:nvSpPr>
        <p:spPr>
          <a:xfrm>
            <a:off x="6389191" y="3419475"/>
            <a:ext cx="2308027" cy="5715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Maintenez vos systèmes et logiciels à jour avec les dernières corrections de sécurité</a:t>
            </a:r>
            <a:endParaRPr lang="en-US" sz="1050" dirty="0"/>
          </a:p>
        </p:txBody>
      </p:sp>
      <p:sp>
        <p:nvSpPr>
          <p:cNvPr id="22" name="Text 8"/>
          <p:cNvSpPr/>
          <p:nvPr/>
        </p:nvSpPr>
        <p:spPr>
          <a:xfrm>
            <a:off x="9532888" y="3076575"/>
            <a:ext cx="2171521"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Formation Continue</a:t>
            </a:r>
            <a:endParaRPr lang="en-US" sz="1500" dirty="0"/>
          </a:p>
        </p:txBody>
      </p:sp>
      <p:sp>
        <p:nvSpPr>
          <p:cNvPr id="23" name="Text 9"/>
          <p:cNvSpPr/>
          <p:nvPr/>
        </p:nvSpPr>
        <p:spPr>
          <a:xfrm>
            <a:off x="9283750" y="3419475"/>
            <a:ext cx="2308027" cy="762000"/>
          </a:xfrm>
          <a:prstGeom prst="rect">
            <a:avLst/>
          </a:prstGeom>
          <a:noFill/>
          <a:ln/>
        </p:spPr>
        <p:txBody>
          <a:bodyPr wrap="square" lIns="0" tIns="0" rIns="0" bIns="0" rtlCol="0" anchor="t"/>
          <a:lstStyle/>
          <a:p>
            <a:pPr marL="0" indent="0" algn="ctr">
              <a:lnSpc>
                <a:spcPts val="1500"/>
              </a:lnSpc>
              <a:buNone/>
            </a:pPr>
            <a:r>
              <a:rPr lang="en-US" sz="1050" dirty="0">
                <a:solidFill>
                  <a:srgbClr val="F7FFF7"/>
                </a:solidFill>
                <a:latin typeface="Arial" pitchFamily="34" charset="0"/>
                <a:ea typeface="Arial" pitchFamily="34" charset="-122"/>
                <a:cs typeface="Arial" pitchFamily="34" charset="-120"/>
              </a:rPr>
              <a:t>Participez régulièrement aux formations sur la sécurité pour rester informé des dernières menaces et contrefaçons</a:t>
            </a:r>
            <a:endParaRPr lang="en-US" sz="1050" dirty="0"/>
          </a:p>
        </p:txBody>
      </p:sp>
      <p:sp>
        <p:nvSpPr>
          <p:cNvPr id="24" name="Text 10"/>
          <p:cNvSpPr/>
          <p:nvPr/>
        </p:nvSpPr>
        <p:spPr>
          <a:xfrm>
            <a:off x="828675" y="5048250"/>
            <a:ext cx="2096333"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Conseil de sécurité</a:t>
            </a:r>
            <a:endParaRPr lang="en-US" sz="1500" dirty="0"/>
          </a:p>
        </p:txBody>
      </p:sp>
      <p:sp>
        <p:nvSpPr>
          <p:cNvPr id="25" name="Text 11"/>
          <p:cNvSpPr/>
          <p:nvPr/>
        </p:nvSpPr>
        <p:spPr>
          <a:xfrm>
            <a:off x="609600" y="5391150"/>
            <a:ext cx="10972800" cy="457200"/>
          </a:xfrm>
          <a:prstGeom prst="rect">
            <a:avLst/>
          </a:prstGeom>
          <a:noFill/>
          <a:ln/>
        </p:spPr>
        <p:txBody>
          <a:bodyPr wrap="square" lIns="0" tIns="0" rIns="0" bIns="0" rtlCol="0" anchor="t"/>
          <a:lstStyle/>
          <a:p>
            <a:pPr marL="0" indent="0">
              <a:lnSpc>
                <a:spcPts val="1800"/>
              </a:lnSpc>
              <a:buNone/>
            </a:pPr>
            <a:r>
              <a:rPr lang="en-US" sz="1200" b="1" dirty="0">
                <a:solidFill>
                  <a:srgbClr val="4ECDC4"/>
                </a:solidFill>
                <a:latin typeface="Arial" pitchFamily="34" charset="0"/>
                <a:ea typeface="Arial" pitchFamily="34" charset="-122"/>
                <a:cs typeface="Arial" pitchFamily="34" charset="-120"/>
              </a:rPr>
              <a:t>Questionnez toujours</a:t>
            </a:r>
            <a:r>
              <a:rPr lang="en-US" sz="1200" dirty="0">
                <a:solidFill>
                  <a:srgbClr val="F7FFF7"/>
                </a:solidFill>
                <a:latin typeface="Arial" pitchFamily="34" charset="0"/>
                <a:ea typeface="Arial" pitchFamily="34" charset="-122"/>
                <a:cs typeface="Arial" pitchFamily="34" charset="-120"/>
              </a:rPr>
              <a:t> l'authenticité d'un message suspect. Si vous avez la moindre doute sur la véracité d'un e-mail, demandez confirmation à votre service informatique avant d'agir.</a:t>
            </a:r>
            <a:endParaRPr lang="en-US" sz="1200" dirty="0"/>
          </a:p>
        </p:txBody>
      </p:sp>
      <p:sp>
        <p:nvSpPr>
          <p:cNvPr id="26" name="Text 12"/>
          <p:cNvSpPr/>
          <p:nvPr/>
        </p:nvSpPr>
        <p:spPr>
          <a:xfrm>
            <a:off x="457200" y="62103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457200" y="1371600"/>
            <a:ext cx="5524500" cy="2667000"/>
          </a:xfrm>
          <a:prstGeom prst="rect">
            <a:avLst/>
          </a:prstGeom>
        </p:spPr>
      </p:pic>
      <p:pic>
        <p:nvPicPr>
          <p:cNvPr id="5" name="Image 3" descr="preencoded.png"/>
          <p:cNvPicPr>
            <a:picLocks noChangeAspect="1"/>
          </p:cNvPicPr>
          <p:nvPr/>
        </p:nvPicPr>
        <p:blipFill>
          <a:blip r:embed="rId6"/>
          <a:stretch>
            <a:fillRect/>
          </a:stretch>
        </p:blipFill>
        <p:spPr>
          <a:xfrm>
            <a:off x="647700" y="1562100"/>
            <a:ext cx="476250" cy="476250"/>
          </a:xfrm>
          <a:prstGeom prst="rect">
            <a:avLst/>
          </a:prstGeom>
        </p:spPr>
      </p:pic>
      <p:pic>
        <p:nvPicPr>
          <p:cNvPr id="6" name="Image 4" descr="preencoded.png"/>
          <p:cNvPicPr>
            <a:picLocks noChangeAspect="1"/>
          </p:cNvPicPr>
          <p:nvPr/>
        </p:nvPicPr>
        <p:blipFill>
          <a:blip r:embed="rId7"/>
          <a:stretch>
            <a:fillRect/>
          </a:stretch>
        </p:blipFill>
        <p:spPr>
          <a:xfrm>
            <a:off x="771525" y="1647825"/>
            <a:ext cx="228600" cy="304800"/>
          </a:xfrm>
          <a:prstGeom prst="rect">
            <a:avLst/>
          </a:prstGeom>
        </p:spPr>
      </p:pic>
      <p:pic>
        <p:nvPicPr>
          <p:cNvPr id="7" name="Image 5" descr="preencoded.png"/>
          <p:cNvPicPr>
            <a:picLocks noChangeAspect="1"/>
          </p:cNvPicPr>
          <p:nvPr/>
        </p:nvPicPr>
        <p:blipFill>
          <a:blip r:embed="rId5"/>
          <a:stretch>
            <a:fillRect/>
          </a:stretch>
        </p:blipFill>
        <p:spPr>
          <a:xfrm>
            <a:off x="6210300" y="1371600"/>
            <a:ext cx="5524500" cy="2667000"/>
          </a:xfrm>
          <a:prstGeom prst="rect">
            <a:avLst/>
          </a:prstGeom>
        </p:spPr>
      </p:pic>
      <p:pic>
        <p:nvPicPr>
          <p:cNvPr id="8" name="Image 6" descr="preencoded.png"/>
          <p:cNvPicPr>
            <a:picLocks noChangeAspect="1"/>
          </p:cNvPicPr>
          <p:nvPr/>
        </p:nvPicPr>
        <p:blipFill>
          <a:blip r:embed="rId8"/>
          <a:stretch>
            <a:fillRect/>
          </a:stretch>
        </p:blipFill>
        <p:spPr>
          <a:xfrm>
            <a:off x="6400800" y="1562100"/>
            <a:ext cx="476250" cy="476250"/>
          </a:xfrm>
          <a:prstGeom prst="rect">
            <a:avLst/>
          </a:prstGeom>
        </p:spPr>
      </p:pic>
      <p:pic>
        <p:nvPicPr>
          <p:cNvPr id="9" name="Image 7" descr="preencoded.png"/>
          <p:cNvPicPr>
            <a:picLocks noChangeAspect="1"/>
          </p:cNvPicPr>
          <p:nvPr/>
        </p:nvPicPr>
        <p:blipFill>
          <a:blip r:embed="rId9"/>
          <a:stretch>
            <a:fillRect/>
          </a:stretch>
        </p:blipFill>
        <p:spPr>
          <a:xfrm>
            <a:off x="6524625" y="1647825"/>
            <a:ext cx="228600" cy="304800"/>
          </a:xfrm>
          <a:prstGeom prst="rect">
            <a:avLst/>
          </a:prstGeom>
        </p:spPr>
      </p:pic>
      <p:pic>
        <p:nvPicPr>
          <p:cNvPr id="10" name="Image 8" descr="preencoded.png"/>
          <p:cNvPicPr>
            <a:picLocks noChangeAspect="1"/>
          </p:cNvPicPr>
          <p:nvPr/>
        </p:nvPicPr>
        <p:blipFill>
          <a:blip r:embed="rId10"/>
          <a:stretch>
            <a:fillRect/>
          </a:stretch>
        </p:blipFill>
        <p:spPr>
          <a:xfrm>
            <a:off x="457200" y="4410075"/>
            <a:ext cx="5524500" cy="1409700"/>
          </a:xfrm>
          <a:prstGeom prst="rect">
            <a:avLst/>
          </a:prstGeom>
        </p:spPr>
      </p:pic>
      <p:pic>
        <p:nvPicPr>
          <p:cNvPr id="11" name="Image 9" descr="preencoded.png"/>
          <p:cNvPicPr>
            <a:picLocks noChangeAspect="1"/>
          </p:cNvPicPr>
          <p:nvPr/>
        </p:nvPicPr>
        <p:blipFill>
          <a:blip r:embed="rId11"/>
          <a:stretch>
            <a:fillRect/>
          </a:stretch>
        </p:blipFill>
        <p:spPr>
          <a:xfrm>
            <a:off x="647700" y="4600575"/>
            <a:ext cx="476250" cy="476250"/>
          </a:xfrm>
          <a:prstGeom prst="rect">
            <a:avLst/>
          </a:prstGeom>
        </p:spPr>
      </p:pic>
      <p:pic>
        <p:nvPicPr>
          <p:cNvPr id="12" name="Image 10" descr="preencoded.png"/>
          <p:cNvPicPr>
            <a:picLocks noChangeAspect="1"/>
          </p:cNvPicPr>
          <p:nvPr/>
        </p:nvPicPr>
        <p:blipFill>
          <a:blip r:embed="rId12"/>
          <a:stretch>
            <a:fillRect/>
          </a:stretch>
        </p:blipFill>
        <p:spPr>
          <a:xfrm>
            <a:off x="771525" y="4686300"/>
            <a:ext cx="228600" cy="304800"/>
          </a:xfrm>
          <a:prstGeom prst="rect">
            <a:avLst/>
          </a:prstGeom>
        </p:spPr>
      </p:pic>
      <p:pic>
        <p:nvPicPr>
          <p:cNvPr id="13" name="Image 11" descr="preencoded.png"/>
          <p:cNvPicPr>
            <a:picLocks noChangeAspect="1"/>
          </p:cNvPicPr>
          <p:nvPr/>
        </p:nvPicPr>
        <p:blipFill>
          <a:blip r:embed="rId10"/>
          <a:stretch>
            <a:fillRect/>
          </a:stretch>
        </p:blipFill>
        <p:spPr>
          <a:xfrm>
            <a:off x="6210300" y="4410075"/>
            <a:ext cx="5524500" cy="1409700"/>
          </a:xfrm>
          <a:prstGeom prst="rect">
            <a:avLst/>
          </a:prstGeom>
        </p:spPr>
      </p:pic>
      <p:pic>
        <p:nvPicPr>
          <p:cNvPr id="14" name="Image 12" descr="preencoded.png"/>
          <p:cNvPicPr>
            <a:picLocks noChangeAspect="1"/>
          </p:cNvPicPr>
          <p:nvPr/>
        </p:nvPicPr>
        <p:blipFill>
          <a:blip r:embed="rId13"/>
          <a:stretch>
            <a:fillRect/>
          </a:stretch>
        </p:blipFill>
        <p:spPr>
          <a:xfrm>
            <a:off x="6400800" y="4600575"/>
            <a:ext cx="476250" cy="476250"/>
          </a:xfrm>
          <a:prstGeom prst="rect">
            <a:avLst/>
          </a:prstGeom>
        </p:spPr>
      </p:pic>
      <p:pic>
        <p:nvPicPr>
          <p:cNvPr id="15" name="Image 13" descr="preencoded.png"/>
          <p:cNvPicPr>
            <a:picLocks noChangeAspect="1"/>
          </p:cNvPicPr>
          <p:nvPr/>
        </p:nvPicPr>
        <p:blipFill>
          <a:blip r:embed="rId14"/>
          <a:stretch>
            <a:fillRect/>
          </a:stretch>
        </p:blipFill>
        <p:spPr>
          <a:xfrm>
            <a:off x="6510338" y="4686300"/>
            <a:ext cx="257175" cy="304800"/>
          </a:xfrm>
          <a:prstGeom prst="rect">
            <a:avLst/>
          </a:prstGeom>
        </p:spPr>
      </p:pic>
      <p:sp>
        <p:nvSpPr>
          <p:cNvPr id="16" name="Text 0"/>
          <p:cNvSpPr/>
          <p:nvPr/>
        </p:nvSpPr>
        <p:spPr>
          <a:xfrm>
            <a:off x="457200" y="457200"/>
            <a:ext cx="1353312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Authentification Multifacteur et Mots de Passe</a:t>
            </a:r>
            <a:endParaRPr lang="en-US" sz="2700" dirty="0"/>
          </a:p>
        </p:txBody>
      </p:sp>
      <p:sp>
        <p:nvSpPr>
          <p:cNvPr id="17" name="Text 1"/>
          <p:cNvSpPr/>
          <p:nvPr/>
        </p:nvSpPr>
        <p:spPr>
          <a:xfrm>
            <a:off x="1266825" y="1666875"/>
            <a:ext cx="2871430"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Mots de Passe Complexes</a:t>
            </a:r>
            <a:endParaRPr lang="en-US" sz="1500" dirty="0"/>
          </a:p>
        </p:txBody>
      </p:sp>
      <p:sp>
        <p:nvSpPr>
          <p:cNvPr id="18" name="Text 2"/>
          <p:cNvSpPr/>
          <p:nvPr/>
        </p:nvSpPr>
        <p:spPr>
          <a:xfrm>
            <a:off x="1066800" y="21336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Longueur d'au moins 12-15 caractères</a:t>
            </a:r>
            <a:endParaRPr lang="en-US" sz="1200" dirty="0"/>
          </a:p>
        </p:txBody>
      </p:sp>
      <p:sp>
        <p:nvSpPr>
          <p:cNvPr id="19" name="Text 3"/>
          <p:cNvSpPr/>
          <p:nvPr/>
        </p:nvSpPr>
        <p:spPr>
          <a:xfrm>
            <a:off x="1066800" y="24384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Combinaison de lettres minuscules et majuscules</a:t>
            </a:r>
            <a:endParaRPr lang="en-US" sz="1200" dirty="0"/>
          </a:p>
        </p:txBody>
      </p:sp>
      <p:sp>
        <p:nvSpPr>
          <p:cNvPr id="20" name="Text 4"/>
          <p:cNvSpPr/>
          <p:nvPr/>
        </p:nvSpPr>
        <p:spPr>
          <a:xfrm>
            <a:off x="1066800" y="27432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Inclusion de chiffres et de caractères spéciaux</a:t>
            </a:r>
            <a:endParaRPr lang="en-US" sz="1200" dirty="0"/>
          </a:p>
        </p:txBody>
      </p:sp>
      <p:sp>
        <p:nvSpPr>
          <p:cNvPr id="21" name="Text 5"/>
          <p:cNvSpPr/>
          <p:nvPr/>
        </p:nvSpPr>
        <p:spPr>
          <a:xfrm>
            <a:off x="1257300" y="3076575"/>
            <a:ext cx="3965972" cy="390525"/>
          </a:xfrm>
          <a:prstGeom prst="rect">
            <a:avLst/>
          </a:prstGeom>
          <a:noFill/>
          <a:ln/>
        </p:spPr>
        <p:txBody>
          <a:bodyPr wrap="square" lIns="0" tIns="0" rIns="0" bIns="0" rtlCol="0" anchor="t"/>
          <a:lstStyle/>
          <a:p>
            <a:pPr marL="0" indent="0" algn="l">
              <a:lnSpc>
                <a:spcPts val="1800"/>
              </a:lnSpc>
              <a:buNone/>
            </a:pPr>
            <a:r>
              <a:rPr lang="en-US" sz="1200" b="1" dirty="0">
                <a:solidFill>
                  <a:srgbClr val="FF6B35"/>
                </a:solidFill>
                <a:latin typeface="Arial" pitchFamily="34" charset="0"/>
                <a:ea typeface="Arial" pitchFamily="34" charset="-122"/>
                <a:cs typeface="Arial" pitchFamily="34" charset="-120"/>
              </a:rPr>
              <a:t>N'utilisez jamais le même mot de passe pour différents comptes</a:t>
            </a:r>
            <a:endParaRPr lang="en-US" sz="1200" dirty="0"/>
          </a:p>
        </p:txBody>
      </p:sp>
      <p:sp>
        <p:nvSpPr>
          <p:cNvPr id="22" name="Text 6"/>
          <p:cNvSpPr/>
          <p:nvPr/>
        </p:nvSpPr>
        <p:spPr>
          <a:xfrm>
            <a:off x="7019925" y="1666875"/>
            <a:ext cx="3797082"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Authentification Multifacteur (MFA)</a:t>
            </a:r>
            <a:endParaRPr lang="en-US" sz="1500" dirty="0"/>
          </a:p>
        </p:txBody>
      </p:sp>
      <p:sp>
        <p:nvSpPr>
          <p:cNvPr id="23" name="Text 7"/>
          <p:cNvSpPr/>
          <p:nvPr/>
        </p:nvSpPr>
        <p:spPr>
          <a:xfrm>
            <a:off x="6400800" y="2133600"/>
            <a:ext cx="514350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Ajoute une couche de sécurité supplémentaire en exigeant une deuxième forme de vérification.</a:t>
            </a:r>
            <a:endParaRPr lang="en-US" sz="1200" dirty="0"/>
          </a:p>
        </p:txBody>
      </p:sp>
      <p:sp>
        <p:nvSpPr>
          <p:cNvPr id="24" name="Text 8"/>
          <p:cNvSpPr/>
          <p:nvPr/>
        </p:nvSpPr>
        <p:spPr>
          <a:xfrm>
            <a:off x="6819900" y="27051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Code SMS envoyé sur votre mobile</a:t>
            </a:r>
            <a:endParaRPr lang="en-US" sz="1200" dirty="0"/>
          </a:p>
        </p:txBody>
      </p:sp>
      <p:sp>
        <p:nvSpPr>
          <p:cNvPr id="25" name="Text 9"/>
          <p:cNvSpPr/>
          <p:nvPr/>
        </p:nvSpPr>
        <p:spPr>
          <a:xfrm>
            <a:off x="6819900" y="30099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Application d'authentification</a:t>
            </a:r>
            <a:endParaRPr lang="en-US" sz="1200" dirty="0"/>
          </a:p>
        </p:txBody>
      </p:sp>
      <p:sp>
        <p:nvSpPr>
          <p:cNvPr id="26" name="Text 10"/>
          <p:cNvSpPr/>
          <p:nvPr/>
        </p:nvSpPr>
        <p:spPr>
          <a:xfrm>
            <a:off x="6819900" y="33147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Empreinte digitale ou reconnaissance faciale</a:t>
            </a:r>
            <a:endParaRPr lang="en-US" sz="1200" dirty="0"/>
          </a:p>
        </p:txBody>
      </p:sp>
      <p:sp>
        <p:nvSpPr>
          <p:cNvPr id="27" name="Text 11"/>
          <p:cNvSpPr/>
          <p:nvPr/>
        </p:nvSpPr>
        <p:spPr>
          <a:xfrm>
            <a:off x="6819900" y="3619500"/>
            <a:ext cx="5669280" cy="228600"/>
          </a:xfrm>
          <a:prstGeom prst="rect">
            <a:avLst/>
          </a:prstGeom>
          <a:noFill/>
          <a:ln/>
        </p:spPr>
        <p:txBody>
          <a:bodyPr wrap="square" lIns="0" tIns="0" rIns="0" bIns="0" rtlCol="0" anchor="t"/>
          <a:lstStyle/>
          <a:p>
            <a:pPr marL="342900" indent="-342900" algn="l">
              <a:lnSpc>
                <a:spcPts val="1800"/>
              </a:lnSpc>
              <a:buSzPct val="100000"/>
              <a:buChar char="•"/>
            </a:pPr>
            <a:r>
              <a:rPr lang="en-US" sz="1200" dirty="0">
                <a:solidFill>
                  <a:srgbClr val="F7FFF7"/>
                </a:solidFill>
                <a:latin typeface="Arial" pitchFamily="34" charset="0"/>
                <a:ea typeface="Arial" pitchFamily="34" charset="-122"/>
                <a:cs typeface="Arial" pitchFamily="34" charset="-120"/>
              </a:rPr>
              <a:t>Activez la MFA partout où c'est possible</a:t>
            </a:r>
            <a:endParaRPr lang="en-US" sz="1200" dirty="0"/>
          </a:p>
        </p:txBody>
      </p:sp>
      <p:sp>
        <p:nvSpPr>
          <p:cNvPr id="28" name="Text 12"/>
          <p:cNvSpPr/>
          <p:nvPr/>
        </p:nvSpPr>
        <p:spPr>
          <a:xfrm>
            <a:off x="1266825" y="4705350"/>
            <a:ext cx="2363153"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Mise à Jour Régulière</a:t>
            </a:r>
            <a:endParaRPr lang="en-US" sz="1500" dirty="0"/>
          </a:p>
        </p:txBody>
      </p:sp>
      <p:sp>
        <p:nvSpPr>
          <p:cNvPr id="29" name="Text 13"/>
          <p:cNvSpPr/>
          <p:nvPr/>
        </p:nvSpPr>
        <p:spPr>
          <a:xfrm>
            <a:off x="647700" y="5172075"/>
            <a:ext cx="514350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Changez vos mots de passe si vous suspectez une compromission ou régulièrement pour renforcer la sécurité.</a:t>
            </a:r>
            <a:endParaRPr lang="en-US" sz="1200" dirty="0"/>
          </a:p>
        </p:txBody>
      </p:sp>
      <p:sp>
        <p:nvSpPr>
          <p:cNvPr id="30" name="Text 14"/>
          <p:cNvSpPr/>
          <p:nvPr/>
        </p:nvSpPr>
        <p:spPr>
          <a:xfrm>
            <a:off x="7019925" y="4705350"/>
            <a:ext cx="3379351"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Gestionnaire de Mots de Passe</a:t>
            </a:r>
            <a:endParaRPr lang="en-US" sz="1500" dirty="0"/>
          </a:p>
        </p:txBody>
      </p:sp>
      <p:sp>
        <p:nvSpPr>
          <p:cNvPr id="31" name="Text 15"/>
          <p:cNvSpPr/>
          <p:nvPr/>
        </p:nvSpPr>
        <p:spPr>
          <a:xfrm>
            <a:off x="6400800" y="5172075"/>
            <a:ext cx="5143500" cy="4572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Utilisez un gestionnaire de mots de passe pour créer, stocker et gérer vos identifiants de manière sécurisée.</a:t>
            </a:r>
            <a:endParaRPr lang="en-US" sz="1200" dirty="0"/>
          </a:p>
        </p:txBody>
      </p:sp>
      <p:sp>
        <p:nvSpPr>
          <p:cNvPr id="32" name="Text 16"/>
          <p:cNvSpPr/>
          <p:nvPr/>
        </p:nvSpPr>
        <p:spPr>
          <a:xfrm>
            <a:off x="457200" y="62103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16</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82296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552450" y="3981004"/>
            <a:ext cx="4698950" cy="1752600"/>
          </a:xfrm>
          <a:prstGeom prst="rect">
            <a:avLst/>
          </a:prstGeom>
        </p:spPr>
      </p:pic>
      <p:pic>
        <p:nvPicPr>
          <p:cNvPr id="5" name="Image 3" descr="preencoded.png"/>
          <p:cNvPicPr>
            <a:picLocks noChangeAspect="1"/>
          </p:cNvPicPr>
          <p:nvPr/>
        </p:nvPicPr>
        <p:blipFill>
          <a:blip r:embed="rId6"/>
          <a:stretch>
            <a:fillRect/>
          </a:stretch>
        </p:blipFill>
        <p:spPr>
          <a:xfrm>
            <a:off x="742950" y="4171504"/>
            <a:ext cx="285750" cy="342900"/>
          </a:xfrm>
          <a:prstGeom prst="rect">
            <a:avLst/>
          </a:prstGeom>
        </p:spPr>
      </p:pic>
      <p:pic>
        <p:nvPicPr>
          <p:cNvPr id="6" name="Image 4" descr="preencoded.png"/>
          <p:cNvPicPr>
            <a:picLocks noChangeAspect="1"/>
          </p:cNvPicPr>
          <p:nvPr/>
        </p:nvPicPr>
        <p:blipFill>
          <a:blip r:embed="rId7"/>
          <a:stretch>
            <a:fillRect/>
          </a:stretch>
        </p:blipFill>
        <p:spPr>
          <a:xfrm>
            <a:off x="6940600" y="3981004"/>
            <a:ext cx="4698950" cy="1752600"/>
          </a:xfrm>
          <a:prstGeom prst="rect">
            <a:avLst/>
          </a:prstGeom>
        </p:spPr>
      </p:pic>
      <p:pic>
        <p:nvPicPr>
          <p:cNvPr id="7" name="Image 5" descr="preencoded.png"/>
          <p:cNvPicPr>
            <a:picLocks noChangeAspect="1"/>
          </p:cNvPicPr>
          <p:nvPr/>
        </p:nvPicPr>
        <p:blipFill>
          <a:blip r:embed="rId8"/>
          <a:stretch>
            <a:fillRect/>
          </a:stretch>
        </p:blipFill>
        <p:spPr>
          <a:xfrm>
            <a:off x="7131100" y="4171504"/>
            <a:ext cx="361950" cy="342900"/>
          </a:xfrm>
          <a:prstGeom prst="rect">
            <a:avLst/>
          </a:prstGeom>
        </p:spPr>
      </p:pic>
      <p:pic>
        <p:nvPicPr>
          <p:cNvPr id="8" name="Image 6" descr="preencoded.png"/>
          <p:cNvPicPr>
            <a:picLocks noChangeAspect="1"/>
          </p:cNvPicPr>
          <p:nvPr/>
        </p:nvPicPr>
        <p:blipFill>
          <a:blip r:embed="rId9"/>
          <a:stretch>
            <a:fillRect/>
          </a:stretch>
        </p:blipFill>
        <p:spPr>
          <a:xfrm>
            <a:off x="552450" y="5924104"/>
            <a:ext cx="4698950" cy="1524000"/>
          </a:xfrm>
          <a:prstGeom prst="rect">
            <a:avLst/>
          </a:prstGeom>
        </p:spPr>
      </p:pic>
      <p:pic>
        <p:nvPicPr>
          <p:cNvPr id="9" name="Image 7" descr="preencoded.png"/>
          <p:cNvPicPr>
            <a:picLocks noChangeAspect="1"/>
          </p:cNvPicPr>
          <p:nvPr/>
        </p:nvPicPr>
        <p:blipFill>
          <a:blip r:embed="rId10"/>
          <a:stretch>
            <a:fillRect/>
          </a:stretch>
        </p:blipFill>
        <p:spPr>
          <a:xfrm>
            <a:off x="742950" y="6114604"/>
            <a:ext cx="285750" cy="342900"/>
          </a:xfrm>
          <a:prstGeom prst="rect">
            <a:avLst/>
          </a:prstGeom>
        </p:spPr>
      </p:pic>
      <p:pic>
        <p:nvPicPr>
          <p:cNvPr id="10" name="Image 8" descr="preencoded.png"/>
          <p:cNvPicPr>
            <a:picLocks noChangeAspect="1"/>
          </p:cNvPicPr>
          <p:nvPr/>
        </p:nvPicPr>
        <p:blipFill>
          <a:blip r:embed="rId11"/>
          <a:stretch>
            <a:fillRect/>
          </a:stretch>
        </p:blipFill>
        <p:spPr>
          <a:xfrm>
            <a:off x="6940600" y="5924104"/>
            <a:ext cx="4698950" cy="1524000"/>
          </a:xfrm>
          <a:prstGeom prst="rect">
            <a:avLst/>
          </a:prstGeom>
        </p:spPr>
      </p:pic>
      <p:pic>
        <p:nvPicPr>
          <p:cNvPr id="11" name="Image 9" descr="preencoded.png"/>
          <p:cNvPicPr>
            <a:picLocks noChangeAspect="1"/>
          </p:cNvPicPr>
          <p:nvPr/>
        </p:nvPicPr>
        <p:blipFill>
          <a:blip r:embed="rId12"/>
          <a:stretch>
            <a:fillRect/>
          </a:stretch>
        </p:blipFill>
        <p:spPr>
          <a:xfrm>
            <a:off x="7131100" y="6114604"/>
            <a:ext cx="285750" cy="342900"/>
          </a:xfrm>
          <a:prstGeom prst="rect">
            <a:avLst/>
          </a:prstGeom>
        </p:spPr>
      </p:pic>
      <p:pic>
        <p:nvPicPr>
          <p:cNvPr id="12" name="Image 10" descr="preencoded.png"/>
          <p:cNvPicPr>
            <a:picLocks noChangeAspect="1"/>
          </p:cNvPicPr>
          <p:nvPr/>
        </p:nvPicPr>
        <p:blipFill>
          <a:blip r:embed="rId13"/>
          <a:stretch>
            <a:fillRect/>
          </a:stretch>
        </p:blipFill>
        <p:spPr>
          <a:xfrm>
            <a:off x="9810750" y="952500"/>
            <a:ext cx="1905000" cy="1905000"/>
          </a:xfrm>
          <a:prstGeom prst="rect">
            <a:avLst/>
          </a:prstGeom>
        </p:spPr>
      </p:pic>
      <p:sp>
        <p:nvSpPr>
          <p:cNvPr id="13"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Votre Rôle est Crucial</a:t>
            </a:r>
            <a:endParaRPr lang="en-US" sz="2700" dirty="0"/>
          </a:p>
        </p:txBody>
      </p:sp>
      <p:sp>
        <p:nvSpPr>
          <p:cNvPr id="14" name="Text 1"/>
          <p:cNvSpPr/>
          <p:nvPr/>
        </p:nvSpPr>
        <p:spPr>
          <a:xfrm>
            <a:off x="457200" y="1371600"/>
            <a:ext cx="11277600" cy="1097012"/>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Chaque employé est la </a:t>
            </a:r>
            <a:r>
              <a:rPr lang="en-US" sz="1800" b="1" dirty="0">
                <a:solidFill>
                  <a:srgbClr val="FF6B35"/>
                </a:solidFill>
                <a:latin typeface="Arial" pitchFamily="34" charset="0"/>
                <a:ea typeface="Arial" pitchFamily="34" charset="-122"/>
                <a:cs typeface="Arial" pitchFamily="34" charset="-120"/>
              </a:rPr>
              <a:t>première ligne de défense</a:t>
            </a:r>
            <a:r>
              <a:rPr lang="en-US" sz="1800" dirty="0">
                <a:solidFill>
                  <a:srgbClr val="F7FFF7"/>
                </a:solidFill>
                <a:latin typeface="Arial" pitchFamily="34" charset="0"/>
                <a:ea typeface="Arial" pitchFamily="34" charset="-122"/>
                <a:cs typeface="Arial" pitchFamily="34" charset="-120"/>
              </a:rPr>
              <a:t> de l'entreprise contre les cybermenaces. Votre vigilance et votre adhésion aux bonnes pratiques de sécurité sont essentielles pour protéger nos informations sensibles et assurer la continuité de nos activités.</a:t>
            </a:r>
            <a:endParaRPr lang="en-US" sz="1800" dirty="0"/>
          </a:p>
        </p:txBody>
      </p:sp>
      <p:sp>
        <p:nvSpPr>
          <p:cNvPr id="15" name="Text 2"/>
          <p:cNvSpPr/>
          <p:nvPr/>
        </p:nvSpPr>
        <p:spPr>
          <a:xfrm>
            <a:off x="457200" y="2697212"/>
            <a:ext cx="112776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En restant informés et en agissant de manière proactive, nous construisons ensemble une culture de sécurité robuste.</a:t>
            </a:r>
            <a:endParaRPr lang="en-US" sz="1800" dirty="0"/>
          </a:p>
        </p:txBody>
      </p:sp>
      <p:sp>
        <p:nvSpPr>
          <p:cNvPr id="16" name="Text 3"/>
          <p:cNvSpPr/>
          <p:nvPr/>
        </p:nvSpPr>
        <p:spPr>
          <a:xfrm>
            <a:off x="1143000" y="4209604"/>
            <a:ext cx="1681103"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Défenseur Actif</a:t>
            </a:r>
            <a:endParaRPr lang="en-US" sz="1500" dirty="0"/>
          </a:p>
        </p:txBody>
      </p:sp>
      <p:sp>
        <p:nvSpPr>
          <p:cNvPr id="17" name="Text 4"/>
          <p:cNvSpPr/>
          <p:nvPr/>
        </p:nvSpPr>
        <p:spPr>
          <a:xfrm>
            <a:off x="742950" y="4628704"/>
            <a:ext cx="4317950" cy="6858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Votre vigilance quotidienne est la première barrière contre les cybermenaces. Chaque courrier électronique suspect, chaque lien inconnu que vous repérez contribue à la sécurité collective.</a:t>
            </a:r>
            <a:endParaRPr lang="en-US" sz="1200" dirty="0"/>
          </a:p>
        </p:txBody>
      </p:sp>
      <p:sp>
        <p:nvSpPr>
          <p:cNvPr id="18" name="Text 5"/>
          <p:cNvSpPr/>
          <p:nvPr/>
        </p:nvSpPr>
        <p:spPr>
          <a:xfrm>
            <a:off x="7607350" y="4209604"/>
            <a:ext cx="2853928"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Communauté de Vigilance</a:t>
            </a:r>
            <a:endParaRPr lang="en-US" sz="1500" dirty="0"/>
          </a:p>
        </p:txBody>
      </p:sp>
      <p:sp>
        <p:nvSpPr>
          <p:cNvPr id="19" name="Text 6"/>
          <p:cNvSpPr/>
          <p:nvPr/>
        </p:nvSpPr>
        <p:spPr>
          <a:xfrm>
            <a:off x="7131100" y="4628704"/>
            <a:ext cx="4317950" cy="9144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La sécurité n'est pas une responsabilité individuelle. En partageant vos connaissances et en formant vos collègues, vous contribuez à créer une culture de sécurité robuste au sein de l'entreprise.</a:t>
            </a:r>
            <a:endParaRPr lang="en-US" sz="1200" dirty="0"/>
          </a:p>
        </p:txBody>
      </p:sp>
      <p:sp>
        <p:nvSpPr>
          <p:cNvPr id="20" name="Text 7"/>
          <p:cNvSpPr/>
          <p:nvPr/>
        </p:nvSpPr>
        <p:spPr>
          <a:xfrm>
            <a:off x="1143000" y="6152704"/>
            <a:ext cx="2514779"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Apprentissage Continu</a:t>
            </a:r>
            <a:endParaRPr lang="en-US" sz="1500" dirty="0"/>
          </a:p>
        </p:txBody>
      </p:sp>
      <p:sp>
        <p:nvSpPr>
          <p:cNvPr id="21" name="Text 8"/>
          <p:cNvSpPr/>
          <p:nvPr/>
        </p:nvSpPr>
        <p:spPr>
          <a:xfrm>
            <a:off x="742950" y="6571804"/>
            <a:ext cx="4317950" cy="6858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La cybersécurité est un domaine en constante évolution. Votre engagement à apprendre et à vous mettre à jour régulièrement sur les dernières menaces et protections est crucial.</a:t>
            </a:r>
            <a:endParaRPr lang="en-US" sz="1200" dirty="0"/>
          </a:p>
        </p:txBody>
      </p:sp>
      <p:sp>
        <p:nvSpPr>
          <p:cNvPr id="22" name="Text 9"/>
          <p:cNvSpPr/>
          <p:nvPr/>
        </p:nvSpPr>
        <p:spPr>
          <a:xfrm>
            <a:off x="7531150" y="6152704"/>
            <a:ext cx="1642527" cy="266700"/>
          </a:xfrm>
          <a:prstGeom prst="rect">
            <a:avLst/>
          </a:prstGeom>
          <a:noFill/>
          <a:ln/>
        </p:spPr>
        <p:txBody>
          <a:bodyPr wrap="square" lIns="0" tIns="0" rIns="0" bIns="0" rtlCol="0" anchor="t"/>
          <a:lstStyle/>
          <a:p>
            <a:pPr marL="0" indent="0">
              <a:lnSpc>
                <a:spcPts val="2100"/>
              </a:lnSpc>
              <a:buNone/>
            </a:pPr>
            <a:r>
              <a:rPr lang="en-US" sz="1500" b="1" dirty="0">
                <a:solidFill>
                  <a:srgbClr val="F7FFF7"/>
                </a:solidFill>
                <a:latin typeface="Arial" pitchFamily="34" charset="0"/>
                <a:ea typeface="Arial" pitchFamily="34" charset="-122"/>
                <a:cs typeface="Arial" pitchFamily="34" charset="-120"/>
              </a:rPr>
              <a:t>Reporting Actif</a:t>
            </a:r>
            <a:endParaRPr lang="en-US" sz="1500" dirty="0"/>
          </a:p>
        </p:txBody>
      </p:sp>
      <p:sp>
        <p:nvSpPr>
          <p:cNvPr id="23" name="Text 10"/>
          <p:cNvSpPr/>
          <p:nvPr/>
        </p:nvSpPr>
        <p:spPr>
          <a:xfrm>
            <a:off x="7131100" y="6571804"/>
            <a:ext cx="4317950" cy="685800"/>
          </a:xfrm>
          <a:prstGeom prst="rect">
            <a:avLst/>
          </a:prstGeom>
          <a:noFill/>
          <a:ln/>
        </p:spPr>
        <p:txBody>
          <a:bodyPr wrap="square" lIns="0" tIns="0" rIns="0" bIns="0" rtlCol="0" anchor="t"/>
          <a:lstStyle/>
          <a:p>
            <a:pPr marL="0" indent="0">
              <a:lnSpc>
                <a:spcPts val="1800"/>
              </a:lnSpc>
              <a:buNone/>
            </a:pPr>
            <a:r>
              <a:rPr lang="en-US" sz="1200" dirty="0">
                <a:solidFill>
                  <a:srgbClr val="F7FFF7"/>
                </a:solidFill>
                <a:latin typeface="Arial" pitchFamily="34" charset="0"/>
                <a:ea typeface="Arial" pitchFamily="34" charset="-122"/>
                <a:cs typeface="Arial" pitchFamily="34" charset="-120"/>
              </a:rPr>
              <a:t>Ne pas hésiter à signaler les activités suspectes. Vos rapports d'incident sont précieux pour permettre une intervention rapide et une protection renforcée.</a:t>
            </a:r>
            <a:endParaRPr lang="en-US" sz="1200" dirty="0"/>
          </a:p>
        </p:txBody>
      </p:sp>
      <p:sp>
        <p:nvSpPr>
          <p:cNvPr id="24" name="Text 11"/>
          <p:cNvSpPr/>
          <p:nvPr/>
        </p:nvSpPr>
        <p:spPr>
          <a:xfrm>
            <a:off x="457200" y="75819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17</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866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277600" cy="609600"/>
          </a:xfrm>
          <a:prstGeom prst="rect">
            <a:avLst/>
          </a:prstGeom>
        </p:spPr>
      </p:pic>
      <p:pic>
        <p:nvPicPr>
          <p:cNvPr id="4" name="Image 2" descr="preencoded.png"/>
          <p:cNvPicPr>
            <a:picLocks noChangeAspect="1"/>
          </p:cNvPicPr>
          <p:nvPr/>
        </p:nvPicPr>
        <p:blipFill>
          <a:blip r:embed="rId5"/>
          <a:stretch>
            <a:fillRect/>
          </a:stretch>
        </p:blipFill>
        <p:spPr>
          <a:xfrm>
            <a:off x="609600" y="3078212"/>
            <a:ext cx="3454450" cy="2238375"/>
          </a:xfrm>
          <a:prstGeom prst="rect">
            <a:avLst/>
          </a:prstGeom>
        </p:spPr>
      </p:pic>
      <p:pic>
        <p:nvPicPr>
          <p:cNvPr id="5" name="Image 3" descr="preencoded.png"/>
          <p:cNvPicPr>
            <a:picLocks noChangeAspect="1"/>
          </p:cNvPicPr>
          <p:nvPr/>
        </p:nvPicPr>
        <p:blipFill>
          <a:blip r:embed="rId6"/>
          <a:stretch>
            <a:fillRect/>
          </a:stretch>
        </p:blipFill>
        <p:spPr>
          <a:xfrm>
            <a:off x="1955750" y="3306812"/>
            <a:ext cx="762000" cy="762000"/>
          </a:xfrm>
          <a:prstGeom prst="rect">
            <a:avLst/>
          </a:prstGeom>
        </p:spPr>
      </p:pic>
      <p:pic>
        <p:nvPicPr>
          <p:cNvPr id="6" name="Image 4" descr="preencoded.png"/>
          <p:cNvPicPr>
            <a:picLocks noChangeAspect="1"/>
          </p:cNvPicPr>
          <p:nvPr/>
        </p:nvPicPr>
        <p:blipFill>
          <a:blip r:embed="rId7"/>
          <a:stretch>
            <a:fillRect/>
          </a:stretch>
        </p:blipFill>
        <p:spPr>
          <a:xfrm>
            <a:off x="2165300" y="3497312"/>
            <a:ext cx="342900" cy="381000"/>
          </a:xfrm>
          <a:prstGeom prst="rect">
            <a:avLst/>
          </a:prstGeom>
        </p:spPr>
      </p:pic>
      <p:pic>
        <p:nvPicPr>
          <p:cNvPr id="7" name="Image 5" descr="preencoded.png"/>
          <p:cNvPicPr>
            <a:picLocks noChangeAspect="1"/>
          </p:cNvPicPr>
          <p:nvPr/>
        </p:nvPicPr>
        <p:blipFill>
          <a:blip r:embed="rId8"/>
          <a:stretch>
            <a:fillRect/>
          </a:stretch>
        </p:blipFill>
        <p:spPr>
          <a:xfrm>
            <a:off x="4368850" y="3078212"/>
            <a:ext cx="3454450" cy="2238375"/>
          </a:xfrm>
          <a:prstGeom prst="rect">
            <a:avLst/>
          </a:prstGeom>
        </p:spPr>
      </p:pic>
      <p:pic>
        <p:nvPicPr>
          <p:cNvPr id="8" name="Image 6" descr="preencoded.png"/>
          <p:cNvPicPr>
            <a:picLocks noChangeAspect="1"/>
          </p:cNvPicPr>
          <p:nvPr/>
        </p:nvPicPr>
        <p:blipFill>
          <a:blip r:embed="rId9"/>
          <a:stretch>
            <a:fillRect/>
          </a:stretch>
        </p:blipFill>
        <p:spPr>
          <a:xfrm>
            <a:off x="5715000" y="3306812"/>
            <a:ext cx="762000" cy="762000"/>
          </a:xfrm>
          <a:prstGeom prst="rect">
            <a:avLst/>
          </a:prstGeom>
        </p:spPr>
      </p:pic>
      <p:pic>
        <p:nvPicPr>
          <p:cNvPr id="9" name="Image 7" descr="preencoded.png"/>
          <p:cNvPicPr>
            <a:picLocks noChangeAspect="1"/>
          </p:cNvPicPr>
          <p:nvPr/>
        </p:nvPicPr>
        <p:blipFill>
          <a:blip r:embed="rId10"/>
          <a:stretch>
            <a:fillRect/>
          </a:stretch>
        </p:blipFill>
        <p:spPr>
          <a:xfrm>
            <a:off x="5924550" y="3497312"/>
            <a:ext cx="342900" cy="381000"/>
          </a:xfrm>
          <a:prstGeom prst="rect">
            <a:avLst/>
          </a:prstGeom>
        </p:spPr>
      </p:pic>
      <p:pic>
        <p:nvPicPr>
          <p:cNvPr id="10" name="Image 8" descr="preencoded.png"/>
          <p:cNvPicPr>
            <a:picLocks noChangeAspect="1"/>
          </p:cNvPicPr>
          <p:nvPr/>
        </p:nvPicPr>
        <p:blipFill>
          <a:blip r:embed="rId11"/>
          <a:stretch>
            <a:fillRect/>
          </a:stretch>
        </p:blipFill>
        <p:spPr>
          <a:xfrm>
            <a:off x="8128099" y="3078212"/>
            <a:ext cx="3454450" cy="2238375"/>
          </a:xfrm>
          <a:prstGeom prst="rect">
            <a:avLst/>
          </a:prstGeom>
        </p:spPr>
      </p:pic>
      <p:pic>
        <p:nvPicPr>
          <p:cNvPr id="11" name="Image 9" descr="preencoded.png"/>
          <p:cNvPicPr>
            <a:picLocks noChangeAspect="1"/>
          </p:cNvPicPr>
          <p:nvPr/>
        </p:nvPicPr>
        <p:blipFill>
          <a:blip r:embed="rId12"/>
          <a:stretch>
            <a:fillRect/>
          </a:stretch>
        </p:blipFill>
        <p:spPr>
          <a:xfrm>
            <a:off x="9474250" y="3306812"/>
            <a:ext cx="762000" cy="762000"/>
          </a:xfrm>
          <a:prstGeom prst="rect">
            <a:avLst/>
          </a:prstGeom>
        </p:spPr>
      </p:pic>
      <p:pic>
        <p:nvPicPr>
          <p:cNvPr id="12" name="Image 10" descr="preencoded.png"/>
          <p:cNvPicPr>
            <a:picLocks noChangeAspect="1"/>
          </p:cNvPicPr>
          <p:nvPr/>
        </p:nvPicPr>
        <p:blipFill>
          <a:blip r:embed="rId13"/>
          <a:stretch>
            <a:fillRect/>
          </a:stretch>
        </p:blipFill>
        <p:spPr>
          <a:xfrm>
            <a:off x="9683800" y="3497312"/>
            <a:ext cx="342900" cy="381000"/>
          </a:xfrm>
          <a:prstGeom prst="rect">
            <a:avLst/>
          </a:prstGeom>
        </p:spPr>
      </p:pic>
      <p:sp>
        <p:nvSpPr>
          <p:cNvPr id="13" name="Text 0"/>
          <p:cNvSpPr/>
          <p:nvPr/>
        </p:nvSpPr>
        <p:spPr>
          <a:xfrm>
            <a:off x="457200" y="457200"/>
            <a:ext cx="11277600" cy="609600"/>
          </a:xfrm>
          <a:prstGeom prst="rect">
            <a:avLst/>
          </a:prstGeom>
          <a:noFill/>
          <a:ln/>
        </p:spPr>
        <p:txBody>
          <a:bodyPr wrap="square" lIns="0" tIns="0" rIns="0" bIns="0" rtlCol="0" anchor="t"/>
          <a:lstStyle/>
          <a:p>
            <a:pPr marL="0" indent="0">
              <a:lnSpc>
                <a:spcPts val="4050"/>
              </a:lnSpc>
              <a:buNone/>
            </a:pPr>
            <a:r>
              <a:rPr lang="en-US" sz="2700" b="1" dirty="0">
                <a:solidFill>
                  <a:srgbClr val="F7FFF7"/>
                </a:solidFill>
                <a:latin typeface="Arial" pitchFamily="34" charset="0"/>
                <a:ea typeface="Arial" pitchFamily="34" charset="-122"/>
                <a:cs typeface="Arial" pitchFamily="34" charset="-120"/>
              </a:rPr>
              <a:t>Questions et Contact</a:t>
            </a:r>
            <a:endParaRPr lang="en-US" sz="2700" dirty="0"/>
          </a:p>
        </p:txBody>
      </p:sp>
      <p:sp>
        <p:nvSpPr>
          <p:cNvPr id="14" name="Text 1"/>
          <p:cNvSpPr/>
          <p:nvPr/>
        </p:nvSpPr>
        <p:spPr>
          <a:xfrm>
            <a:off x="457200" y="1371600"/>
            <a:ext cx="11277600" cy="73134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Nous sommes arrivés à la fin de cette présentation. Votre vigilance est notre meilleure défense. N'hésitez pas à poser vos questions.</a:t>
            </a:r>
            <a:endParaRPr lang="en-US" sz="1800" dirty="0"/>
          </a:p>
        </p:txBody>
      </p:sp>
      <p:sp>
        <p:nvSpPr>
          <p:cNvPr id="15" name="Text 2"/>
          <p:cNvSpPr/>
          <p:nvPr/>
        </p:nvSpPr>
        <p:spPr>
          <a:xfrm>
            <a:off x="457200" y="2255341"/>
            <a:ext cx="13533120" cy="365671"/>
          </a:xfrm>
          <a:prstGeom prst="rect">
            <a:avLst/>
          </a:prstGeom>
          <a:noFill/>
          <a:ln/>
        </p:spPr>
        <p:txBody>
          <a:bodyPr wrap="square" lIns="0" tIns="0" rIns="0" bIns="0" rtlCol="0" anchor="t"/>
          <a:lstStyle/>
          <a:p>
            <a:pPr marL="0" indent="0">
              <a:lnSpc>
                <a:spcPts val="2880"/>
              </a:lnSpc>
              <a:buNone/>
            </a:pPr>
            <a:r>
              <a:rPr lang="en-US" sz="1800" dirty="0">
                <a:solidFill>
                  <a:srgbClr val="F7FFF7"/>
                </a:solidFill>
                <a:latin typeface="Arial" pitchFamily="34" charset="0"/>
                <a:ea typeface="Arial" pitchFamily="34" charset="-122"/>
                <a:cs typeface="Arial" pitchFamily="34" charset="-120"/>
              </a:rPr>
              <a:t>Pour toute question ou pour signaler un incident, veuillez contacter :</a:t>
            </a:r>
            <a:endParaRPr lang="en-US" sz="1800" dirty="0"/>
          </a:p>
        </p:txBody>
      </p:sp>
      <p:sp>
        <p:nvSpPr>
          <p:cNvPr id="16" name="Text 3"/>
          <p:cNvSpPr/>
          <p:nvPr/>
        </p:nvSpPr>
        <p:spPr>
          <a:xfrm>
            <a:off x="838200" y="4211687"/>
            <a:ext cx="2997250" cy="533400"/>
          </a:xfrm>
          <a:prstGeom prst="rect">
            <a:avLst/>
          </a:prstGeom>
          <a:noFill/>
          <a:ln/>
        </p:spPr>
        <p:txBody>
          <a:bodyPr wrap="square" lIns="0" tIns="0" rIns="0" bIns="0" rtlCol="0" anchor="t"/>
          <a:lstStyle/>
          <a:p>
            <a:pPr marL="0" indent="0" algn="ctr">
              <a:lnSpc>
                <a:spcPts val="2100"/>
              </a:lnSpc>
              <a:buNone/>
            </a:pPr>
            <a:r>
              <a:rPr lang="en-US" sz="1500" b="1" dirty="0">
                <a:solidFill>
                  <a:srgbClr val="F7FFF7"/>
                </a:solidFill>
                <a:latin typeface="Arial" pitchFamily="34" charset="0"/>
                <a:ea typeface="Arial" pitchFamily="34" charset="-122"/>
                <a:cs typeface="Arial" pitchFamily="34" charset="-120"/>
              </a:rPr>
              <a:t>Service Informatique / Support Sécurité</a:t>
            </a:r>
            <a:endParaRPr lang="en-US" sz="1500" dirty="0"/>
          </a:p>
        </p:txBody>
      </p:sp>
      <p:sp>
        <p:nvSpPr>
          <p:cNvPr id="17" name="Text 4"/>
          <p:cNvSpPr/>
          <p:nvPr/>
        </p:nvSpPr>
        <p:spPr>
          <a:xfrm>
            <a:off x="631522" y="4821287"/>
            <a:ext cx="3410605" cy="266700"/>
          </a:xfrm>
          <a:prstGeom prst="rect">
            <a:avLst/>
          </a:prstGeom>
          <a:noFill/>
          <a:ln/>
        </p:spPr>
        <p:txBody>
          <a:bodyPr wrap="square" lIns="0" tIns="0" rIns="0" bIns="0" rtlCol="0" anchor="t"/>
          <a:lstStyle/>
          <a:p>
            <a:pPr marL="0" indent="0" algn="ctr">
              <a:lnSpc>
                <a:spcPts val="2100"/>
              </a:lnSpc>
              <a:buNone/>
            </a:pPr>
            <a:r>
              <a:rPr lang="en-US" sz="1350" dirty="0">
                <a:solidFill>
                  <a:srgbClr val="F7FFF7"/>
                </a:solidFill>
                <a:latin typeface="Arial" pitchFamily="34" charset="0"/>
                <a:ea typeface="Arial" pitchFamily="34" charset="-122"/>
                <a:cs typeface="Arial" pitchFamily="34" charset="-120"/>
              </a:rPr>
              <a:t>service.informatique@entreprise.com</a:t>
            </a:r>
            <a:endParaRPr lang="en-US" sz="1350" dirty="0"/>
          </a:p>
        </p:txBody>
      </p:sp>
      <p:sp>
        <p:nvSpPr>
          <p:cNvPr id="18" name="Text 5"/>
          <p:cNvSpPr/>
          <p:nvPr/>
        </p:nvSpPr>
        <p:spPr>
          <a:xfrm>
            <a:off x="4895671" y="4211687"/>
            <a:ext cx="2400657" cy="266700"/>
          </a:xfrm>
          <a:prstGeom prst="rect">
            <a:avLst/>
          </a:prstGeom>
          <a:noFill/>
          <a:ln/>
        </p:spPr>
        <p:txBody>
          <a:bodyPr wrap="square" lIns="0" tIns="0" rIns="0" bIns="0" rtlCol="0" anchor="t"/>
          <a:lstStyle/>
          <a:p>
            <a:pPr marL="0" indent="0" algn="ctr">
              <a:lnSpc>
                <a:spcPts val="2100"/>
              </a:lnSpc>
              <a:buNone/>
            </a:pPr>
            <a:r>
              <a:rPr lang="en-US" sz="1500" b="1" dirty="0">
                <a:solidFill>
                  <a:srgbClr val="F7FFF7"/>
                </a:solidFill>
                <a:latin typeface="Arial" pitchFamily="34" charset="0"/>
                <a:ea typeface="Arial" pitchFamily="34" charset="-122"/>
                <a:cs typeface="Arial" pitchFamily="34" charset="-120"/>
              </a:rPr>
              <a:t>Numéro de Téléphone</a:t>
            </a:r>
            <a:endParaRPr lang="en-US" sz="1500" dirty="0"/>
          </a:p>
        </p:txBody>
      </p:sp>
      <p:sp>
        <p:nvSpPr>
          <p:cNvPr id="19" name="Text 6"/>
          <p:cNvSpPr/>
          <p:nvPr/>
        </p:nvSpPr>
        <p:spPr>
          <a:xfrm>
            <a:off x="5138008" y="4554587"/>
            <a:ext cx="1916132" cy="266700"/>
          </a:xfrm>
          <a:prstGeom prst="rect">
            <a:avLst/>
          </a:prstGeom>
          <a:noFill/>
          <a:ln/>
        </p:spPr>
        <p:txBody>
          <a:bodyPr wrap="square" lIns="0" tIns="0" rIns="0" bIns="0" rtlCol="0" anchor="t"/>
          <a:lstStyle/>
          <a:p>
            <a:pPr marL="0" indent="0" algn="ctr">
              <a:lnSpc>
                <a:spcPts val="2100"/>
              </a:lnSpc>
              <a:buNone/>
            </a:pPr>
            <a:r>
              <a:rPr lang="en-US" sz="1350" dirty="0">
                <a:solidFill>
                  <a:srgbClr val="F7FFF7"/>
                </a:solidFill>
                <a:latin typeface="Arial" pitchFamily="34" charset="0"/>
                <a:ea typeface="Arial" pitchFamily="34" charset="-122"/>
                <a:cs typeface="Arial" pitchFamily="34" charset="-120"/>
              </a:rPr>
              <a:t>+33 (0)1 23 45 67 89</a:t>
            </a:r>
            <a:endParaRPr lang="en-US" sz="1350" dirty="0"/>
          </a:p>
        </p:txBody>
      </p:sp>
      <p:sp>
        <p:nvSpPr>
          <p:cNvPr id="20" name="Text 7"/>
          <p:cNvSpPr/>
          <p:nvPr/>
        </p:nvSpPr>
        <p:spPr>
          <a:xfrm>
            <a:off x="9093175" y="4211687"/>
            <a:ext cx="1524298" cy="266700"/>
          </a:xfrm>
          <a:prstGeom prst="rect">
            <a:avLst/>
          </a:prstGeom>
          <a:noFill/>
          <a:ln/>
        </p:spPr>
        <p:txBody>
          <a:bodyPr wrap="square" lIns="0" tIns="0" rIns="0" bIns="0" rtlCol="0" anchor="t"/>
          <a:lstStyle/>
          <a:p>
            <a:pPr marL="0" indent="0" algn="ctr">
              <a:lnSpc>
                <a:spcPts val="2100"/>
              </a:lnSpc>
              <a:buNone/>
            </a:pPr>
            <a:r>
              <a:rPr lang="en-US" sz="1500" b="1" dirty="0">
                <a:solidFill>
                  <a:srgbClr val="F7FFF7"/>
                </a:solidFill>
                <a:latin typeface="Arial" pitchFamily="34" charset="0"/>
                <a:ea typeface="Arial" pitchFamily="34" charset="-122"/>
                <a:cs typeface="Arial" pitchFamily="34" charset="-120"/>
              </a:rPr>
              <a:t>Chat en direct</a:t>
            </a:r>
            <a:endParaRPr lang="en-US" sz="1500" dirty="0"/>
          </a:p>
        </p:txBody>
      </p:sp>
      <p:sp>
        <p:nvSpPr>
          <p:cNvPr id="21" name="Text 8"/>
          <p:cNvSpPr/>
          <p:nvPr/>
        </p:nvSpPr>
        <p:spPr>
          <a:xfrm>
            <a:off x="8808675" y="4554587"/>
            <a:ext cx="2093297" cy="266700"/>
          </a:xfrm>
          <a:prstGeom prst="rect">
            <a:avLst/>
          </a:prstGeom>
          <a:noFill/>
          <a:ln/>
        </p:spPr>
        <p:txBody>
          <a:bodyPr wrap="square" lIns="0" tIns="0" rIns="0" bIns="0" rtlCol="0" anchor="t"/>
          <a:lstStyle/>
          <a:p>
            <a:pPr marL="0" indent="0" algn="ctr">
              <a:lnSpc>
                <a:spcPts val="2100"/>
              </a:lnSpc>
              <a:buNone/>
            </a:pPr>
            <a:r>
              <a:rPr lang="en-US" sz="1350" dirty="0">
                <a:solidFill>
                  <a:srgbClr val="F7FFF7"/>
                </a:solidFill>
                <a:latin typeface="Arial" pitchFamily="34" charset="0"/>
                <a:ea typeface="Arial" pitchFamily="34" charset="-122"/>
                <a:cs typeface="Arial" pitchFamily="34" charset="-120"/>
              </a:rPr>
              <a:t>Disponible 24h/24, 7j/7</a:t>
            </a:r>
            <a:endParaRPr lang="en-US" sz="1350" dirty="0"/>
          </a:p>
        </p:txBody>
      </p:sp>
      <p:sp>
        <p:nvSpPr>
          <p:cNvPr id="22" name="Text 9"/>
          <p:cNvSpPr/>
          <p:nvPr/>
        </p:nvSpPr>
        <p:spPr>
          <a:xfrm>
            <a:off x="457200" y="6002387"/>
            <a:ext cx="11277600" cy="400050"/>
          </a:xfrm>
          <a:prstGeom prst="rect">
            <a:avLst/>
          </a:prstGeom>
          <a:noFill/>
          <a:ln/>
        </p:spPr>
        <p:txBody>
          <a:bodyPr wrap="square" lIns="0" tIns="0" rIns="0" bIns="0" rtlCol="0" anchor="t"/>
          <a:lstStyle/>
          <a:p>
            <a:pPr marL="0" indent="0" algn="ctr">
              <a:lnSpc>
                <a:spcPts val="3150"/>
              </a:lnSpc>
              <a:buNone/>
            </a:pPr>
            <a:r>
              <a:rPr lang="en-US" sz="2100" b="1" dirty="0">
                <a:solidFill>
                  <a:srgbClr val="4ECDC4"/>
                </a:solidFill>
                <a:latin typeface="Arial" pitchFamily="34" charset="0"/>
                <a:ea typeface="Arial" pitchFamily="34" charset="-122"/>
                <a:cs typeface="Arial" pitchFamily="34" charset="-120"/>
              </a:rPr>
              <a:t>Merci pour votre participation !</a:t>
            </a:r>
            <a:endParaRPr lang="en-US" sz="2100" dirty="0"/>
          </a:p>
        </p:txBody>
      </p:sp>
      <p:sp>
        <p:nvSpPr>
          <p:cNvPr id="23" name="Text 10"/>
          <p:cNvSpPr/>
          <p:nvPr/>
        </p:nvSpPr>
        <p:spPr>
          <a:xfrm>
            <a:off x="457200" y="6438900"/>
            <a:ext cx="11277600" cy="190500"/>
          </a:xfrm>
          <a:prstGeom prst="rect">
            <a:avLst/>
          </a:prstGeom>
          <a:noFill/>
          <a:ln/>
        </p:spPr>
        <p:txBody>
          <a:bodyPr wrap="square" lIns="0" tIns="0" rIns="0" bIns="0" rtlCol="0" anchor="t"/>
          <a:lstStyle/>
          <a:p>
            <a:pPr marL="0" indent="0" algn="r">
              <a:lnSpc>
                <a:spcPts val="1500"/>
              </a:lnSpc>
              <a:buNone/>
            </a:pPr>
            <a:r>
              <a:rPr lang="en-US" sz="1050" dirty="0">
                <a:solidFill>
                  <a:srgbClr val="9CA3AF"/>
                </a:solidFill>
                <a:latin typeface="Arial" pitchFamily="34" charset="0"/>
                <a:ea typeface="Arial" pitchFamily="34" charset="-122"/>
                <a:cs typeface="Arial" pitchFamily="34" charset="-120"/>
              </a:rPr>
              <a:t>Sensibilisation à la Cybersécurité | Page 18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2519</Words>
  <Application>Microsoft Office PowerPoint</Application>
  <PresentationFormat>Grand écran</PresentationFormat>
  <Paragraphs>280</Paragraphs>
  <Slides>19</Slides>
  <Notes>19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19</vt:i4>
      </vt:variant>
    </vt:vector>
  </HeadingPairs>
  <TitlesOfParts>
    <vt:vector size="22" baseType="lpstr">
      <vt:lpstr>Arial</vt:lpstr>
      <vt:lpstr>ui-sans-serif</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Andrei Dulce</cp:lastModifiedBy>
  <cp:revision>3</cp:revision>
  <dcterms:created xsi:type="dcterms:W3CDTF">2025-10-06T17:13:10Z</dcterms:created>
  <dcterms:modified xsi:type="dcterms:W3CDTF">2025-10-06T20:14:17Z</dcterms:modified>
</cp:coreProperties>
</file>